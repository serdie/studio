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Instrument Sans Semi Bold"/>
      <p:regular r:id="rId17"/>
    </p:embeddedFont>
    <p:embeddedFont>
      <p:font typeface="Instrument Sans Semi Bold"/>
      <p:regular r:id="rId18"/>
    </p:embeddedFont>
    <p:embeddedFont>
      <p:font typeface="Instrument Sans Semi Bold"/>
      <p:regular r:id="rId19"/>
    </p:embeddedFont>
    <p:embeddedFont>
      <p:font typeface="Instrument Sans Semi Bold"/>
      <p:regular r:id="rId20"/>
    </p:embeddedFont>
    <p:embeddedFont>
      <p:font typeface="Instrument Sans Medium"/>
      <p:regular r:id="rId21"/>
    </p:embeddedFont>
    <p:embeddedFont>
      <p:font typeface="Instrument Sans Medium"/>
      <p:regular r:id="rId22"/>
    </p:embeddedFont>
    <p:embeddedFont>
      <p:font typeface="Instrument Sans Medium"/>
      <p:regular r:id="rId23"/>
    </p:embeddedFont>
    <p:embeddedFont>
      <p:font typeface="Instrument Sans Medium"/>
      <p:regular r:id="rId24"/>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font" Target="fonts/font7.fntdata"/><Relationship Id="rId24"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FF"/>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sv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image" Target="../media/image-3-9.png"/><Relationship Id="rId10" Type="http://schemas.openxmlformats.org/officeDocument/2006/relationships/image" Target="../media/image-3-10.svg"/><Relationship Id="rId11" Type="http://schemas.openxmlformats.org/officeDocument/2006/relationships/slideLayout" Target="../slideLayouts/slideLayout4.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slideLayout" Target="../slideLayouts/slideLayout5.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6.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7.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8.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3.png"/><Relationship Id="rId4" Type="http://schemas.openxmlformats.org/officeDocument/2006/relationships/slideLayout" Target="../slideLayouts/slideLayout9.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slideLayout" Target="../slideLayouts/slideLayout10.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svg"/><Relationship Id="rId6" Type="http://schemas.openxmlformats.org/officeDocument/2006/relationships/image" Target="../media/image-10-6.png"/><Relationship Id="rId7" Type="http://schemas.openxmlformats.org/officeDocument/2006/relationships/image" Target="../media/image-10-7.svg"/><Relationship Id="rId8" Type="http://schemas.openxmlformats.org/officeDocument/2006/relationships/image" Target="../media/image-10-8.png"/><Relationship Id="rId9" Type="http://schemas.openxmlformats.org/officeDocument/2006/relationships/image" Target="../media/image-10-9.svg"/><Relationship Id="rId10" Type="http://schemas.openxmlformats.org/officeDocument/2006/relationships/image" Target="../media/image-10-10.png"/><Relationship Id="rId11" Type="http://schemas.openxmlformats.org/officeDocument/2006/relationships/image" Target="../media/image-10-11.svg"/><Relationship Id="rId12" Type="http://schemas.openxmlformats.org/officeDocument/2006/relationships/slideLayout" Target="../slideLayouts/slideLayout11.xml"/><Relationship Id="rId1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760720" cy="8229600"/>
          </a:xfrm>
          <a:prstGeom prst="rect">
            <a:avLst/>
          </a:prstGeom>
        </p:spPr>
      </p:pic>
      <p:sp>
        <p:nvSpPr>
          <p:cNvPr id="3" name="Shape 0"/>
          <p:cNvSpPr/>
          <p:nvPr/>
        </p:nvSpPr>
        <p:spPr>
          <a:xfrm>
            <a:off x="6280190" y="2325767"/>
            <a:ext cx="2229564" cy="373142"/>
          </a:xfrm>
          <a:prstGeom prst="roundRect">
            <a:avLst>
              <a:gd name="adj" fmla="val 38297"/>
            </a:avLst>
          </a:prstGeom>
          <a:solidFill>
            <a:srgbClr val="CEE6FD"/>
          </a:solidFill>
          <a:ln/>
        </p:spPr>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399252" y="2432923"/>
            <a:ext cx="158710" cy="158710"/>
          </a:xfrm>
          <a:prstGeom prst="rect">
            <a:avLst/>
          </a:prstGeom>
        </p:spPr>
      </p:pic>
      <p:sp>
        <p:nvSpPr>
          <p:cNvPr id="5" name="Text 1"/>
          <p:cNvSpPr/>
          <p:nvPr/>
        </p:nvSpPr>
        <p:spPr>
          <a:xfrm>
            <a:off x="6637258" y="2385298"/>
            <a:ext cx="1753433" cy="254079"/>
          </a:xfrm>
          <a:prstGeom prst="rect">
            <a:avLst/>
          </a:prstGeom>
          <a:noFill/>
          <a:ln/>
        </p:spPr>
        <p:txBody>
          <a:bodyPr wrap="none" lIns="0" tIns="0" rIns="0" bIns="0" rtlCol="0" anchor="t"/>
          <a:lstStyle/>
          <a:p>
            <a:pPr algn="l" indent="0" marL="0">
              <a:lnSpc>
                <a:spcPts val="2000"/>
              </a:lnSpc>
              <a:buNone/>
            </a:pPr>
            <a:r>
              <a:rPr lang="en-US" sz="1250" dirty="0">
                <a:solidFill>
                  <a:srgbClr val="1E3063"/>
                </a:solidFill>
                <a:latin typeface="Instrument Sans Medium" pitchFamily="34" charset="0"/>
                <a:ea typeface="Instrument Sans Medium" pitchFamily="34" charset="-122"/>
                <a:cs typeface="Instrument Sans Medium" pitchFamily="34" charset="-120"/>
              </a:rPr>
              <a:t>PROGRAMA SUPERIOR</a:t>
            </a:r>
            <a:endParaRPr lang="en-US" sz="1250" dirty="0"/>
          </a:p>
        </p:txBody>
      </p:sp>
      <p:sp>
        <p:nvSpPr>
          <p:cNvPr id="6" name="Shape 2"/>
          <p:cNvSpPr/>
          <p:nvPr/>
        </p:nvSpPr>
        <p:spPr>
          <a:xfrm>
            <a:off x="8608933" y="2318147"/>
            <a:ext cx="1925122" cy="388382"/>
          </a:xfrm>
          <a:prstGeom prst="roundRect">
            <a:avLst>
              <a:gd name="adj" fmla="val 36794"/>
            </a:avLst>
          </a:prstGeom>
          <a:noFill/>
          <a:ln w="7620">
            <a:solidFill>
              <a:srgbClr val="84C1FA"/>
            </a:solidFill>
            <a:prstDash val="solid"/>
          </a:ln>
        </p:spPr>
      </p:sp>
      <p:sp>
        <p:nvSpPr>
          <p:cNvPr id="7" name="Text 3"/>
          <p:cNvSpPr/>
          <p:nvPr/>
        </p:nvSpPr>
        <p:spPr>
          <a:xfrm>
            <a:off x="8735616" y="2385298"/>
            <a:ext cx="1671757" cy="254079"/>
          </a:xfrm>
          <a:prstGeom prst="rect">
            <a:avLst/>
          </a:prstGeom>
          <a:noFill/>
          <a:ln/>
        </p:spPr>
        <p:txBody>
          <a:bodyPr wrap="none" lIns="0" tIns="0" rIns="0" bIns="0" rtlCol="0" anchor="t"/>
          <a:lstStyle/>
          <a:p>
            <a:pPr algn="l" indent="0" marL="0">
              <a:lnSpc>
                <a:spcPts val="2000"/>
              </a:lnSpc>
              <a:buNone/>
            </a:pPr>
            <a:r>
              <a:rPr lang="en-US" sz="1250" dirty="0">
                <a:solidFill>
                  <a:srgbClr val="84C1FA"/>
                </a:solidFill>
                <a:latin typeface="Instrument Sans Medium" pitchFamily="34" charset="0"/>
                <a:ea typeface="Instrument Sans Medium" pitchFamily="34" charset="-122"/>
                <a:cs typeface="Instrument Sans Medium" pitchFamily="34" charset="-120"/>
              </a:rPr>
              <a:t>MÓDULO 1 · 30 HORAS</a:t>
            </a:r>
            <a:endParaRPr lang="en-US" sz="1250" dirty="0"/>
          </a:p>
        </p:txBody>
      </p:sp>
      <p:sp>
        <p:nvSpPr>
          <p:cNvPr id="8" name="Text 4"/>
          <p:cNvSpPr/>
          <p:nvPr/>
        </p:nvSpPr>
        <p:spPr>
          <a:xfrm>
            <a:off x="6280190" y="2785824"/>
            <a:ext cx="7556421" cy="1240155"/>
          </a:xfrm>
          <a:prstGeom prst="rect">
            <a:avLst/>
          </a:prstGeom>
          <a:noFill/>
          <a:ln/>
        </p:spPr>
        <p:txBody>
          <a:bodyPr wrap="square" lIns="0" tIns="0" rIns="0" bIns="0" rtlCol="0" anchor="t"/>
          <a:lstStyle/>
          <a:p>
            <a:pPr algn="l" indent="0" marL="0">
              <a:lnSpc>
                <a:spcPts val="4850"/>
              </a:lnSpc>
              <a:buNone/>
            </a:pPr>
            <a:r>
              <a:rPr lang="en-US" sz="3900" dirty="0">
                <a:solidFill>
                  <a:srgbClr val="091C53"/>
                </a:solidFill>
                <a:latin typeface="Instrument Sans Semi Bold" pitchFamily="34" charset="0"/>
                <a:ea typeface="Instrument Sans Semi Bold" pitchFamily="34" charset="-122"/>
                <a:cs typeface="Instrument Sans Semi Bold" pitchFamily="34" charset="-120"/>
              </a:rPr>
              <a:t>Inteligencia Artificial Aplicada a la Empresa</a:t>
            </a:r>
            <a:endParaRPr lang="en-US" sz="3900" dirty="0"/>
          </a:p>
        </p:txBody>
      </p:sp>
      <p:sp>
        <p:nvSpPr>
          <p:cNvPr id="9" name="Text 5"/>
          <p:cNvSpPr/>
          <p:nvPr/>
        </p:nvSpPr>
        <p:spPr>
          <a:xfrm>
            <a:off x="6280190" y="4323636"/>
            <a:ext cx="7556421" cy="1587818"/>
          </a:xfrm>
          <a:prstGeom prst="rect">
            <a:avLst/>
          </a:prstGeom>
          <a:noFill/>
          <a:ln/>
        </p:spPr>
        <p:txBody>
          <a:bodyPr wrap="square" lIns="0" tIns="0" rIns="0" bIns="0" rtlCol="0" anchor="t"/>
          <a:lstStyle/>
          <a:p>
            <a:pPr algn="l" indent="0" marL="0">
              <a:lnSpc>
                <a:spcPts val="3100"/>
              </a:lnSpc>
              <a:buNone/>
            </a:pPr>
            <a:r>
              <a:rPr lang="en-US" sz="1950" dirty="0">
                <a:solidFill>
                  <a:srgbClr val="1E3063"/>
                </a:solidFill>
                <a:latin typeface="Instrument Sans Medium" pitchFamily="34" charset="0"/>
                <a:ea typeface="Instrument Sans Medium" pitchFamily="34" charset="-122"/>
                <a:cs typeface="Instrument Sans Medium" pitchFamily="34" charset="-120"/>
              </a:rPr>
              <a:t>Guía completa del Módulo 1: Introducción a la IA y su impacto en el mundo empresarial. Un recorrido desde los fundamentos hasta la estrategia, pasando por tecnologías clave, casos reales y debate socioeconómico.</a:t>
            </a:r>
            <a:endParaRPr lang="en-US" sz="1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32949" y="1434108"/>
            <a:ext cx="133469" cy="133469"/>
          </a:xfrm>
          <a:prstGeom prst="rect">
            <a:avLst/>
          </a:prstGeom>
        </p:spPr>
      </p:pic>
      <p:sp>
        <p:nvSpPr>
          <p:cNvPr id="3" name="Text 0"/>
          <p:cNvSpPr/>
          <p:nvPr/>
        </p:nvSpPr>
        <p:spPr>
          <a:xfrm>
            <a:off x="933093" y="1402556"/>
            <a:ext cx="875348" cy="196691"/>
          </a:xfrm>
          <a:prstGeom prst="rect">
            <a:avLst/>
          </a:prstGeom>
          <a:noFill/>
          <a:ln/>
        </p:spPr>
        <p:txBody>
          <a:bodyPr wrap="none" lIns="0" tIns="0" rIns="0" bIns="0" rtlCol="0" anchor="t"/>
          <a:lstStyle/>
          <a:p>
            <a:pPr algn="l" indent="0" marL="0">
              <a:lnSpc>
                <a:spcPts val="1500"/>
              </a:lnSpc>
              <a:buNone/>
            </a:pPr>
            <a:r>
              <a:rPr lang="en-US" sz="1050" dirty="0">
                <a:solidFill>
                  <a:srgbClr val="84C1FA"/>
                </a:solidFill>
                <a:latin typeface="Instrument Sans Medium" pitchFamily="34" charset="0"/>
                <a:ea typeface="Instrument Sans Medium" pitchFamily="34" charset="-122"/>
                <a:cs typeface="Instrument Sans Medium" pitchFamily="34" charset="-120"/>
              </a:rPr>
              <a:t>APARTADO 1.1</a:t>
            </a:r>
            <a:endParaRPr lang="en-US" sz="1050" dirty="0"/>
          </a:p>
        </p:txBody>
      </p:sp>
      <p:sp>
        <p:nvSpPr>
          <p:cNvPr id="4" name="Text 1"/>
          <p:cNvSpPr/>
          <p:nvPr/>
        </p:nvSpPr>
        <p:spPr>
          <a:xfrm>
            <a:off x="732949" y="1705332"/>
            <a:ext cx="9607034" cy="521613"/>
          </a:xfrm>
          <a:prstGeom prst="rect">
            <a:avLst/>
          </a:prstGeom>
          <a:noFill/>
          <a:ln/>
        </p:spPr>
        <p:txBody>
          <a:bodyPr wrap="none" lIns="0" tIns="0" rIns="0" bIns="0" rtlCol="0" anchor="t"/>
          <a:lstStyle/>
          <a:p>
            <a:pPr algn="l" indent="0" marL="0">
              <a:lnSpc>
                <a:spcPts val="4100"/>
              </a:lnSpc>
              <a:buNone/>
            </a:pPr>
            <a:r>
              <a:rPr lang="en-US" sz="3250" dirty="0">
                <a:solidFill>
                  <a:srgbClr val="091C53"/>
                </a:solidFill>
                <a:latin typeface="Instrument Sans Semi Bold" pitchFamily="34" charset="0"/>
                <a:ea typeface="Instrument Sans Semi Bold" pitchFamily="34" charset="-122"/>
                <a:cs typeface="Instrument Sans Semi Bold" pitchFamily="34" charset="-120"/>
              </a:rPr>
              <a:t>Fundamentos de la IA: Definición, Historia y Tipos</a:t>
            </a:r>
            <a:endParaRPr lang="en-US" sz="3250" dirty="0"/>
          </a:p>
        </p:txBody>
      </p:sp>
      <p:sp>
        <p:nvSpPr>
          <p:cNvPr id="5" name="Text 2"/>
          <p:cNvSpPr/>
          <p:nvPr/>
        </p:nvSpPr>
        <p:spPr>
          <a:xfrm>
            <a:off x="732949" y="2437567"/>
            <a:ext cx="13164383" cy="491728"/>
          </a:xfrm>
          <a:prstGeom prst="rect">
            <a:avLst/>
          </a:prstGeom>
          <a:noFill/>
          <a:ln/>
        </p:spPr>
        <p:txBody>
          <a:bodyPr wrap="square" lIns="0" tIns="0" rIns="0" bIns="0" rtlCol="0" anchor="t"/>
          <a:lstStyle/>
          <a:p>
            <a:pPr algn="l" indent="0" marL="0">
              <a:lnSpc>
                <a:spcPts val="1900"/>
              </a:lnSpc>
              <a:buNone/>
            </a:pPr>
            <a:r>
              <a:rPr lang="en-US" sz="1300" dirty="0">
                <a:solidFill>
                  <a:srgbClr val="1E3063"/>
                </a:solidFill>
                <a:latin typeface="Instrument Sans Medium" pitchFamily="34" charset="0"/>
                <a:ea typeface="Instrument Sans Medium" pitchFamily="34" charset="-122"/>
                <a:cs typeface="Instrument Sans Medium" pitchFamily="34" charset="-120"/>
              </a:rPr>
              <a:t>Este bloque sienta las bases conceptuales para que el alumnado comprenda la Inteligencia Artificial en su dimensión técnica y práctica, distinga tipologías y entienda los mecanismos que impulsan la adopción masiva actual en el mundo empresarial.</a:t>
            </a:r>
            <a:endParaRPr lang="en-US" sz="1300" dirty="0"/>
          </a:p>
        </p:txBody>
      </p:sp>
      <p:sp>
        <p:nvSpPr>
          <p:cNvPr id="6" name="Shape 3"/>
          <p:cNvSpPr/>
          <p:nvPr/>
        </p:nvSpPr>
        <p:spPr>
          <a:xfrm>
            <a:off x="732949" y="3087172"/>
            <a:ext cx="375523" cy="375523"/>
          </a:xfrm>
          <a:prstGeom prst="roundRect">
            <a:avLst>
              <a:gd name="adj" fmla="val 40010"/>
            </a:avLst>
          </a:prstGeom>
          <a:solidFill>
            <a:srgbClr val="CEE6FD"/>
          </a:solidFill>
          <a:ln/>
        </p:spPr>
      </p:sp>
      <p:sp>
        <p:nvSpPr>
          <p:cNvPr id="7" name="Text 4"/>
          <p:cNvSpPr/>
          <p:nvPr/>
        </p:nvSpPr>
        <p:spPr>
          <a:xfrm>
            <a:off x="795516" y="3118485"/>
            <a:ext cx="250388" cy="312896"/>
          </a:xfrm>
          <a:prstGeom prst="rect">
            <a:avLst/>
          </a:prstGeom>
          <a:noFill/>
          <a:ln/>
        </p:spPr>
        <p:txBody>
          <a:bodyPr wrap="none" lIns="0" tIns="0" rIns="0" bIns="0" rtlCol="0" anchor="t"/>
          <a:lstStyle/>
          <a:p>
            <a:pPr algn="ctr" indent="0" marL="0">
              <a:lnSpc>
                <a:spcPts val="1950"/>
              </a:lnSpc>
              <a:buNone/>
            </a:pPr>
            <a:r>
              <a:rPr lang="en-US" sz="1950" dirty="0">
                <a:solidFill>
                  <a:srgbClr val="1E3063"/>
                </a:solidFill>
                <a:latin typeface="Instrument Sans Semi Bold" pitchFamily="34" charset="0"/>
                <a:ea typeface="Instrument Sans Semi Bold" pitchFamily="34" charset="-122"/>
                <a:cs typeface="Instrument Sans Semi Bold" pitchFamily="34" charset="-120"/>
              </a:rPr>
              <a:t>1</a:t>
            </a:r>
            <a:endParaRPr lang="en-US" sz="1950" dirty="0"/>
          </a:p>
        </p:txBody>
      </p:sp>
      <p:sp>
        <p:nvSpPr>
          <p:cNvPr id="8" name="Text 5"/>
          <p:cNvSpPr/>
          <p:nvPr/>
        </p:nvSpPr>
        <p:spPr>
          <a:xfrm>
            <a:off x="1248847" y="3144441"/>
            <a:ext cx="3527822" cy="260866"/>
          </a:xfrm>
          <a:prstGeom prst="rect">
            <a:avLst/>
          </a:prstGeom>
          <a:noFill/>
          <a:ln/>
        </p:spPr>
        <p:txBody>
          <a:bodyPr wrap="none" lIns="0" tIns="0" rIns="0" bIns="0" rtlCol="0" anchor="t"/>
          <a:lstStyle/>
          <a:p>
            <a:pPr algn="l" indent="0" marL="0">
              <a:lnSpc>
                <a:spcPts val="2050"/>
              </a:lnSpc>
              <a:buNone/>
            </a:pPr>
            <a:r>
              <a:rPr lang="en-US" sz="1600" dirty="0">
                <a:solidFill>
                  <a:srgbClr val="1E3063"/>
                </a:solidFill>
                <a:latin typeface="Instrument Sans Semi Bold" pitchFamily="34" charset="0"/>
                <a:ea typeface="Instrument Sans Semi Bold" pitchFamily="34" charset="-122"/>
                <a:cs typeface="Instrument Sans Semi Bold" pitchFamily="34" charset="-120"/>
              </a:rPr>
              <a:t>Definición y conceptos clave de la IA</a:t>
            </a:r>
            <a:endParaRPr lang="en-US" sz="1600" dirty="0"/>
          </a:p>
        </p:txBody>
      </p:sp>
      <p:sp>
        <p:nvSpPr>
          <p:cNvPr id="9" name="Text 6"/>
          <p:cNvSpPr/>
          <p:nvPr/>
        </p:nvSpPr>
        <p:spPr>
          <a:xfrm>
            <a:off x="1248847" y="3489484"/>
            <a:ext cx="3755231" cy="1475184"/>
          </a:xfrm>
          <a:prstGeom prst="rect">
            <a:avLst/>
          </a:prstGeom>
          <a:noFill/>
          <a:ln/>
        </p:spPr>
        <p:txBody>
          <a:bodyPr wrap="square" lIns="0" tIns="0" rIns="0" bIns="0" rtlCol="0" anchor="t"/>
          <a:lstStyle/>
          <a:p>
            <a:pPr algn="l" indent="0" marL="0">
              <a:lnSpc>
                <a:spcPts val="1900"/>
              </a:lnSpc>
              <a:buNone/>
            </a:pPr>
            <a:r>
              <a:rPr lang="en-US" sz="1300" dirty="0">
                <a:solidFill>
                  <a:srgbClr val="1E3063"/>
                </a:solidFill>
                <a:latin typeface="Instrument Sans Medium" pitchFamily="34" charset="0"/>
                <a:ea typeface="Instrument Sans Medium" pitchFamily="34" charset="-122"/>
                <a:cs typeface="Instrument Sans Medium" pitchFamily="34" charset="-120"/>
              </a:rPr>
              <a:t>La IA es un conjunto de técnicas que permiten a las máquinas resolver tareas cognitivas usando datos. Vocabulario esencial: </a:t>
            </a:r>
            <a:pPr algn="l" indent="0" marL="0">
              <a:lnSpc>
                <a:spcPts val="1900"/>
              </a:lnSpc>
              <a:buNone/>
            </a:pPr>
            <a:r>
              <a:rPr lang="en-US" sz="1300" b="1" dirty="0">
                <a:solidFill>
                  <a:srgbClr val="1E3063"/>
                </a:solidFill>
                <a:latin typeface="Instrument Sans Medium" pitchFamily="34" charset="0"/>
                <a:ea typeface="Instrument Sans Medium" pitchFamily="34" charset="-122"/>
                <a:cs typeface="Instrument Sans Medium" pitchFamily="34" charset="-120"/>
              </a:rPr>
              <a:t>dataset, modelo, entrenamiento, inferencia, sesgo, generalización</a:t>
            </a:r>
            <a:pPr algn="l" indent="0" marL="0">
              <a:lnSpc>
                <a:spcPts val="1900"/>
              </a:lnSpc>
              <a:buNone/>
            </a:pPr>
            <a:r>
              <a:rPr lang="en-US" sz="1300" dirty="0">
                <a:solidFill>
                  <a:srgbClr val="1E3063"/>
                </a:solidFill>
                <a:latin typeface="Instrument Sans Medium" pitchFamily="34" charset="0"/>
                <a:ea typeface="Instrument Sans Medium" pitchFamily="34" charset="-122"/>
                <a:cs typeface="Instrument Sans Medium" pitchFamily="34" charset="-120"/>
              </a:rPr>
              <a:t> y explicabilidad. Diferencia entre IA, automatización y analítica tradicional.</a:t>
            </a:r>
            <a:endParaRPr lang="en-US" sz="1300" dirty="0"/>
          </a:p>
        </p:txBody>
      </p:sp>
      <p:sp>
        <p:nvSpPr>
          <p:cNvPr id="10" name="Shape 7"/>
          <p:cNvSpPr/>
          <p:nvPr/>
        </p:nvSpPr>
        <p:spPr>
          <a:xfrm>
            <a:off x="5179576" y="3087172"/>
            <a:ext cx="375523" cy="375523"/>
          </a:xfrm>
          <a:prstGeom prst="roundRect">
            <a:avLst>
              <a:gd name="adj" fmla="val 40010"/>
            </a:avLst>
          </a:prstGeom>
          <a:solidFill>
            <a:srgbClr val="CEE6FD"/>
          </a:solidFill>
          <a:ln/>
        </p:spPr>
      </p:sp>
      <p:sp>
        <p:nvSpPr>
          <p:cNvPr id="11" name="Text 8"/>
          <p:cNvSpPr/>
          <p:nvPr/>
        </p:nvSpPr>
        <p:spPr>
          <a:xfrm>
            <a:off x="5242143" y="3118485"/>
            <a:ext cx="250388" cy="312896"/>
          </a:xfrm>
          <a:prstGeom prst="rect">
            <a:avLst/>
          </a:prstGeom>
          <a:noFill/>
          <a:ln/>
        </p:spPr>
        <p:txBody>
          <a:bodyPr wrap="none" lIns="0" tIns="0" rIns="0" bIns="0" rtlCol="0" anchor="t"/>
          <a:lstStyle/>
          <a:p>
            <a:pPr algn="ctr" indent="0" marL="0">
              <a:lnSpc>
                <a:spcPts val="1950"/>
              </a:lnSpc>
              <a:buNone/>
            </a:pPr>
            <a:r>
              <a:rPr lang="en-US" sz="1950" dirty="0">
                <a:solidFill>
                  <a:srgbClr val="1E3063"/>
                </a:solidFill>
                <a:latin typeface="Instrument Sans Semi Bold" pitchFamily="34" charset="0"/>
                <a:ea typeface="Instrument Sans Semi Bold" pitchFamily="34" charset="-122"/>
                <a:cs typeface="Instrument Sans Semi Bold" pitchFamily="34" charset="-120"/>
              </a:rPr>
              <a:t>2</a:t>
            </a:r>
            <a:endParaRPr lang="en-US" sz="1950" dirty="0"/>
          </a:p>
        </p:txBody>
      </p:sp>
      <p:sp>
        <p:nvSpPr>
          <p:cNvPr id="12" name="Text 9"/>
          <p:cNvSpPr/>
          <p:nvPr/>
        </p:nvSpPr>
        <p:spPr>
          <a:xfrm>
            <a:off x="5695474" y="3144441"/>
            <a:ext cx="3185755" cy="260866"/>
          </a:xfrm>
          <a:prstGeom prst="rect">
            <a:avLst/>
          </a:prstGeom>
          <a:noFill/>
          <a:ln/>
        </p:spPr>
        <p:txBody>
          <a:bodyPr wrap="none" lIns="0" tIns="0" rIns="0" bIns="0" rtlCol="0" anchor="t"/>
          <a:lstStyle/>
          <a:p>
            <a:pPr algn="l" indent="0" marL="0">
              <a:lnSpc>
                <a:spcPts val="2050"/>
              </a:lnSpc>
              <a:buNone/>
            </a:pPr>
            <a:r>
              <a:rPr lang="en-US" sz="1600" dirty="0">
                <a:solidFill>
                  <a:srgbClr val="1E3063"/>
                </a:solidFill>
                <a:latin typeface="Instrument Sans Semi Bold" pitchFamily="34" charset="0"/>
                <a:ea typeface="Instrument Sans Semi Bold" pitchFamily="34" charset="-122"/>
                <a:cs typeface="Instrument Sans Semi Bold" pitchFamily="34" charset="-120"/>
              </a:rPr>
              <a:t>Tipos de aprendizaje automático</a:t>
            </a:r>
            <a:endParaRPr lang="en-US" sz="1600" dirty="0"/>
          </a:p>
        </p:txBody>
      </p:sp>
      <p:sp>
        <p:nvSpPr>
          <p:cNvPr id="13" name="Text 10"/>
          <p:cNvSpPr/>
          <p:nvPr/>
        </p:nvSpPr>
        <p:spPr>
          <a:xfrm>
            <a:off x="5695474" y="3489484"/>
            <a:ext cx="3755231" cy="1721048"/>
          </a:xfrm>
          <a:prstGeom prst="rect">
            <a:avLst/>
          </a:prstGeom>
          <a:noFill/>
          <a:ln/>
        </p:spPr>
        <p:txBody>
          <a:bodyPr wrap="square" lIns="0" tIns="0" rIns="0" bIns="0" rtlCol="0" anchor="t"/>
          <a:lstStyle/>
          <a:p>
            <a:pPr algn="l" indent="0" marL="0">
              <a:lnSpc>
                <a:spcPts val="1900"/>
              </a:lnSpc>
              <a:buNone/>
            </a:pPr>
            <a:r>
              <a:rPr lang="en-US" sz="1300" dirty="0">
                <a:solidFill>
                  <a:srgbClr val="1E3063"/>
                </a:solidFill>
                <a:latin typeface="Instrument Sans Medium" pitchFamily="34" charset="0"/>
                <a:ea typeface="Instrument Sans Medium" pitchFamily="34" charset="-122"/>
                <a:cs typeface="Instrument Sans Medium" pitchFamily="34" charset="-120"/>
              </a:rPr>
              <a:t>El machine learning se divide en tres paradigmas fundamentales: </a:t>
            </a:r>
            <a:pPr algn="l" indent="0" marL="0">
              <a:lnSpc>
                <a:spcPts val="1900"/>
              </a:lnSpc>
              <a:buNone/>
            </a:pPr>
            <a:r>
              <a:rPr lang="en-US" sz="1300" b="1" dirty="0">
                <a:solidFill>
                  <a:srgbClr val="1E3063"/>
                </a:solidFill>
                <a:latin typeface="Instrument Sans Medium" pitchFamily="34" charset="0"/>
                <a:ea typeface="Instrument Sans Medium" pitchFamily="34" charset="-122"/>
                <a:cs typeface="Instrument Sans Medium" pitchFamily="34" charset="-120"/>
              </a:rPr>
              <a:t>aprendizaje supervisado</a:t>
            </a:r>
            <a:pPr algn="l" indent="0" marL="0">
              <a:lnSpc>
                <a:spcPts val="1900"/>
              </a:lnSpc>
              <a:buNone/>
            </a:pPr>
            <a:r>
              <a:rPr lang="en-US" sz="1300" dirty="0">
                <a:solidFill>
                  <a:srgbClr val="1E3063"/>
                </a:solidFill>
                <a:latin typeface="Instrument Sans Medium" pitchFamily="34" charset="0"/>
                <a:ea typeface="Instrument Sans Medium" pitchFamily="34" charset="-122"/>
                <a:cs typeface="Instrument Sans Medium" pitchFamily="34" charset="-120"/>
              </a:rPr>
              <a:t> (con datos etiquetados), </a:t>
            </a:r>
            <a:pPr algn="l" indent="0" marL="0">
              <a:lnSpc>
                <a:spcPts val="1900"/>
              </a:lnSpc>
              <a:buNone/>
            </a:pPr>
            <a:r>
              <a:rPr lang="en-US" sz="1300" b="1" dirty="0">
                <a:solidFill>
                  <a:srgbClr val="1E3063"/>
                </a:solidFill>
                <a:latin typeface="Instrument Sans Medium" pitchFamily="34" charset="0"/>
                <a:ea typeface="Instrument Sans Medium" pitchFamily="34" charset="-122"/>
                <a:cs typeface="Instrument Sans Medium" pitchFamily="34" charset="-120"/>
              </a:rPr>
              <a:t>no supervisado</a:t>
            </a:r>
            <a:pPr algn="l" indent="0" marL="0">
              <a:lnSpc>
                <a:spcPts val="1900"/>
              </a:lnSpc>
              <a:buNone/>
            </a:pPr>
            <a:r>
              <a:rPr lang="en-US" sz="1300" dirty="0">
                <a:solidFill>
                  <a:srgbClr val="1E3063"/>
                </a:solidFill>
                <a:latin typeface="Instrument Sans Medium" pitchFamily="34" charset="0"/>
                <a:ea typeface="Instrument Sans Medium" pitchFamily="34" charset="-122"/>
                <a:cs typeface="Instrument Sans Medium" pitchFamily="34" charset="-120"/>
              </a:rPr>
              <a:t> (detección de patrones sin etiquetas) y </a:t>
            </a:r>
            <a:pPr algn="l" indent="0" marL="0">
              <a:lnSpc>
                <a:spcPts val="1900"/>
              </a:lnSpc>
              <a:buNone/>
            </a:pPr>
            <a:r>
              <a:rPr lang="en-US" sz="1300" b="1" dirty="0">
                <a:solidFill>
                  <a:srgbClr val="1E3063"/>
                </a:solidFill>
                <a:latin typeface="Instrument Sans Medium" pitchFamily="34" charset="0"/>
                <a:ea typeface="Instrument Sans Medium" pitchFamily="34" charset="-122"/>
                <a:cs typeface="Instrument Sans Medium" pitchFamily="34" charset="-120"/>
              </a:rPr>
              <a:t>aprendizaje por refuerzo</a:t>
            </a:r>
            <a:pPr algn="l" indent="0" marL="0">
              <a:lnSpc>
                <a:spcPts val="1900"/>
              </a:lnSpc>
              <a:buNone/>
            </a:pPr>
            <a:r>
              <a:rPr lang="en-US" sz="1300" dirty="0">
                <a:solidFill>
                  <a:srgbClr val="1E3063"/>
                </a:solidFill>
                <a:latin typeface="Instrument Sans Medium" pitchFamily="34" charset="0"/>
                <a:ea typeface="Instrument Sans Medium" pitchFamily="34" charset="-122"/>
                <a:cs typeface="Instrument Sans Medium" pitchFamily="34" charset="-120"/>
              </a:rPr>
              <a:t> (agentes que aprenden mediante recompensas). Cada enfoque responde a necesidades distintas de negocio.</a:t>
            </a:r>
            <a:endParaRPr lang="en-US" sz="1300" dirty="0"/>
          </a:p>
        </p:txBody>
      </p:sp>
      <p:sp>
        <p:nvSpPr>
          <p:cNvPr id="14" name="Shape 11"/>
          <p:cNvSpPr/>
          <p:nvPr/>
        </p:nvSpPr>
        <p:spPr>
          <a:xfrm>
            <a:off x="9626203" y="3087172"/>
            <a:ext cx="375523" cy="375523"/>
          </a:xfrm>
          <a:prstGeom prst="roundRect">
            <a:avLst>
              <a:gd name="adj" fmla="val 40010"/>
            </a:avLst>
          </a:prstGeom>
          <a:solidFill>
            <a:srgbClr val="CEE6FD"/>
          </a:solidFill>
          <a:ln/>
        </p:spPr>
      </p:sp>
      <p:sp>
        <p:nvSpPr>
          <p:cNvPr id="15" name="Text 12"/>
          <p:cNvSpPr/>
          <p:nvPr/>
        </p:nvSpPr>
        <p:spPr>
          <a:xfrm>
            <a:off x="9688770" y="3118485"/>
            <a:ext cx="250388" cy="312896"/>
          </a:xfrm>
          <a:prstGeom prst="rect">
            <a:avLst/>
          </a:prstGeom>
          <a:noFill/>
          <a:ln/>
        </p:spPr>
        <p:txBody>
          <a:bodyPr wrap="none" lIns="0" tIns="0" rIns="0" bIns="0" rtlCol="0" anchor="t"/>
          <a:lstStyle/>
          <a:p>
            <a:pPr algn="ctr" indent="0" marL="0">
              <a:lnSpc>
                <a:spcPts val="1950"/>
              </a:lnSpc>
              <a:buNone/>
            </a:pPr>
            <a:r>
              <a:rPr lang="en-US" sz="1950" dirty="0">
                <a:solidFill>
                  <a:srgbClr val="1E3063"/>
                </a:solidFill>
                <a:latin typeface="Instrument Sans Semi Bold" pitchFamily="34" charset="0"/>
                <a:ea typeface="Instrument Sans Semi Bold" pitchFamily="34" charset="-122"/>
                <a:cs typeface="Instrument Sans Semi Bold" pitchFamily="34" charset="-120"/>
              </a:rPr>
              <a:t>3</a:t>
            </a:r>
            <a:endParaRPr lang="en-US" sz="1950" dirty="0"/>
          </a:p>
        </p:txBody>
      </p:sp>
      <p:sp>
        <p:nvSpPr>
          <p:cNvPr id="16" name="Text 13"/>
          <p:cNvSpPr/>
          <p:nvPr/>
        </p:nvSpPr>
        <p:spPr>
          <a:xfrm>
            <a:off x="10142101" y="3144441"/>
            <a:ext cx="3280410" cy="260866"/>
          </a:xfrm>
          <a:prstGeom prst="rect">
            <a:avLst/>
          </a:prstGeom>
          <a:noFill/>
          <a:ln/>
        </p:spPr>
        <p:txBody>
          <a:bodyPr wrap="none" lIns="0" tIns="0" rIns="0" bIns="0" rtlCol="0" anchor="t"/>
          <a:lstStyle/>
          <a:p>
            <a:pPr algn="l" indent="0" marL="0">
              <a:lnSpc>
                <a:spcPts val="2050"/>
              </a:lnSpc>
              <a:buNone/>
            </a:pPr>
            <a:r>
              <a:rPr lang="en-US" sz="1600" dirty="0">
                <a:solidFill>
                  <a:srgbClr val="1E3063"/>
                </a:solidFill>
                <a:latin typeface="Instrument Sans Semi Bold" pitchFamily="34" charset="0"/>
                <a:ea typeface="Instrument Sans Semi Bold" pitchFamily="34" charset="-122"/>
                <a:cs typeface="Instrument Sans Semi Bold" pitchFamily="34" charset="-120"/>
              </a:rPr>
              <a:t>Redes neuronales y deep learning</a:t>
            </a:r>
            <a:endParaRPr lang="en-US" sz="1600" dirty="0"/>
          </a:p>
        </p:txBody>
      </p:sp>
      <p:sp>
        <p:nvSpPr>
          <p:cNvPr id="17" name="Text 14"/>
          <p:cNvSpPr/>
          <p:nvPr/>
        </p:nvSpPr>
        <p:spPr>
          <a:xfrm>
            <a:off x="10142101" y="3489484"/>
            <a:ext cx="3755231" cy="1721048"/>
          </a:xfrm>
          <a:prstGeom prst="rect">
            <a:avLst/>
          </a:prstGeom>
          <a:noFill/>
          <a:ln/>
        </p:spPr>
        <p:txBody>
          <a:bodyPr wrap="square" lIns="0" tIns="0" rIns="0" bIns="0" rtlCol="0" anchor="t"/>
          <a:lstStyle/>
          <a:p>
            <a:pPr algn="l" indent="0" marL="0">
              <a:lnSpc>
                <a:spcPts val="1900"/>
              </a:lnSpc>
              <a:buNone/>
            </a:pPr>
            <a:r>
              <a:rPr lang="en-US" sz="1300" dirty="0">
                <a:solidFill>
                  <a:srgbClr val="1E3063"/>
                </a:solidFill>
                <a:latin typeface="Instrument Sans Medium" pitchFamily="34" charset="0"/>
                <a:ea typeface="Instrument Sans Medium" pitchFamily="34" charset="-122"/>
                <a:cs typeface="Instrument Sans Medium" pitchFamily="34" charset="-120"/>
              </a:rPr>
              <a:t>Las redes neuronales artificiales imitan la estructura del cerebro mediante capas de nodos interconectados. El </a:t>
            </a:r>
            <a:pPr algn="l" indent="0" marL="0">
              <a:lnSpc>
                <a:spcPts val="1900"/>
              </a:lnSpc>
              <a:buNone/>
            </a:pPr>
            <a:r>
              <a:rPr lang="en-US" sz="1300" b="1" dirty="0">
                <a:solidFill>
                  <a:srgbClr val="1E3063"/>
                </a:solidFill>
                <a:latin typeface="Instrument Sans Medium" pitchFamily="34" charset="0"/>
                <a:ea typeface="Instrument Sans Medium" pitchFamily="34" charset="-122"/>
                <a:cs typeface="Instrument Sans Medium" pitchFamily="34" charset="-120"/>
              </a:rPr>
              <a:t>deep learning</a:t>
            </a:r>
            <a:pPr algn="l" indent="0" marL="0">
              <a:lnSpc>
                <a:spcPts val="1900"/>
              </a:lnSpc>
              <a:buNone/>
            </a:pPr>
            <a:r>
              <a:rPr lang="en-US" sz="1300" dirty="0">
                <a:solidFill>
                  <a:srgbClr val="1E3063"/>
                </a:solidFill>
                <a:latin typeface="Instrument Sans Medium" pitchFamily="34" charset="0"/>
                <a:ea typeface="Instrument Sans Medium" pitchFamily="34" charset="-122"/>
                <a:cs typeface="Instrument Sans Medium" pitchFamily="34" charset="-120"/>
              </a:rPr>
              <a:t> amplía este concepto con arquitecturas profundas (CNNs, RNNs, Transformers) que permiten procesar imagen, voz y lenguaje con una precisión sin precedentes.</a:t>
            </a:r>
            <a:endParaRPr lang="en-US" sz="1300" dirty="0"/>
          </a:p>
        </p:txBody>
      </p:sp>
      <p:sp>
        <p:nvSpPr>
          <p:cNvPr id="18" name="Shape 15"/>
          <p:cNvSpPr/>
          <p:nvPr/>
        </p:nvSpPr>
        <p:spPr>
          <a:xfrm>
            <a:off x="732949" y="5491282"/>
            <a:ext cx="375523" cy="375523"/>
          </a:xfrm>
          <a:prstGeom prst="roundRect">
            <a:avLst>
              <a:gd name="adj" fmla="val 40010"/>
            </a:avLst>
          </a:prstGeom>
          <a:solidFill>
            <a:srgbClr val="CEE6FD"/>
          </a:solidFill>
          <a:ln/>
        </p:spPr>
      </p:sp>
      <p:sp>
        <p:nvSpPr>
          <p:cNvPr id="19" name="Text 16"/>
          <p:cNvSpPr/>
          <p:nvPr/>
        </p:nvSpPr>
        <p:spPr>
          <a:xfrm>
            <a:off x="795516" y="5522595"/>
            <a:ext cx="250388" cy="312896"/>
          </a:xfrm>
          <a:prstGeom prst="rect">
            <a:avLst/>
          </a:prstGeom>
          <a:noFill/>
          <a:ln/>
        </p:spPr>
        <p:txBody>
          <a:bodyPr wrap="none" lIns="0" tIns="0" rIns="0" bIns="0" rtlCol="0" anchor="t"/>
          <a:lstStyle/>
          <a:p>
            <a:pPr algn="ctr" indent="0" marL="0">
              <a:lnSpc>
                <a:spcPts val="1950"/>
              </a:lnSpc>
              <a:buNone/>
            </a:pPr>
            <a:r>
              <a:rPr lang="en-US" sz="1950" dirty="0">
                <a:solidFill>
                  <a:srgbClr val="1E3063"/>
                </a:solidFill>
                <a:latin typeface="Instrument Sans Semi Bold" pitchFamily="34" charset="0"/>
                <a:ea typeface="Instrument Sans Semi Bold" pitchFamily="34" charset="-122"/>
                <a:cs typeface="Instrument Sans Semi Bold" pitchFamily="34" charset="-120"/>
              </a:rPr>
              <a:t>4</a:t>
            </a:r>
            <a:endParaRPr lang="en-US" sz="1950" dirty="0"/>
          </a:p>
        </p:txBody>
      </p:sp>
      <p:sp>
        <p:nvSpPr>
          <p:cNvPr id="20" name="Text 17"/>
          <p:cNvSpPr/>
          <p:nvPr/>
        </p:nvSpPr>
        <p:spPr>
          <a:xfrm>
            <a:off x="1248847" y="5548551"/>
            <a:ext cx="2633424" cy="260866"/>
          </a:xfrm>
          <a:prstGeom prst="rect">
            <a:avLst/>
          </a:prstGeom>
          <a:noFill/>
          <a:ln/>
        </p:spPr>
        <p:txBody>
          <a:bodyPr wrap="none" lIns="0" tIns="0" rIns="0" bIns="0" rtlCol="0" anchor="t"/>
          <a:lstStyle/>
          <a:p>
            <a:pPr algn="l" indent="0" marL="0">
              <a:lnSpc>
                <a:spcPts val="2050"/>
              </a:lnSpc>
              <a:buNone/>
            </a:pPr>
            <a:r>
              <a:rPr lang="en-US" sz="1600" dirty="0">
                <a:solidFill>
                  <a:srgbClr val="1E3063"/>
                </a:solidFill>
                <a:latin typeface="Instrument Sans Semi Bold" pitchFamily="34" charset="0"/>
                <a:ea typeface="Instrument Sans Semi Bold" pitchFamily="34" charset="-122"/>
                <a:cs typeface="Instrument Sans Semi Bold" pitchFamily="34" charset="-120"/>
              </a:rPr>
              <a:t>Algoritmos fundamentales</a:t>
            </a:r>
            <a:endParaRPr lang="en-US" sz="1600" dirty="0"/>
          </a:p>
        </p:txBody>
      </p:sp>
      <p:sp>
        <p:nvSpPr>
          <p:cNvPr id="21" name="Text 18"/>
          <p:cNvSpPr/>
          <p:nvPr/>
        </p:nvSpPr>
        <p:spPr>
          <a:xfrm>
            <a:off x="1248847" y="5893594"/>
            <a:ext cx="5978485" cy="983456"/>
          </a:xfrm>
          <a:prstGeom prst="rect">
            <a:avLst/>
          </a:prstGeom>
          <a:noFill/>
          <a:ln/>
        </p:spPr>
        <p:txBody>
          <a:bodyPr wrap="square" lIns="0" tIns="0" rIns="0" bIns="0" rtlCol="0" anchor="t"/>
          <a:lstStyle/>
          <a:p>
            <a:pPr algn="l" indent="0" marL="0">
              <a:lnSpc>
                <a:spcPts val="1900"/>
              </a:lnSpc>
              <a:buNone/>
            </a:pPr>
            <a:r>
              <a:rPr lang="en-US" sz="1300" dirty="0">
                <a:solidFill>
                  <a:srgbClr val="1E3063"/>
                </a:solidFill>
                <a:latin typeface="Instrument Sans Medium" pitchFamily="34" charset="0"/>
                <a:ea typeface="Instrument Sans Medium" pitchFamily="34" charset="-122"/>
                <a:cs typeface="Instrument Sans Medium" pitchFamily="34" charset="-120"/>
              </a:rPr>
              <a:t>Más allá de las redes neuronales, la IA se apoya en algoritmos como </a:t>
            </a:r>
            <a:pPr algn="l" indent="0" marL="0">
              <a:lnSpc>
                <a:spcPts val="1900"/>
              </a:lnSpc>
              <a:buNone/>
            </a:pPr>
            <a:r>
              <a:rPr lang="en-US" sz="1300" b="1" dirty="0">
                <a:solidFill>
                  <a:srgbClr val="1E3063"/>
                </a:solidFill>
                <a:latin typeface="Instrument Sans Medium" pitchFamily="34" charset="0"/>
                <a:ea typeface="Instrument Sans Medium" pitchFamily="34" charset="-122"/>
                <a:cs typeface="Instrument Sans Medium" pitchFamily="34" charset="-120"/>
              </a:rPr>
              <a:t>regresión lineal y logística, árboles de decisión, Random Forest, SVM y gradient boosting</a:t>
            </a:r>
            <a:pPr algn="l" indent="0" marL="0">
              <a:lnSpc>
                <a:spcPts val="1900"/>
              </a:lnSpc>
              <a:buNone/>
            </a:pPr>
            <a:r>
              <a:rPr lang="en-US" sz="1300" dirty="0">
                <a:solidFill>
                  <a:srgbClr val="1E3063"/>
                </a:solidFill>
                <a:latin typeface="Instrument Sans Medium" pitchFamily="34" charset="0"/>
                <a:ea typeface="Instrument Sans Medium" pitchFamily="34" charset="-122"/>
                <a:cs typeface="Instrument Sans Medium" pitchFamily="34" charset="-120"/>
              </a:rPr>
              <a:t>. Conocer sus fortalezas, limitaciones y requisitos de datos permite elegir la herramienta adecuada para cada problema.</a:t>
            </a:r>
            <a:endParaRPr lang="en-US" sz="1300" dirty="0"/>
          </a:p>
        </p:txBody>
      </p:sp>
      <p:sp>
        <p:nvSpPr>
          <p:cNvPr id="22" name="Shape 19"/>
          <p:cNvSpPr/>
          <p:nvPr/>
        </p:nvSpPr>
        <p:spPr>
          <a:xfrm>
            <a:off x="7402830" y="5491282"/>
            <a:ext cx="375523" cy="375523"/>
          </a:xfrm>
          <a:prstGeom prst="roundRect">
            <a:avLst>
              <a:gd name="adj" fmla="val 40010"/>
            </a:avLst>
          </a:prstGeom>
          <a:solidFill>
            <a:srgbClr val="CEE6FD"/>
          </a:solidFill>
          <a:ln/>
        </p:spPr>
      </p:sp>
      <p:sp>
        <p:nvSpPr>
          <p:cNvPr id="23" name="Text 20"/>
          <p:cNvSpPr/>
          <p:nvPr/>
        </p:nvSpPr>
        <p:spPr>
          <a:xfrm>
            <a:off x="7465397" y="5522595"/>
            <a:ext cx="250388" cy="312896"/>
          </a:xfrm>
          <a:prstGeom prst="rect">
            <a:avLst/>
          </a:prstGeom>
          <a:noFill/>
          <a:ln/>
        </p:spPr>
        <p:txBody>
          <a:bodyPr wrap="none" lIns="0" tIns="0" rIns="0" bIns="0" rtlCol="0" anchor="t"/>
          <a:lstStyle/>
          <a:p>
            <a:pPr algn="ctr" indent="0" marL="0">
              <a:lnSpc>
                <a:spcPts val="1950"/>
              </a:lnSpc>
              <a:buNone/>
            </a:pPr>
            <a:r>
              <a:rPr lang="en-US" sz="1950" dirty="0">
                <a:solidFill>
                  <a:srgbClr val="1E3063"/>
                </a:solidFill>
                <a:latin typeface="Instrument Sans Semi Bold" pitchFamily="34" charset="0"/>
                <a:ea typeface="Instrument Sans Semi Bold" pitchFamily="34" charset="-122"/>
                <a:cs typeface="Instrument Sans Semi Bold" pitchFamily="34" charset="-120"/>
              </a:rPr>
              <a:t>5</a:t>
            </a:r>
            <a:endParaRPr lang="en-US" sz="1950" dirty="0"/>
          </a:p>
        </p:txBody>
      </p:sp>
      <p:sp>
        <p:nvSpPr>
          <p:cNvPr id="24" name="Text 21"/>
          <p:cNvSpPr/>
          <p:nvPr/>
        </p:nvSpPr>
        <p:spPr>
          <a:xfrm>
            <a:off x="7918728" y="5548551"/>
            <a:ext cx="2779633" cy="260866"/>
          </a:xfrm>
          <a:prstGeom prst="rect">
            <a:avLst/>
          </a:prstGeom>
          <a:noFill/>
          <a:ln/>
        </p:spPr>
        <p:txBody>
          <a:bodyPr wrap="none" lIns="0" tIns="0" rIns="0" bIns="0" rtlCol="0" anchor="t"/>
          <a:lstStyle/>
          <a:p>
            <a:pPr algn="l" indent="0" marL="0">
              <a:lnSpc>
                <a:spcPts val="2050"/>
              </a:lnSpc>
              <a:buNone/>
            </a:pPr>
            <a:r>
              <a:rPr lang="en-US" sz="1600" dirty="0">
                <a:solidFill>
                  <a:srgbClr val="1E3063"/>
                </a:solidFill>
                <a:latin typeface="Instrument Sans Semi Bold" pitchFamily="34" charset="0"/>
                <a:ea typeface="Instrument Sans Semi Bold" pitchFamily="34" charset="-122"/>
                <a:cs typeface="Instrument Sans Semi Bold" pitchFamily="34" charset="-120"/>
              </a:rPr>
              <a:t>Aplicaciones básicas de la IA</a:t>
            </a:r>
            <a:endParaRPr lang="en-US" sz="1600" dirty="0"/>
          </a:p>
        </p:txBody>
      </p:sp>
      <p:sp>
        <p:nvSpPr>
          <p:cNvPr id="25" name="Text 22"/>
          <p:cNvSpPr/>
          <p:nvPr/>
        </p:nvSpPr>
        <p:spPr>
          <a:xfrm>
            <a:off x="7918728" y="5893594"/>
            <a:ext cx="5978604" cy="983456"/>
          </a:xfrm>
          <a:prstGeom prst="rect">
            <a:avLst/>
          </a:prstGeom>
          <a:noFill/>
          <a:ln/>
        </p:spPr>
        <p:txBody>
          <a:bodyPr wrap="square" lIns="0" tIns="0" rIns="0" bIns="0" rtlCol="0" anchor="t"/>
          <a:lstStyle/>
          <a:p>
            <a:pPr algn="l" indent="0" marL="0">
              <a:lnSpc>
                <a:spcPts val="1900"/>
              </a:lnSpc>
              <a:buNone/>
            </a:pPr>
            <a:r>
              <a:rPr lang="en-US" sz="1300" dirty="0">
                <a:solidFill>
                  <a:srgbClr val="1E3063"/>
                </a:solidFill>
                <a:latin typeface="Instrument Sans Medium" pitchFamily="34" charset="0"/>
                <a:ea typeface="Instrument Sans Medium" pitchFamily="34" charset="-122"/>
                <a:cs typeface="Instrument Sans Medium" pitchFamily="34" charset="-120"/>
              </a:rPr>
              <a:t>Casos de uso consolidados: </a:t>
            </a:r>
            <a:pPr algn="l" indent="0" marL="0">
              <a:lnSpc>
                <a:spcPts val="1900"/>
              </a:lnSpc>
              <a:buNone/>
            </a:pPr>
            <a:r>
              <a:rPr lang="en-US" sz="1300" b="1" dirty="0">
                <a:solidFill>
                  <a:srgbClr val="1E3063"/>
                </a:solidFill>
                <a:latin typeface="Instrument Sans Medium" pitchFamily="34" charset="0"/>
                <a:ea typeface="Instrument Sans Medium" pitchFamily="34" charset="-122"/>
                <a:cs typeface="Instrument Sans Medium" pitchFamily="34" charset="-120"/>
              </a:rPr>
              <a:t>clasificación, predicción, recomendación, detección de anomalías y generación de contenido</a:t>
            </a:r>
            <a:pPr algn="l" indent="0" marL="0">
              <a:lnSpc>
                <a:spcPts val="1900"/>
              </a:lnSpc>
              <a:buNone/>
            </a:pPr>
            <a:r>
              <a:rPr lang="en-US" sz="1300" dirty="0">
                <a:solidFill>
                  <a:srgbClr val="1E3063"/>
                </a:solidFill>
                <a:latin typeface="Instrument Sans Medium" pitchFamily="34" charset="0"/>
                <a:ea typeface="Instrument Sans Medium" pitchFamily="34" charset="-122"/>
                <a:cs typeface="Instrument Sans Medium" pitchFamily="34" charset="-120"/>
              </a:rPr>
              <a:t>. Ejemplos reales en marketing, operaciones, finanzas y atención al cliente ilustran cómo cada tipología de IA crea valor tangible en la empresa.</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402449" y="310634"/>
            <a:ext cx="79296" cy="79296"/>
          </a:xfrm>
          <a:prstGeom prst="rect">
            <a:avLst/>
          </a:prstGeom>
        </p:spPr>
      </p:pic>
      <p:sp>
        <p:nvSpPr>
          <p:cNvPr id="3" name="Text 0"/>
          <p:cNvSpPr/>
          <p:nvPr/>
        </p:nvSpPr>
        <p:spPr>
          <a:xfrm>
            <a:off x="3521393" y="302657"/>
            <a:ext cx="539948" cy="95250"/>
          </a:xfrm>
          <a:prstGeom prst="rect">
            <a:avLst/>
          </a:prstGeom>
          <a:noFill/>
          <a:ln/>
        </p:spPr>
        <p:txBody>
          <a:bodyPr wrap="none" lIns="0" tIns="0" rIns="0" bIns="0" rtlCol="0" anchor="t"/>
          <a:lstStyle/>
          <a:p>
            <a:pPr algn="l" indent="0" marL="0">
              <a:lnSpc>
                <a:spcPts val="750"/>
              </a:lnSpc>
              <a:buNone/>
            </a:pPr>
            <a:r>
              <a:rPr lang="en-US" sz="600" dirty="0">
                <a:solidFill>
                  <a:srgbClr val="84C1FA"/>
                </a:solidFill>
                <a:latin typeface="Instrument Sans Medium" pitchFamily="34" charset="0"/>
                <a:ea typeface="Instrument Sans Medium" pitchFamily="34" charset="-122"/>
                <a:cs typeface="Instrument Sans Medium" pitchFamily="34" charset="-120"/>
              </a:rPr>
              <a:t>APARTADO 1.2</a:t>
            </a:r>
            <a:endParaRPr lang="en-US" sz="600" dirty="0"/>
          </a:p>
        </p:txBody>
      </p:sp>
      <p:sp>
        <p:nvSpPr>
          <p:cNvPr id="4" name="Text 1"/>
          <p:cNvSpPr/>
          <p:nvPr/>
        </p:nvSpPr>
        <p:spPr>
          <a:xfrm>
            <a:off x="3402449" y="447437"/>
            <a:ext cx="5173266" cy="310158"/>
          </a:xfrm>
          <a:prstGeom prst="rect">
            <a:avLst/>
          </a:prstGeom>
          <a:noFill/>
          <a:ln/>
        </p:spPr>
        <p:txBody>
          <a:bodyPr wrap="none" lIns="0" tIns="0" rIns="0" bIns="0" rtlCol="0" anchor="t"/>
          <a:lstStyle/>
          <a:p>
            <a:pPr algn="l" indent="0" marL="0">
              <a:lnSpc>
                <a:spcPts val="2400"/>
              </a:lnSpc>
              <a:buNone/>
            </a:pPr>
            <a:r>
              <a:rPr lang="en-US" sz="1950" dirty="0">
                <a:solidFill>
                  <a:srgbClr val="091C53"/>
                </a:solidFill>
                <a:latin typeface="Instrument Sans Semi Bold" pitchFamily="34" charset="0"/>
                <a:ea typeface="Instrument Sans Semi Bold" pitchFamily="34" charset="-122"/>
                <a:cs typeface="Instrument Sans Semi Bold" pitchFamily="34" charset="-120"/>
              </a:rPr>
              <a:t>Evolución y Tendencias Tecnológicas de la IA</a:t>
            </a:r>
            <a:endParaRPr lang="en-US" sz="1950" dirty="0"/>
          </a:p>
        </p:txBody>
      </p:sp>
      <p:sp>
        <p:nvSpPr>
          <p:cNvPr id="5" name="Text 2"/>
          <p:cNvSpPr/>
          <p:nvPr/>
        </p:nvSpPr>
        <p:spPr>
          <a:xfrm>
            <a:off x="3402449" y="832009"/>
            <a:ext cx="7825502" cy="237887"/>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Desde sus orígenes teóricos hasta los modelos generativos de hoy, la IA ha atravesado décadas de avances, crisis y renacimientos. Este apartado ofrece una visión panorámica de su historia, los hitos que la definen y las tendencias que marcarán el futuro próximo.</a:t>
            </a:r>
            <a:endParaRPr lang="en-US" sz="750" dirty="0"/>
          </a:p>
        </p:txBody>
      </p:sp>
      <p:sp>
        <p:nvSpPr>
          <p:cNvPr id="6" name="Text 3"/>
          <p:cNvSpPr/>
          <p:nvPr/>
        </p:nvSpPr>
        <p:spPr>
          <a:xfrm>
            <a:off x="3402449" y="1144310"/>
            <a:ext cx="3609380" cy="248007"/>
          </a:xfrm>
          <a:prstGeom prst="rect">
            <a:avLst/>
          </a:prstGeom>
          <a:noFill/>
          <a:ln/>
        </p:spPr>
        <p:txBody>
          <a:bodyPr wrap="none" lIns="0" tIns="0" rIns="0" bIns="0" rtlCol="0" anchor="t"/>
          <a:lstStyle/>
          <a:p>
            <a:pPr algn="l" indent="0" marL="0">
              <a:lnSpc>
                <a:spcPts val="1950"/>
              </a:lnSpc>
              <a:buNone/>
            </a:pPr>
            <a:r>
              <a:rPr lang="en-US" sz="1550" dirty="0">
                <a:solidFill>
                  <a:srgbClr val="091C53"/>
                </a:solidFill>
                <a:latin typeface="Instrument Sans Semi Bold" pitchFamily="34" charset="0"/>
                <a:ea typeface="Instrument Sans Semi Bold" pitchFamily="34" charset="-122"/>
                <a:cs typeface="Instrument Sans Semi Bold" pitchFamily="34" charset="-120"/>
              </a:rPr>
              <a:t>Historia y evolución: de los inicios a hoy</a:t>
            </a:r>
            <a:endParaRPr lang="en-US" sz="1550" dirty="0"/>
          </a:p>
        </p:txBody>
      </p:sp>
      <p:sp>
        <p:nvSpPr>
          <p:cNvPr id="7" name="Shape 4"/>
          <p:cNvSpPr/>
          <p:nvPr/>
        </p:nvSpPr>
        <p:spPr>
          <a:xfrm>
            <a:off x="3402449" y="2643068"/>
            <a:ext cx="7825502" cy="15240"/>
          </a:xfrm>
          <a:prstGeom prst="roundRect">
            <a:avLst>
              <a:gd name="adj" fmla="val 586046"/>
            </a:avLst>
          </a:prstGeom>
          <a:solidFill>
            <a:srgbClr val="B4CCE3"/>
          </a:solidFill>
          <a:ln/>
        </p:spPr>
      </p:sp>
      <p:sp>
        <p:nvSpPr>
          <p:cNvPr id="8" name="Shape 5"/>
          <p:cNvSpPr/>
          <p:nvPr/>
        </p:nvSpPr>
        <p:spPr>
          <a:xfrm>
            <a:off x="4678323" y="2345472"/>
            <a:ext cx="15240" cy="297656"/>
          </a:xfrm>
          <a:prstGeom prst="roundRect">
            <a:avLst>
              <a:gd name="adj" fmla="val 586046"/>
            </a:avLst>
          </a:prstGeom>
          <a:solidFill>
            <a:srgbClr val="B4CCE3"/>
          </a:solidFill>
          <a:ln/>
        </p:spPr>
      </p:sp>
      <p:sp>
        <p:nvSpPr>
          <p:cNvPr id="9" name="Shape 6"/>
          <p:cNvSpPr/>
          <p:nvPr/>
        </p:nvSpPr>
        <p:spPr>
          <a:xfrm>
            <a:off x="4574381" y="2531447"/>
            <a:ext cx="223242" cy="223242"/>
          </a:xfrm>
          <a:prstGeom prst="roundRect">
            <a:avLst>
              <a:gd name="adj" fmla="val 40007"/>
            </a:avLst>
          </a:prstGeom>
          <a:solidFill>
            <a:srgbClr val="CEE6FD"/>
          </a:solidFill>
          <a:ln/>
        </p:spPr>
      </p:sp>
      <p:sp>
        <p:nvSpPr>
          <p:cNvPr id="10" name="Text 7"/>
          <p:cNvSpPr/>
          <p:nvPr/>
        </p:nvSpPr>
        <p:spPr>
          <a:xfrm>
            <a:off x="4611529" y="2550021"/>
            <a:ext cx="148828" cy="185976"/>
          </a:xfrm>
          <a:prstGeom prst="rect">
            <a:avLst/>
          </a:prstGeom>
          <a:noFill/>
          <a:ln/>
        </p:spPr>
        <p:txBody>
          <a:bodyPr wrap="none" lIns="0" tIns="0" rIns="0" bIns="0" rtlCol="0" anchor="t"/>
          <a:lstStyle/>
          <a:p>
            <a:pPr algn="ctr" indent="0" marL="0">
              <a:lnSpc>
                <a:spcPts val="1150"/>
              </a:lnSpc>
              <a:buNone/>
            </a:pPr>
            <a:r>
              <a:rPr lang="en-US" sz="1150" dirty="0">
                <a:solidFill>
                  <a:srgbClr val="1E3063"/>
                </a:solidFill>
                <a:latin typeface="Instrument Sans Semi Bold" pitchFamily="34" charset="0"/>
                <a:ea typeface="Instrument Sans Semi Bold" pitchFamily="34" charset="-122"/>
                <a:cs typeface="Instrument Sans Semi Bold" pitchFamily="34" charset="-120"/>
              </a:rPr>
              <a:t>1</a:t>
            </a:r>
            <a:endParaRPr lang="en-US" sz="1150" dirty="0"/>
          </a:p>
        </p:txBody>
      </p:sp>
      <p:sp>
        <p:nvSpPr>
          <p:cNvPr id="11" name="Text 8"/>
          <p:cNvSpPr/>
          <p:nvPr/>
        </p:nvSpPr>
        <p:spPr>
          <a:xfrm>
            <a:off x="3759160" y="1466731"/>
            <a:ext cx="1853803" cy="155019"/>
          </a:xfrm>
          <a:prstGeom prst="rect">
            <a:avLst/>
          </a:prstGeom>
          <a:noFill/>
          <a:ln/>
        </p:spPr>
        <p:txBody>
          <a:bodyPr wrap="none" lIns="0" tIns="0" rIns="0" bIns="0" rtlCol="0" anchor="t"/>
          <a:lstStyle/>
          <a:p>
            <a:pPr algn="ctr"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1950s — Nacimiento conceptual</a:t>
            </a:r>
            <a:endParaRPr lang="en-US" sz="950" dirty="0"/>
          </a:p>
        </p:txBody>
      </p:sp>
      <p:sp>
        <p:nvSpPr>
          <p:cNvPr id="12" name="Text 9"/>
          <p:cNvSpPr/>
          <p:nvPr/>
        </p:nvSpPr>
        <p:spPr>
          <a:xfrm>
            <a:off x="3501628" y="1651516"/>
            <a:ext cx="2368868" cy="594717"/>
          </a:xfrm>
          <a:prstGeom prst="rect">
            <a:avLst/>
          </a:prstGeom>
          <a:noFill/>
          <a:ln/>
        </p:spPr>
        <p:txBody>
          <a:bodyPr wrap="square" lIns="0" tIns="0" rIns="0" bIns="0" rtlCol="0" anchor="t"/>
          <a:lstStyle/>
          <a:p>
            <a:pPr algn="ctr"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Alan Turing propone el </a:t>
            </a:r>
            <a:pPr algn="ctr"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Test de Turing</a:t>
            </a:r>
            <a:pPr algn="ctr"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(1950). En 1956, el término </a:t>
            </a:r>
            <a:pPr algn="ctr"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"Inteligencia Artificial"</a:t>
            </a:r>
            <a:pPr algn="ctr"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es acuñado por John McCarthy en la conferencia de Dartmouth. Primeros programas de ajedrez y resolución de problemas.</a:t>
            </a:r>
            <a:endParaRPr lang="en-US" sz="750" dirty="0"/>
          </a:p>
        </p:txBody>
      </p:sp>
      <p:sp>
        <p:nvSpPr>
          <p:cNvPr id="13" name="Shape 10"/>
          <p:cNvSpPr/>
          <p:nvPr/>
        </p:nvSpPr>
        <p:spPr>
          <a:xfrm>
            <a:off x="5992892" y="2643009"/>
            <a:ext cx="15240" cy="297656"/>
          </a:xfrm>
          <a:prstGeom prst="roundRect">
            <a:avLst>
              <a:gd name="adj" fmla="val 586046"/>
            </a:avLst>
          </a:prstGeom>
          <a:solidFill>
            <a:srgbClr val="B4CCE3"/>
          </a:solidFill>
          <a:ln/>
        </p:spPr>
      </p:sp>
      <p:sp>
        <p:nvSpPr>
          <p:cNvPr id="14" name="Shape 11"/>
          <p:cNvSpPr/>
          <p:nvPr/>
        </p:nvSpPr>
        <p:spPr>
          <a:xfrm>
            <a:off x="5888950" y="2531447"/>
            <a:ext cx="223242" cy="223242"/>
          </a:xfrm>
          <a:prstGeom prst="roundRect">
            <a:avLst>
              <a:gd name="adj" fmla="val 40007"/>
            </a:avLst>
          </a:prstGeom>
          <a:solidFill>
            <a:srgbClr val="CEE6FD"/>
          </a:solidFill>
          <a:ln/>
        </p:spPr>
      </p:sp>
      <p:sp>
        <p:nvSpPr>
          <p:cNvPr id="15" name="Text 12"/>
          <p:cNvSpPr/>
          <p:nvPr/>
        </p:nvSpPr>
        <p:spPr>
          <a:xfrm>
            <a:off x="5926098" y="2550021"/>
            <a:ext cx="148828" cy="185976"/>
          </a:xfrm>
          <a:prstGeom prst="rect">
            <a:avLst/>
          </a:prstGeom>
          <a:noFill/>
          <a:ln/>
        </p:spPr>
        <p:txBody>
          <a:bodyPr wrap="none" lIns="0" tIns="0" rIns="0" bIns="0" rtlCol="0" anchor="t"/>
          <a:lstStyle/>
          <a:p>
            <a:pPr algn="ctr" indent="0" marL="0">
              <a:lnSpc>
                <a:spcPts val="1150"/>
              </a:lnSpc>
              <a:buNone/>
            </a:pPr>
            <a:r>
              <a:rPr lang="en-US" sz="1150" dirty="0">
                <a:solidFill>
                  <a:srgbClr val="1E3063"/>
                </a:solidFill>
                <a:latin typeface="Instrument Sans Semi Bold" pitchFamily="34" charset="0"/>
                <a:ea typeface="Instrument Sans Semi Bold" pitchFamily="34" charset="-122"/>
                <a:cs typeface="Instrument Sans Semi Bold" pitchFamily="34" charset="-120"/>
              </a:rPr>
              <a:t>2</a:t>
            </a:r>
            <a:endParaRPr lang="en-US" sz="1150" dirty="0"/>
          </a:p>
        </p:txBody>
      </p:sp>
      <p:sp>
        <p:nvSpPr>
          <p:cNvPr id="16" name="Text 13"/>
          <p:cNvSpPr/>
          <p:nvPr/>
        </p:nvSpPr>
        <p:spPr>
          <a:xfrm>
            <a:off x="5072063" y="3039904"/>
            <a:ext cx="1857137" cy="155019"/>
          </a:xfrm>
          <a:prstGeom prst="rect">
            <a:avLst/>
          </a:prstGeom>
          <a:noFill/>
          <a:ln/>
        </p:spPr>
        <p:txBody>
          <a:bodyPr wrap="none" lIns="0" tIns="0" rIns="0" bIns="0" rtlCol="0" anchor="t"/>
          <a:lstStyle/>
          <a:p>
            <a:pPr algn="ctr"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1970s–80s — Sistemas expertos</a:t>
            </a:r>
            <a:endParaRPr lang="en-US" sz="950" dirty="0"/>
          </a:p>
        </p:txBody>
      </p:sp>
      <p:sp>
        <p:nvSpPr>
          <p:cNvPr id="17" name="Text 14"/>
          <p:cNvSpPr/>
          <p:nvPr/>
        </p:nvSpPr>
        <p:spPr>
          <a:xfrm>
            <a:off x="4816197" y="3224689"/>
            <a:ext cx="2368868" cy="475774"/>
          </a:xfrm>
          <a:prstGeom prst="rect">
            <a:avLst/>
          </a:prstGeom>
          <a:noFill/>
          <a:ln/>
        </p:spPr>
        <p:txBody>
          <a:bodyPr wrap="square" lIns="0" tIns="0" rIns="0" bIns="0" rtlCol="0" anchor="t"/>
          <a:lstStyle/>
          <a:p>
            <a:pPr algn="ctr"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Auge de los </a:t>
            </a:r>
            <a:pPr algn="ctr"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sistemas expertos</a:t>
            </a:r>
            <a:pPr algn="ctr"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basados en reglas (MYCIN, XCON). Las empresas invierten en IA simbólica. Llega el primer </a:t>
            </a:r>
            <a:pPr algn="ctr"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"invierno de la IA"</a:t>
            </a:r>
            <a:pPr algn="ctr"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las promesas superan las capacidades reales.</a:t>
            </a:r>
            <a:endParaRPr lang="en-US" sz="750" dirty="0"/>
          </a:p>
        </p:txBody>
      </p:sp>
      <p:sp>
        <p:nvSpPr>
          <p:cNvPr id="18" name="Shape 15"/>
          <p:cNvSpPr/>
          <p:nvPr/>
        </p:nvSpPr>
        <p:spPr>
          <a:xfrm>
            <a:off x="7307461" y="2345472"/>
            <a:ext cx="15240" cy="297656"/>
          </a:xfrm>
          <a:prstGeom prst="roundRect">
            <a:avLst>
              <a:gd name="adj" fmla="val 586046"/>
            </a:avLst>
          </a:prstGeom>
          <a:solidFill>
            <a:srgbClr val="B4CCE3"/>
          </a:solidFill>
          <a:ln/>
        </p:spPr>
      </p:sp>
      <p:sp>
        <p:nvSpPr>
          <p:cNvPr id="19" name="Shape 16"/>
          <p:cNvSpPr/>
          <p:nvPr/>
        </p:nvSpPr>
        <p:spPr>
          <a:xfrm>
            <a:off x="7203519" y="2531447"/>
            <a:ext cx="223242" cy="223242"/>
          </a:xfrm>
          <a:prstGeom prst="roundRect">
            <a:avLst>
              <a:gd name="adj" fmla="val 40007"/>
            </a:avLst>
          </a:prstGeom>
          <a:solidFill>
            <a:srgbClr val="CEE6FD"/>
          </a:solidFill>
          <a:ln/>
        </p:spPr>
      </p:sp>
      <p:sp>
        <p:nvSpPr>
          <p:cNvPr id="20" name="Text 17"/>
          <p:cNvSpPr/>
          <p:nvPr/>
        </p:nvSpPr>
        <p:spPr>
          <a:xfrm>
            <a:off x="7240667" y="2550021"/>
            <a:ext cx="148828" cy="185976"/>
          </a:xfrm>
          <a:prstGeom prst="rect">
            <a:avLst/>
          </a:prstGeom>
          <a:noFill/>
          <a:ln/>
        </p:spPr>
        <p:txBody>
          <a:bodyPr wrap="none" lIns="0" tIns="0" rIns="0" bIns="0" rtlCol="0" anchor="t"/>
          <a:lstStyle/>
          <a:p>
            <a:pPr algn="ctr" indent="0" marL="0">
              <a:lnSpc>
                <a:spcPts val="1150"/>
              </a:lnSpc>
              <a:buNone/>
            </a:pPr>
            <a:r>
              <a:rPr lang="en-US" sz="1150" dirty="0">
                <a:solidFill>
                  <a:srgbClr val="1E3063"/>
                </a:solidFill>
                <a:latin typeface="Instrument Sans Semi Bold" pitchFamily="34" charset="0"/>
                <a:ea typeface="Instrument Sans Semi Bold" pitchFamily="34" charset="-122"/>
                <a:cs typeface="Instrument Sans Semi Bold" pitchFamily="34" charset="-120"/>
              </a:rPr>
              <a:t>3</a:t>
            </a:r>
            <a:endParaRPr lang="en-US" sz="1150" dirty="0"/>
          </a:p>
        </p:txBody>
      </p:sp>
      <p:sp>
        <p:nvSpPr>
          <p:cNvPr id="21" name="Text 18"/>
          <p:cNvSpPr/>
          <p:nvPr/>
        </p:nvSpPr>
        <p:spPr>
          <a:xfrm>
            <a:off x="6317694" y="1466731"/>
            <a:ext cx="1994892" cy="155019"/>
          </a:xfrm>
          <a:prstGeom prst="rect">
            <a:avLst/>
          </a:prstGeom>
          <a:noFill/>
          <a:ln/>
        </p:spPr>
        <p:txBody>
          <a:bodyPr wrap="none" lIns="0" tIns="0" rIns="0" bIns="0" rtlCol="0" anchor="t"/>
          <a:lstStyle/>
          <a:p>
            <a:pPr algn="ctr"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1990s–2000s — Machine Learning</a:t>
            </a:r>
            <a:endParaRPr lang="en-US" sz="950" dirty="0"/>
          </a:p>
        </p:txBody>
      </p:sp>
      <p:sp>
        <p:nvSpPr>
          <p:cNvPr id="22" name="Text 19"/>
          <p:cNvSpPr/>
          <p:nvPr/>
        </p:nvSpPr>
        <p:spPr>
          <a:xfrm>
            <a:off x="6130766" y="1651516"/>
            <a:ext cx="2368868" cy="594717"/>
          </a:xfrm>
          <a:prstGeom prst="rect">
            <a:avLst/>
          </a:prstGeom>
          <a:noFill/>
          <a:ln/>
        </p:spPr>
        <p:txBody>
          <a:bodyPr wrap="square" lIns="0" tIns="0" rIns="0" bIns="0" rtlCol="0" anchor="t"/>
          <a:lstStyle/>
          <a:p>
            <a:pPr algn="ctr"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El enfoque cambia: de reglas escritas a mano a </a:t>
            </a:r>
            <a:pPr algn="ctr"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aprender desde datos</a:t>
            </a:r>
            <a:pPr algn="ctr"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Surgen las SVM, los árboles de decisión y las redes bayesianas. Deep Blue vence a Kasparov en ajedrez (1997). El ML empieza a aplicarse en spam, crédito y búsqueda.</a:t>
            </a:r>
            <a:endParaRPr lang="en-US" sz="750" dirty="0"/>
          </a:p>
        </p:txBody>
      </p:sp>
      <p:sp>
        <p:nvSpPr>
          <p:cNvPr id="23" name="Shape 20"/>
          <p:cNvSpPr/>
          <p:nvPr/>
        </p:nvSpPr>
        <p:spPr>
          <a:xfrm>
            <a:off x="8622030" y="2643009"/>
            <a:ext cx="15240" cy="297656"/>
          </a:xfrm>
          <a:prstGeom prst="roundRect">
            <a:avLst>
              <a:gd name="adj" fmla="val 586046"/>
            </a:avLst>
          </a:prstGeom>
          <a:solidFill>
            <a:srgbClr val="B4CCE3"/>
          </a:solidFill>
          <a:ln/>
        </p:spPr>
      </p:sp>
      <p:sp>
        <p:nvSpPr>
          <p:cNvPr id="24" name="Shape 21"/>
          <p:cNvSpPr/>
          <p:nvPr/>
        </p:nvSpPr>
        <p:spPr>
          <a:xfrm>
            <a:off x="8518088" y="2531447"/>
            <a:ext cx="223242" cy="223242"/>
          </a:xfrm>
          <a:prstGeom prst="roundRect">
            <a:avLst>
              <a:gd name="adj" fmla="val 40007"/>
            </a:avLst>
          </a:prstGeom>
          <a:solidFill>
            <a:srgbClr val="CEE6FD"/>
          </a:solidFill>
          <a:ln/>
        </p:spPr>
      </p:sp>
      <p:sp>
        <p:nvSpPr>
          <p:cNvPr id="25" name="Text 22"/>
          <p:cNvSpPr/>
          <p:nvPr/>
        </p:nvSpPr>
        <p:spPr>
          <a:xfrm>
            <a:off x="8555236" y="2550021"/>
            <a:ext cx="148828" cy="185976"/>
          </a:xfrm>
          <a:prstGeom prst="rect">
            <a:avLst/>
          </a:prstGeom>
          <a:noFill/>
          <a:ln/>
        </p:spPr>
        <p:txBody>
          <a:bodyPr wrap="none" lIns="0" tIns="0" rIns="0" bIns="0" rtlCol="0" anchor="t"/>
          <a:lstStyle/>
          <a:p>
            <a:pPr algn="ctr" indent="0" marL="0">
              <a:lnSpc>
                <a:spcPts val="1150"/>
              </a:lnSpc>
              <a:buNone/>
            </a:pPr>
            <a:r>
              <a:rPr lang="en-US" sz="1150" dirty="0">
                <a:solidFill>
                  <a:srgbClr val="1E3063"/>
                </a:solidFill>
                <a:latin typeface="Instrument Sans Semi Bold" pitchFamily="34" charset="0"/>
                <a:ea typeface="Instrument Sans Semi Bold" pitchFamily="34" charset="-122"/>
                <a:cs typeface="Instrument Sans Semi Bold" pitchFamily="34" charset="-120"/>
              </a:rPr>
              <a:t>4</a:t>
            </a:r>
            <a:endParaRPr lang="en-US" sz="1150" dirty="0"/>
          </a:p>
        </p:txBody>
      </p:sp>
      <p:sp>
        <p:nvSpPr>
          <p:cNvPr id="26" name="Text 23"/>
          <p:cNvSpPr/>
          <p:nvPr/>
        </p:nvSpPr>
        <p:spPr>
          <a:xfrm>
            <a:off x="7951113" y="3039904"/>
            <a:ext cx="1357193" cy="155019"/>
          </a:xfrm>
          <a:prstGeom prst="rect">
            <a:avLst/>
          </a:prstGeom>
          <a:noFill/>
          <a:ln/>
        </p:spPr>
        <p:txBody>
          <a:bodyPr wrap="none" lIns="0" tIns="0" rIns="0" bIns="0" rtlCol="0" anchor="t"/>
          <a:lstStyle/>
          <a:p>
            <a:pPr algn="ctr"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2010s — Deep Learning</a:t>
            </a:r>
            <a:endParaRPr lang="en-US" sz="950" dirty="0"/>
          </a:p>
        </p:txBody>
      </p:sp>
      <p:sp>
        <p:nvSpPr>
          <p:cNvPr id="27" name="Text 24"/>
          <p:cNvSpPr/>
          <p:nvPr/>
        </p:nvSpPr>
        <p:spPr>
          <a:xfrm>
            <a:off x="7445335" y="3224689"/>
            <a:ext cx="2368868" cy="594717"/>
          </a:xfrm>
          <a:prstGeom prst="rect">
            <a:avLst/>
          </a:prstGeom>
          <a:noFill/>
          <a:ln/>
        </p:spPr>
        <p:txBody>
          <a:bodyPr wrap="square" lIns="0" tIns="0" rIns="0" bIns="0" rtlCol="0" anchor="t"/>
          <a:lstStyle/>
          <a:p>
            <a:pPr algn="ctr"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AlexNet (2012) revoluciona la visión por computadora. </a:t>
            </a:r>
            <a:pPr algn="ctr"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TensorFlow y PyTorch</a:t>
            </a:r>
            <a:pPr algn="ctr"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democratizan el deep learning. AlphaGo vence al campeón mundial de Go (2016). La IA entra en producción en grandes empresas tecnológicas.</a:t>
            </a:r>
            <a:endParaRPr lang="en-US" sz="750" dirty="0"/>
          </a:p>
        </p:txBody>
      </p:sp>
      <p:sp>
        <p:nvSpPr>
          <p:cNvPr id="28" name="Shape 25"/>
          <p:cNvSpPr/>
          <p:nvPr/>
        </p:nvSpPr>
        <p:spPr>
          <a:xfrm>
            <a:off x="9936599" y="2345472"/>
            <a:ext cx="15240" cy="297656"/>
          </a:xfrm>
          <a:prstGeom prst="roundRect">
            <a:avLst>
              <a:gd name="adj" fmla="val 586046"/>
            </a:avLst>
          </a:prstGeom>
          <a:solidFill>
            <a:srgbClr val="B4CCE3"/>
          </a:solidFill>
          <a:ln/>
        </p:spPr>
      </p:sp>
      <p:sp>
        <p:nvSpPr>
          <p:cNvPr id="29" name="Shape 26"/>
          <p:cNvSpPr/>
          <p:nvPr/>
        </p:nvSpPr>
        <p:spPr>
          <a:xfrm>
            <a:off x="9832658" y="2531447"/>
            <a:ext cx="223242" cy="223242"/>
          </a:xfrm>
          <a:prstGeom prst="roundRect">
            <a:avLst>
              <a:gd name="adj" fmla="val 40007"/>
            </a:avLst>
          </a:prstGeom>
          <a:solidFill>
            <a:srgbClr val="CEE6FD"/>
          </a:solidFill>
          <a:ln/>
        </p:spPr>
      </p:sp>
      <p:sp>
        <p:nvSpPr>
          <p:cNvPr id="30" name="Text 27"/>
          <p:cNvSpPr/>
          <p:nvPr/>
        </p:nvSpPr>
        <p:spPr>
          <a:xfrm>
            <a:off x="9869805" y="2550021"/>
            <a:ext cx="148828" cy="185976"/>
          </a:xfrm>
          <a:prstGeom prst="rect">
            <a:avLst/>
          </a:prstGeom>
          <a:noFill/>
          <a:ln/>
        </p:spPr>
        <p:txBody>
          <a:bodyPr wrap="none" lIns="0" tIns="0" rIns="0" bIns="0" rtlCol="0" anchor="t"/>
          <a:lstStyle/>
          <a:p>
            <a:pPr algn="ctr" indent="0" marL="0">
              <a:lnSpc>
                <a:spcPts val="1150"/>
              </a:lnSpc>
              <a:buNone/>
            </a:pPr>
            <a:r>
              <a:rPr lang="en-US" sz="1150" dirty="0">
                <a:solidFill>
                  <a:srgbClr val="1E3063"/>
                </a:solidFill>
                <a:latin typeface="Instrument Sans Semi Bold" pitchFamily="34" charset="0"/>
                <a:ea typeface="Instrument Sans Semi Bold" pitchFamily="34" charset="-122"/>
                <a:cs typeface="Instrument Sans Semi Bold" pitchFamily="34" charset="-120"/>
              </a:rPr>
              <a:t>5</a:t>
            </a:r>
            <a:endParaRPr lang="en-US" sz="1150" dirty="0"/>
          </a:p>
        </p:txBody>
      </p:sp>
      <p:sp>
        <p:nvSpPr>
          <p:cNvPr id="31" name="Text 28"/>
          <p:cNvSpPr/>
          <p:nvPr/>
        </p:nvSpPr>
        <p:spPr>
          <a:xfrm>
            <a:off x="9262586" y="1466731"/>
            <a:ext cx="1363385" cy="155019"/>
          </a:xfrm>
          <a:prstGeom prst="rect">
            <a:avLst/>
          </a:prstGeom>
          <a:noFill/>
          <a:ln/>
        </p:spPr>
        <p:txBody>
          <a:bodyPr wrap="none" lIns="0" tIns="0" rIns="0" bIns="0" rtlCol="0" anchor="t"/>
          <a:lstStyle/>
          <a:p>
            <a:pPr algn="ctr"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2020s — Era generativa</a:t>
            </a:r>
            <a:endParaRPr lang="en-US" sz="950" dirty="0"/>
          </a:p>
        </p:txBody>
      </p:sp>
      <p:sp>
        <p:nvSpPr>
          <p:cNvPr id="32" name="Text 29"/>
          <p:cNvSpPr/>
          <p:nvPr/>
        </p:nvSpPr>
        <p:spPr>
          <a:xfrm>
            <a:off x="8759904" y="1651516"/>
            <a:ext cx="2368868" cy="594717"/>
          </a:xfrm>
          <a:prstGeom prst="rect">
            <a:avLst/>
          </a:prstGeom>
          <a:noFill/>
          <a:ln/>
        </p:spPr>
        <p:txBody>
          <a:bodyPr wrap="square" lIns="0" tIns="0" rIns="0" bIns="0" rtlCol="0" anchor="t"/>
          <a:lstStyle/>
          <a:p>
            <a:pPr algn="ctr"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GPT-3, DALL·E, Stable Diffusion y </a:t>
            </a:r>
            <a:pPr algn="ctr"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ChatGPT</a:t>
            </a:r>
            <a:pPr algn="ctr"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transforman la relación entre personas e IA. Los </a:t>
            </a:r>
            <a:pPr algn="ctr"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LLMs</a:t>
            </a:r>
            <a:pPr algn="ctr"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escalan a cientos de miles de millones de parámetros. La IA generativa llega al gran público y a la empresa en tiempo récord.</a:t>
            </a:r>
            <a:endParaRPr lang="en-US" sz="750" dirty="0"/>
          </a:p>
        </p:txBody>
      </p:sp>
      <p:sp>
        <p:nvSpPr>
          <p:cNvPr id="33" name="Text 30"/>
          <p:cNvSpPr/>
          <p:nvPr/>
        </p:nvSpPr>
        <p:spPr>
          <a:xfrm>
            <a:off x="3402449" y="3893820"/>
            <a:ext cx="2259568" cy="248007"/>
          </a:xfrm>
          <a:prstGeom prst="rect">
            <a:avLst/>
          </a:prstGeom>
          <a:noFill/>
          <a:ln/>
        </p:spPr>
        <p:txBody>
          <a:bodyPr wrap="none" lIns="0" tIns="0" rIns="0" bIns="0" rtlCol="0" anchor="t"/>
          <a:lstStyle/>
          <a:p>
            <a:pPr algn="l" indent="0" marL="0">
              <a:lnSpc>
                <a:spcPts val="1950"/>
              </a:lnSpc>
              <a:buNone/>
            </a:pPr>
            <a:r>
              <a:rPr lang="en-US" sz="1550" dirty="0">
                <a:solidFill>
                  <a:srgbClr val="091C53"/>
                </a:solidFill>
                <a:latin typeface="Instrument Sans Semi Bold" pitchFamily="34" charset="0"/>
                <a:ea typeface="Instrument Sans Semi Bold" pitchFamily="34" charset="-122"/>
                <a:cs typeface="Instrument Sans Semi Bold" pitchFamily="34" charset="-120"/>
              </a:rPr>
              <a:t>Hitos tecnológicos clave</a:t>
            </a:r>
            <a:endParaRPr lang="en-US" sz="1550" dirty="0"/>
          </a:p>
        </p:txBody>
      </p:sp>
      <p:sp>
        <p:nvSpPr>
          <p:cNvPr id="34" name="Shape 31"/>
          <p:cNvSpPr/>
          <p:nvPr/>
        </p:nvSpPr>
        <p:spPr>
          <a:xfrm>
            <a:off x="3402449" y="4216241"/>
            <a:ext cx="7825502" cy="1257300"/>
          </a:xfrm>
          <a:prstGeom prst="roundRect">
            <a:avLst>
              <a:gd name="adj" fmla="val 7104"/>
            </a:avLst>
          </a:prstGeom>
          <a:solidFill>
            <a:srgbClr val="CEE6FD"/>
          </a:solidFill>
          <a:ln/>
        </p:spPr>
      </p:sp>
      <p:sp>
        <p:nvSpPr>
          <p:cNvPr id="35" name="Shape 32"/>
          <p:cNvSpPr/>
          <p:nvPr/>
        </p:nvSpPr>
        <p:spPr>
          <a:xfrm>
            <a:off x="3402449" y="4216241"/>
            <a:ext cx="3912751" cy="628650"/>
          </a:xfrm>
          <a:prstGeom prst="roundRect">
            <a:avLst>
              <a:gd name="adj" fmla="val 14207"/>
            </a:avLst>
          </a:prstGeom>
          <a:solidFill>
            <a:srgbClr val="CEE6FD"/>
          </a:solidFill>
          <a:ln/>
        </p:spPr>
      </p:sp>
      <p:sp>
        <p:nvSpPr>
          <p:cNvPr id="36" name="Text 33"/>
          <p:cNvSpPr/>
          <p:nvPr/>
        </p:nvSpPr>
        <p:spPr>
          <a:xfrm>
            <a:off x="3501628" y="4315420"/>
            <a:ext cx="1292781" cy="162639"/>
          </a:xfrm>
          <a:prstGeom prst="rect">
            <a:avLst/>
          </a:prstGeom>
          <a:noFill/>
          <a:ln/>
        </p:spPr>
        <p:txBody>
          <a:bodyPr wrap="none" lIns="0" tIns="0" rIns="0" bIns="0" rtlCol="0" anchor="t"/>
          <a:lstStyle/>
          <a:p>
            <a:pPr algn="l" indent="0" marL="0">
              <a:lnSpc>
                <a:spcPts val="1200"/>
              </a:lnSpc>
              <a:buNone/>
            </a:pPr>
            <a:r>
              <a:rPr lang="en-US" sz="950" dirty="0">
                <a:solidFill>
                  <a:srgbClr val="000000"/>
                </a:solidFill>
                <a:latin typeface="Instrument Sans Semi Bold" pitchFamily="34" charset="0"/>
                <a:ea typeface="Instrument Sans Semi Bold" pitchFamily="34" charset="-122"/>
                <a:cs typeface="Instrument Sans Semi Bold" pitchFamily="34" charset="-120"/>
              </a:rPr>
              <a:t>🧠</a:t>
            </a:r>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 Transformer (2017)</a:t>
            </a:r>
            <a:endParaRPr lang="en-US" sz="950" dirty="0"/>
          </a:p>
        </p:txBody>
      </p:sp>
      <p:sp>
        <p:nvSpPr>
          <p:cNvPr id="37" name="Text 34"/>
          <p:cNvSpPr/>
          <p:nvPr/>
        </p:nvSpPr>
        <p:spPr>
          <a:xfrm>
            <a:off x="3501628" y="4507825"/>
            <a:ext cx="3714393" cy="237887"/>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La arquitectura </a:t>
            </a:r>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"Attention is All You Need"</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de Google sienta la base de todos los LLMs modernos: GPT, BERT, Gemini, Claude y LLaMA.</a:t>
            </a:r>
            <a:endParaRPr lang="en-US" sz="750" dirty="0"/>
          </a:p>
        </p:txBody>
      </p:sp>
      <p:sp>
        <p:nvSpPr>
          <p:cNvPr id="38" name="Shape 35"/>
          <p:cNvSpPr/>
          <p:nvPr/>
        </p:nvSpPr>
        <p:spPr>
          <a:xfrm>
            <a:off x="7315200" y="4216241"/>
            <a:ext cx="3912751" cy="628650"/>
          </a:xfrm>
          <a:prstGeom prst="rect">
            <a:avLst/>
          </a:prstGeom>
          <a:solidFill>
            <a:srgbClr val="CEE6FD"/>
          </a:solidFill>
          <a:ln/>
        </p:spPr>
      </p:sp>
      <p:sp>
        <p:nvSpPr>
          <p:cNvPr id="39" name="Shape 36"/>
          <p:cNvSpPr/>
          <p:nvPr/>
        </p:nvSpPr>
        <p:spPr>
          <a:xfrm>
            <a:off x="7315200" y="4216241"/>
            <a:ext cx="15240" cy="628650"/>
          </a:xfrm>
          <a:prstGeom prst="roundRect">
            <a:avLst>
              <a:gd name="adj" fmla="val 586046"/>
            </a:avLst>
          </a:prstGeom>
          <a:solidFill>
            <a:srgbClr val="B4CCE3"/>
          </a:solidFill>
          <a:ln/>
        </p:spPr>
      </p:sp>
      <p:sp>
        <p:nvSpPr>
          <p:cNvPr id="40" name="Text 37"/>
          <p:cNvSpPr/>
          <p:nvPr/>
        </p:nvSpPr>
        <p:spPr>
          <a:xfrm>
            <a:off x="7414379" y="4315420"/>
            <a:ext cx="1550551" cy="162639"/>
          </a:xfrm>
          <a:prstGeom prst="rect">
            <a:avLst/>
          </a:prstGeom>
          <a:noFill/>
          <a:ln/>
        </p:spPr>
        <p:txBody>
          <a:bodyPr wrap="none" lIns="0" tIns="0" rIns="0" bIns="0" rtlCol="0" anchor="t"/>
          <a:lstStyle/>
          <a:p>
            <a:pPr algn="l" indent="0" marL="0">
              <a:lnSpc>
                <a:spcPts val="1200"/>
              </a:lnSpc>
              <a:buNone/>
            </a:pPr>
            <a:r>
              <a:rPr lang="en-US" sz="950" dirty="0">
                <a:solidFill>
                  <a:srgbClr val="000000"/>
                </a:solidFill>
                <a:latin typeface="Instrument Sans Semi Bold" pitchFamily="34" charset="0"/>
                <a:ea typeface="Instrument Sans Semi Bold" pitchFamily="34" charset="-122"/>
                <a:cs typeface="Instrument Sans Semi Bold" pitchFamily="34" charset="-120"/>
              </a:rPr>
              <a:t>🎨</a:t>
            </a:r>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 IA Generativa (2021–22)</a:t>
            </a:r>
            <a:endParaRPr lang="en-US" sz="950" dirty="0"/>
          </a:p>
        </p:txBody>
      </p:sp>
      <p:sp>
        <p:nvSpPr>
          <p:cNvPr id="41" name="Text 38"/>
          <p:cNvSpPr/>
          <p:nvPr/>
        </p:nvSpPr>
        <p:spPr>
          <a:xfrm>
            <a:off x="7414379" y="4507825"/>
            <a:ext cx="3714393" cy="237887"/>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Modelos como </a:t>
            </a:r>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DALL·E, Midjourney y Stable Diffusion</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demuestran que la IA puede crear imágenes, audio y vídeo de alta calidad a partir de texto.</a:t>
            </a:r>
            <a:endParaRPr lang="en-US" sz="750" dirty="0"/>
          </a:p>
        </p:txBody>
      </p:sp>
      <p:sp>
        <p:nvSpPr>
          <p:cNvPr id="42" name="Shape 39"/>
          <p:cNvSpPr/>
          <p:nvPr/>
        </p:nvSpPr>
        <p:spPr>
          <a:xfrm>
            <a:off x="3402449" y="4844891"/>
            <a:ext cx="3912751" cy="628650"/>
          </a:xfrm>
          <a:prstGeom prst="rect">
            <a:avLst/>
          </a:prstGeom>
          <a:solidFill>
            <a:srgbClr val="CEE6FD"/>
          </a:solidFill>
          <a:ln/>
        </p:spPr>
      </p:sp>
      <p:sp>
        <p:nvSpPr>
          <p:cNvPr id="43" name="Shape 40"/>
          <p:cNvSpPr/>
          <p:nvPr/>
        </p:nvSpPr>
        <p:spPr>
          <a:xfrm>
            <a:off x="3402449" y="4844891"/>
            <a:ext cx="3912751" cy="15240"/>
          </a:xfrm>
          <a:prstGeom prst="roundRect">
            <a:avLst>
              <a:gd name="adj" fmla="val 586046"/>
            </a:avLst>
          </a:prstGeom>
          <a:solidFill>
            <a:srgbClr val="B4CCE3"/>
          </a:solidFill>
          <a:ln/>
        </p:spPr>
      </p:sp>
      <p:sp>
        <p:nvSpPr>
          <p:cNvPr id="44" name="Text 41"/>
          <p:cNvSpPr/>
          <p:nvPr/>
        </p:nvSpPr>
        <p:spPr>
          <a:xfrm>
            <a:off x="3501628" y="4944070"/>
            <a:ext cx="1240393" cy="162639"/>
          </a:xfrm>
          <a:prstGeom prst="rect">
            <a:avLst/>
          </a:prstGeom>
          <a:noFill/>
          <a:ln/>
        </p:spPr>
        <p:txBody>
          <a:bodyPr wrap="none" lIns="0" tIns="0" rIns="0" bIns="0" rtlCol="0" anchor="t"/>
          <a:lstStyle/>
          <a:p>
            <a:pPr algn="l" indent="0" marL="0">
              <a:lnSpc>
                <a:spcPts val="1200"/>
              </a:lnSpc>
              <a:buNone/>
            </a:pPr>
            <a:r>
              <a:rPr lang="en-US" sz="950" dirty="0">
                <a:solidFill>
                  <a:srgbClr val="000000"/>
                </a:solidFill>
                <a:latin typeface="Instrument Sans Semi Bold" pitchFamily="34" charset="0"/>
                <a:ea typeface="Instrument Sans Semi Bold" pitchFamily="34" charset="-122"/>
                <a:cs typeface="Instrument Sans Semi Bold" pitchFamily="34" charset="-120"/>
              </a:rPr>
              <a:t>💬</a:t>
            </a:r>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 ChatGPT (2022)</a:t>
            </a:r>
            <a:endParaRPr lang="en-US" sz="950" dirty="0"/>
          </a:p>
        </p:txBody>
      </p:sp>
      <p:sp>
        <p:nvSpPr>
          <p:cNvPr id="45" name="Text 42"/>
          <p:cNvSpPr/>
          <p:nvPr/>
        </p:nvSpPr>
        <p:spPr>
          <a:xfrm>
            <a:off x="3501628" y="5136475"/>
            <a:ext cx="3714393" cy="237887"/>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OpenAI lanza ChatGPT: </a:t>
            </a:r>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100 millones de usuarios en 2 meses</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Marca el inicio de la adopción masiva de LLMs en empresas, educación y administración pública.</a:t>
            </a:r>
            <a:endParaRPr lang="en-US" sz="750" dirty="0"/>
          </a:p>
        </p:txBody>
      </p:sp>
      <p:sp>
        <p:nvSpPr>
          <p:cNvPr id="46" name="Shape 43"/>
          <p:cNvSpPr/>
          <p:nvPr/>
        </p:nvSpPr>
        <p:spPr>
          <a:xfrm>
            <a:off x="7315200" y="4844891"/>
            <a:ext cx="3912751" cy="628650"/>
          </a:xfrm>
          <a:prstGeom prst="rect">
            <a:avLst/>
          </a:prstGeom>
          <a:solidFill>
            <a:srgbClr val="CEE6FD"/>
          </a:solidFill>
          <a:ln/>
        </p:spPr>
      </p:sp>
      <p:sp>
        <p:nvSpPr>
          <p:cNvPr id="47" name="Shape 44"/>
          <p:cNvSpPr/>
          <p:nvPr/>
        </p:nvSpPr>
        <p:spPr>
          <a:xfrm>
            <a:off x="7315200" y="4844891"/>
            <a:ext cx="15240" cy="628650"/>
          </a:xfrm>
          <a:prstGeom prst="roundRect">
            <a:avLst>
              <a:gd name="adj" fmla="val 586046"/>
            </a:avLst>
          </a:prstGeom>
          <a:solidFill>
            <a:srgbClr val="B4CCE3"/>
          </a:solidFill>
          <a:ln/>
        </p:spPr>
      </p:sp>
      <p:sp>
        <p:nvSpPr>
          <p:cNvPr id="48" name="Shape 45"/>
          <p:cNvSpPr/>
          <p:nvPr/>
        </p:nvSpPr>
        <p:spPr>
          <a:xfrm>
            <a:off x="7315200" y="4844891"/>
            <a:ext cx="3912751" cy="15240"/>
          </a:xfrm>
          <a:prstGeom prst="roundRect">
            <a:avLst>
              <a:gd name="adj" fmla="val 586046"/>
            </a:avLst>
          </a:prstGeom>
          <a:solidFill>
            <a:srgbClr val="B4CCE3"/>
          </a:solidFill>
          <a:ln/>
        </p:spPr>
      </p:sp>
      <p:sp>
        <p:nvSpPr>
          <p:cNvPr id="49" name="Text 46"/>
          <p:cNvSpPr/>
          <p:nvPr/>
        </p:nvSpPr>
        <p:spPr>
          <a:xfrm>
            <a:off x="7414379" y="4944070"/>
            <a:ext cx="2126099" cy="162639"/>
          </a:xfrm>
          <a:prstGeom prst="rect">
            <a:avLst/>
          </a:prstGeom>
          <a:noFill/>
          <a:ln/>
        </p:spPr>
        <p:txBody>
          <a:bodyPr wrap="none" lIns="0" tIns="0" rIns="0" bIns="0" rtlCol="0" anchor="t"/>
          <a:lstStyle/>
          <a:p>
            <a:pPr algn="l" indent="0" marL="0">
              <a:lnSpc>
                <a:spcPts val="1200"/>
              </a:lnSpc>
              <a:buNone/>
            </a:pPr>
            <a:r>
              <a:rPr lang="en-US" sz="950" dirty="0">
                <a:solidFill>
                  <a:srgbClr val="000000"/>
                </a:solidFill>
                <a:latin typeface="Instrument Sans Semi Bold" pitchFamily="34" charset="0"/>
                <a:ea typeface="Instrument Sans Semi Bold" pitchFamily="34" charset="-122"/>
                <a:cs typeface="Instrument Sans Semi Bold" pitchFamily="34" charset="-120"/>
              </a:rPr>
              <a:t>🔗</a:t>
            </a:r>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 Modelos multimodales (2023–24)</a:t>
            </a:r>
            <a:endParaRPr lang="en-US" sz="950" dirty="0"/>
          </a:p>
        </p:txBody>
      </p:sp>
      <p:sp>
        <p:nvSpPr>
          <p:cNvPr id="50" name="Text 47"/>
          <p:cNvSpPr/>
          <p:nvPr/>
        </p:nvSpPr>
        <p:spPr>
          <a:xfrm>
            <a:off x="7414379" y="5136475"/>
            <a:ext cx="3714393" cy="237887"/>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GPT-4V, Gemini y Claude combinan </a:t>
            </a:r>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texto, imagen, audio y vídeo</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en un único modelo, multiplicando las posibilidades de aplicación empresarial.</a:t>
            </a:r>
            <a:endParaRPr lang="en-US" sz="750" dirty="0"/>
          </a:p>
        </p:txBody>
      </p:sp>
      <p:sp>
        <p:nvSpPr>
          <p:cNvPr id="51" name="Text 48"/>
          <p:cNvSpPr/>
          <p:nvPr/>
        </p:nvSpPr>
        <p:spPr>
          <a:xfrm>
            <a:off x="3402449" y="5547955"/>
            <a:ext cx="4340304" cy="248007"/>
          </a:xfrm>
          <a:prstGeom prst="rect">
            <a:avLst/>
          </a:prstGeom>
          <a:noFill/>
          <a:ln/>
        </p:spPr>
        <p:txBody>
          <a:bodyPr wrap="none" lIns="0" tIns="0" rIns="0" bIns="0" rtlCol="0" anchor="t"/>
          <a:lstStyle/>
          <a:p>
            <a:pPr algn="l" indent="0" marL="0">
              <a:lnSpc>
                <a:spcPts val="1950"/>
              </a:lnSpc>
              <a:buNone/>
            </a:pPr>
            <a:r>
              <a:rPr lang="en-US" sz="1550" dirty="0">
                <a:solidFill>
                  <a:srgbClr val="091C53"/>
                </a:solidFill>
                <a:latin typeface="Instrument Sans Semi Bold" pitchFamily="34" charset="0"/>
                <a:ea typeface="Instrument Sans Semi Bold" pitchFamily="34" charset="-122"/>
                <a:cs typeface="Instrument Sans Semi Bold" pitchFamily="34" charset="-120"/>
              </a:rPr>
              <a:t>Tendencias actuales y tecnologías emergentes</a:t>
            </a:r>
            <a:endParaRPr lang="en-US" sz="1550" dirty="0"/>
          </a:p>
        </p:txBody>
      </p:sp>
      <p:pic>
        <p:nvPicPr>
          <p:cNvPr id="5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02449" y="5870377"/>
            <a:ext cx="248007" cy="248007"/>
          </a:xfrm>
          <a:prstGeom prst="rect">
            <a:avLst/>
          </a:prstGeom>
        </p:spPr>
      </p:pic>
      <p:sp>
        <p:nvSpPr>
          <p:cNvPr id="53" name="Text 49"/>
          <p:cNvSpPr/>
          <p:nvPr/>
        </p:nvSpPr>
        <p:spPr>
          <a:xfrm>
            <a:off x="3402449" y="6180296"/>
            <a:ext cx="1240393" cy="155019"/>
          </a:xfrm>
          <a:prstGeom prst="rect">
            <a:avLst/>
          </a:prstGeom>
          <a:noFill/>
          <a:ln/>
        </p:spPr>
        <p:txBody>
          <a:bodyPr wrap="none" lIns="0" tIns="0" rIns="0" bIns="0" rtlCol="0" anchor="t"/>
          <a:lstStyle/>
          <a:p>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LLMs y IA generativa</a:t>
            </a:r>
            <a:endParaRPr lang="en-US" sz="950" dirty="0"/>
          </a:p>
        </p:txBody>
      </p:sp>
      <p:sp>
        <p:nvSpPr>
          <p:cNvPr id="54" name="Text 50"/>
          <p:cNvSpPr/>
          <p:nvPr/>
        </p:nvSpPr>
        <p:spPr>
          <a:xfrm>
            <a:off x="3402449" y="6365081"/>
            <a:ext cx="3881795" cy="356830"/>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Los grandes modelos de lenguaje (GPT, Gemini, Claude, LLaMA) dominan la agenda. Técnicas como </a:t>
            </a:r>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RAG, fine-tuning y prompt engineering</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permiten adaptarlos a necesidades específicas de negocio.</a:t>
            </a:r>
            <a:endParaRPr lang="en-US" sz="750" dirty="0"/>
          </a:p>
        </p:txBody>
      </p:sp>
      <p:pic>
        <p:nvPicPr>
          <p:cNvPr id="55"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46156" y="5870377"/>
            <a:ext cx="248007" cy="248007"/>
          </a:xfrm>
          <a:prstGeom prst="rect">
            <a:avLst/>
          </a:prstGeom>
        </p:spPr>
      </p:pic>
      <p:sp>
        <p:nvSpPr>
          <p:cNvPr id="56" name="Text 51"/>
          <p:cNvSpPr/>
          <p:nvPr/>
        </p:nvSpPr>
        <p:spPr>
          <a:xfrm>
            <a:off x="7346156" y="6180296"/>
            <a:ext cx="1497211" cy="155019"/>
          </a:xfrm>
          <a:prstGeom prst="rect">
            <a:avLst/>
          </a:prstGeom>
          <a:noFill/>
          <a:ln/>
        </p:spPr>
        <p:txBody>
          <a:bodyPr wrap="none" lIns="0" tIns="0" rIns="0" bIns="0" rtlCol="0" anchor="t"/>
          <a:lstStyle/>
          <a:p>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Agentes autónomos de IA</a:t>
            </a:r>
            <a:endParaRPr lang="en-US" sz="950" dirty="0"/>
          </a:p>
        </p:txBody>
      </p:sp>
      <p:sp>
        <p:nvSpPr>
          <p:cNvPr id="57" name="Text 52"/>
          <p:cNvSpPr/>
          <p:nvPr/>
        </p:nvSpPr>
        <p:spPr>
          <a:xfrm>
            <a:off x="7346156" y="6365081"/>
            <a:ext cx="3881795" cy="356830"/>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Sistemas capaces de </a:t>
            </a:r>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planificar, usar herramientas y ejecutar tareas</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de forma encadenada sin intervención humana. Abren la puerta a la automatización de procesos complejos y multietapa.</a:t>
            </a:r>
            <a:endParaRPr lang="en-US" sz="750" dirty="0"/>
          </a:p>
        </p:txBody>
      </p:sp>
      <p:pic>
        <p:nvPicPr>
          <p:cNvPr id="58"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402449" y="6821091"/>
            <a:ext cx="248007" cy="248007"/>
          </a:xfrm>
          <a:prstGeom prst="rect">
            <a:avLst/>
          </a:prstGeom>
        </p:spPr>
      </p:pic>
      <p:sp>
        <p:nvSpPr>
          <p:cNvPr id="59" name="Text 53"/>
          <p:cNvSpPr/>
          <p:nvPr/>
        </p:nvSpPr>
        <p:spPr>
          <a:xfrm>
            <a:off x="3402449" y="7131010"/>
            <a:ext cx="1368266" cy="155019"/>
          </a:xfrm>
          <a:prstGeom prst="rect">
            <a:avLst/>
          </a:prstGeom>
          <a:noFill/>
          <a:ln/>
        </p:spPr>
        <p:txBody>
          <a:bodyPr wrap="none" lIns="0" tIns="0" rIns="0" bIns="0" rtlCol="0" anchor="t"/>
          <a:lstStyle/>
          <a:p>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IA en el borde (Edge AI)</a:t>
            </a:r>
            <a:endParaRPr lang="en-US" sz="950" dirty="0"/>
          </a:p>
        </p:txBody>
      </p:sp>
      <p:sp>
        <p:nvSpPr>
          <p:cNvPr id="60" name="Text 54"/>
          <p:cNvSpPr/>
          <p:nvPr/>
        </p:nvSpPr>
        <p:spPr>
          <a:xfrm>
            <a:off x="3402449" y="7315795"/>
            <a:ext cx="3881795" cy="356830"/>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Modelos pequeños y eficientes que se ejecutan </a:t>
            </a:r>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directamente en dispositivos</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(móviles, sensores, maquinaria) sin depender de la nube. Clave en industria, salud y ciudades inteligentes.</a:t>
            </a:r>
            <a:endParaRPr lang="en-US" sz="750" dirty="0"/>
          </a:p>
        </p:txBody>
      </p:sp>
      <p:pic>
        <p:nvPicPr>
          <p:cNvPr id="61"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346156" y="6821091"/>
            <a:ext cx="248007" cy="248007"/>
          </a:xfrm>
          <a:prstGeom prst="rect">
            <a:avLst/>
          </a:prstGeom>
        </p:spPr>
      </p:pic>
      <p:sp>
        <p:nvSpPr>
          <p:cNvPr id="62" name="Text 55"/>
          <p:cNvSpPr/>
          <p:nvPr/>
        </p:nvSpPr>
        <p:spPr>
          <a:xfrm>
            <a:off x="7346156" y="7131010"/>
            <a:ext cx="1589365" cy="155019"/>
          </a:xfrm>
          <a:prstGeom prst="rect">
            <a:avLst/>
          </a:prstGeom>
          <a:noFill/>
          <a:ln/>
        </p:spPr>
        <p:txBody>
          <a:bodyPr wrap="none" lIns="0" tIns="0" rIns="0" bIns="0" rtlCol="0" anchor="t"/>
          <a:lstStyle/>
          <a:p>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IA científica y especializada</a:t>
            </a:r>
            <a:endParaRPr lang="en-US" sz="950" dirty="0"/>
          </a:p>
        </p:txBody>
      </p:sp>
      <p:sp>
        <p:nvSpPr>
          <p:cNvPr id="63" name="Text 56"/>
          <p:cNvSpPr/>
          <p:nvPr/>
        </p:nvSpPr>
        <p:spPr>
          <a:xfrm>
            <a:off x="7346156" y="7315795"/>
            <a:ext cx="3881795" cy="356830"/>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Modelos diseñados para dominios concretos: </a:t>
            </a:r>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AlphaFold</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en biología molecular, IA en climatología, descubrimiento de materiales y diagnóstico médico. La especialización supera a los modelos generalistas.</a:t>
            </a:r>
            <a:endParaRPr lang="en-US" sz="750" dirty="0"/>
          </a:p>
        </p:txBody>
      </p:sp>
      <p:sp>
        <p:nvSpPr>
          <p:cNvPr id="64" name="Text 57"/>
          <p:cNvSpPr/>
          <p:nvPr/>
        </p:nvSpPr>
        <p:spPr>
          <a:xfrm>
            <a:off x="3402449" y="7747040"/>
            <a:ext cx="1984653" cy="248007"/>
          </a:xfrm>
          <a:prstGeom prst="rect">
            <a:avLst/>
          </a:prstGeom>
          <a:noFill/>
          <a:ln/>
        </p:spPr>
        <p:txBody>
          <a:bodyPr wrap="none" lIns="0" tIns="0" rIns="0" bIns="0" rtlCol="0" anchor="t"/>
          <a:lstStyle/>
          <a:p>
            <a:pPr algn="l" indent="0" marL="0">
              <a:lnSpc>
                <a:spcPts val="1950"/>
              </a:lnSpc>
              <a:buNone/>
            </a:pPr>
            <a:r>
              <a:rPr lang="en-US" sz="1550" dirty="0">
                <a:solidFill>
                  <a:srgbClr val="091C53"/>
                </a:solidFill>
                <a:latin typeface="Instrument Sans Semi Bold" pitchFamily="34" charset="0"/>
                <a:ea typeface="Instrument Sans Semi Bold" pitchFamily="34" charset="-122"/>
                <a:cs typeface="Instrument Sans Semi Bold" pitchFamily="34" charset="-120"/>
              </a:rPr>
              <a:t>El futuro de la IA</a:t>
            </a:r>
            <a:endParaRPr lang="en-US" sz="1550" dirty="0"/>
          </a:p>
        </p:txBody>
      </p:sp>
      <p:sp>
        <p:nvSpPr>
          <p:cNvPr id="65" name="Shape 58"/>
          <p:cNvSpPr/>
          <p:nvPr/>
        </p:nvSpPr>
        <p:spPr>
          <a:xfrm>
            <a:off x="3402449" y="8069461"/>
            <a:ext cx="3887986" cy="1008340"/>
          </a:xfrm>
          <a:prstGeom prst="roundRect">
            <a:avLst>
              <a:gd name="adj" fmla="val 7255"/>
            </a:avLst>
          </a:prstGeom>
          <a:solidFill>
            <a:srgbClr val="FFFFFF"/>
          </a:solidFill>
          <a:ln w="15240">
            <a:solidFill>
              <a:srgbClr val="B4CCE3"/>
            </a:solidFill>
            <a:prstDash val="solid"/>
          </a:ln>
        </p:spPr>
      </p:sp>
      <p:sp>
        <p:nvSpPr>
          <p:cNvPr id="66" name="Shape 59"/>
          <p:cNvSpPr/>
          <p:nvPr/>
        </p:nvSpPr>
        <p:spPr>
          <a:xfrm>
            <a:off x="3387209" y="8069461"/>
            <a:ext cx="60960" cy="1008340"/>
          </a:xfrm>
          <a:prstGeom prst="roundRect">
            <a:avLst>
              <a:gd name="adj" fmla="val 146512"/>
            </a:avLst>
          </a:prstGeom>
          <a:solidFill>
            <a:srgbClr val="84C1FA"/>
          </a:solidFill>
          <a:ln/>
        </p:spPr>
      </p:sp>
      <p:sp>
        <p:nvSpPr>
          <p:cNvPr id="67" name="Text 60"/>
          <p:cNvSpPr/>
          <p:nvPr/>
        </p:nvSpPr>
        <p:spPr>
          <a:xfrm>
            <a:off x="3562588" y="8183880"/>
            <a:ext cx="2202299" cy="155019"/>
          </a:xfrm>
          <a:prstGeom prst="rect">
            <a:avLst/>
          </a:prstGeom>
          <a:noFill/>
          <a:ln/>
        </p:spPr>
        <p:txBody>
          <a:bodyPr wrap="none" lIns="0" tIns="0" rIns="0" bIns="0" rtlCol="0" anchor="t"/>
          <a:lstStyle/>
          <a:p>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IA General (AGI): ¿horizonte o ficción?</a:t>
            </a:r>
            <a:endParaRPr lang="en-US" sz="950" dirty="0"/>
          </a:p>
        </p:txBody>
      </p:sp>
      <p:sp>
        <p:nvSpPr>
          <p:cNvPr id="68" name="Text 61"/>
          <p:cNvSpPr/>
          <p:nvPr/>
        </p:nvSpPr>
        <p:spPr>
          <a:xfrm>
            <a:off x="3562588" y="8368665"/>
            <a:ext cx="3613428" cy="594717"/>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La </a:t>
            </a:r>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Inteligencia Artificial General</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—capaz de razonar en cualquier dominio como un humano— sigue siendo objeto de debate. Algunos laboratorios la sitúan a menos de una década; otros la consideran un objetivo indefinido. Lo cierto es que los modelos actuales ya superan a los humanos en tareas específicas cada vez más complejas.</a:t>
            </a:r>
            <a:endParaRPr lang="en-US" sz="750" dirty="0"/>
          </a:p>
        </p:txBody>
      </p:sp>
      <p:sp>
        <p:nvSpPr>
          <p:cNvPr id="69" name="Shape 62"/>
          <p:cNvSpPr/>
          <p:nvPr/>
        </p:nvSpPr>
        <p:spPr>
          <a:xfrm>
            <a:off x="7339965" y="8069461"/>
            <a:ext cx="3887986" cy="1008340"/>
          </a:xfrm>
          <a:prstGeom prst="roundRect">
            <a:avLst>
              <a:gd name="adj" fmla="val 7255"/>
            </a:avLst>
          </a:prstGeom>
          <a:solidFill>
            <a:srgbClr val="FFFFFF"/>
          </a:solidFill>
          <a:ln w="15240">
            <a:solidFill>
              <a:srgbClr val="B4CCE3"/>
            </a:solidFill>
            <a:prstDash val="solid"/>
          </a:ln>
        </p:spPr>
      </p:sp>
      <p:sp>
        <p:nvSpPr>
          <p:cNvPr id="70" name="Shape 63"/>
          <p:cNvSpPr/>
          <p:nvPr/>
        </p:nvSpPr>
        <p:spPr>
          <a:xfrm>
            <a:off x="7324725" y="8069461"/>
            <a:ext cx="60960" cy="1008340"/>
          </a:xfrm>
          <a:prstGeom prst="roundRect">
            <a:avLst>
              <a:gd name="adj" fmla="val 146512"/>
            </a:avLst>
          </a:prstGeom>
          <a:solidFill>
            <a:srgbClr val="84C1FA"/>
          </a:solidFill>
          <a:ln/>
        </p:spPr>
      </p:sp>
      <p:sp>
        <p:nvSpPr>
          <p:cNvPr id="71" name="Text 64"/>
          <p:cNvSpPr/>
          <p:nvPr/>
        </p:nvSpPr>
        <p:spPr>
          <a:xfrm>
            <a:off x="7500104" y="8183880"/>
            <a:ext cx="1598652" cy="155019"/>
          </a:xfrm>
          <a:prstGeom prst="rect">
            <a:avLst/>
          </a:prstGeom>
          <a:noFill/>
          <a:ln/>
        </p:spPr>
        <p:txBody>
          <a:bodyPr wrap="none" lIns="0" tIns="0" rIns="0" bIns="0" rtlCol="0" anchor="t"/>
          <a:lstStyle/>
          <a:p>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IA responsable y regulación</a:t>
            </a:r>
            <a:endParaRPr lang="en-US" sz="950" dirty="0"/>
          </a:p>
        </p:txBody>
      </p:sp>
      <p:sp>
        <p:nvSpPr>
          <p:cNvPr id="72" name="Text 65"/>
          <p:cNvSpPr/>
          <p:nvPr/>
        </p:nvSpPr>
        <p:spPr>
          <a:xfrm>
            <a:off x="7500104" y="8368665"/>
            <a:ext cx="3613428" cy="475774"/>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El </a:t>
            </a:r>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AI Act europeo</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y marcos regulatorios globales obligan a las empresas a garantizar transparencia, explicabilidad y ausencia de sesgos. La </a:t>
            </a:r>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gobernanza de la IA</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se convierte en una competencia estratégica imprescindible para cualquier organización.</a:t>
            </a:r>
            <a:endParaRPr lang="en-US" sz="750" dirty="0"/>
          </a:p>
        </p:txBody>
      </p:sp>
      <p:sp>
        <p:nvSpPr>
          <p:cNvPr id="73" name="Shape 66"/>
          <p:cNvSpPr/>
          <p:nvPr/>
        </p:nvSpPr>
        <p:spPr>
          <a:xfrm>
            <a:off x="3402449" y="9127331"/>
            <a:ext cx="3887986" cy="889397"/>
          </a:xfrm>
          <a:prstGeom prst="roundRect">
            <a:avLst>
              <a:gd name="adj" fmla="val 8225"/>
            </a:avLst>
          </a:prstGeom>
          <a:solidFill>
            <a:srgbClr val="FFFFFF"/>
          </a:solidFill>
          <a:ln w="15240">
            <a:solidFill>
              <a:srgbClr val="B4CCE3"/>
            </a:solidFill>
            <a:prstDash val="solid"/>
          </a:ln>
        </p:spPr>
      </p:sp>
      <p:sp>
        <p:nvSpPr>
          <p:cNvPr id="74" name="Shape 67"/>
          <p:cNvSpPr/>
          <p:nvPr/>
        </p:nvSpPr>
        <p:spPr>
          <a:xfrm>
            <a:off x="3387209" y="9127331"/>
            <a:ext cx="60960" cy="889397"/>
          </a:xfrm>
          <a:prstGeom prst="roundRect">
            <a:avLst>
              <a:gd name="adj" fmla="val 146512"/>
            </a:avLst>
          </a:prstGeom>
          <a:solidFill>
            <a:srgbClr val="84C1FA"/>
          </a:solidFill>
          <a:ln/>
        </p:spPr>
      </p:sp>
      <p:sp>
        <p:nvSpPr>
          <p:cNvPr id="75" name="Text 68"/>
          <p:cNvSpPr/>
          <p:nvPr/>
        </p:nvSpPr>
        <p:spPr>
          <a:xfrm>
            <a:off x="3562588" y="9241750"/>
            <a:ext cx="1567458" cy="155019"/>
          </a:xfrm>
          <a:prstGeom prst="rect">
            <a:avLst/>
          </a:prstGeom>
          <a:noFill/>
          <a:ln/>
        </p:spPr>
        <p:txBody>
          <a:bodyPr wrap="none" lIns="0" tIns="0" rIns="0" bIns="0" rtlCol="0" anchor="t"/>
          <a:lstStyle/>
          <a:p>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Computación cuántica e IA</a:t>
            </a:r>
            <a:endParaRPr lang="en-US" sz="950" dirty="0"/>
          </a:p>
        </p:txBody>
      </p:sp>
      <p:sp>
        <p:nvSpPr>
          <p:cNvPr id="76" name="Text 69"/>
          <p:cNvSpPr/>
          <p:nvPr/>
        </p:nvSpPr>
        <p:spPr>
          <a:xfrm>
            <a:off x="3562588" y="9426535"/>
            <a:ext cx="3613428" cy="475774"/>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La integración de la </a:t>
            </a:r>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computación cuántica</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promete acelerar el entrenamiento de modelos y resolver problemas de optimización hoy inabordables. Aunque aún en fase experimental, su impacto potencial en IA es transformador a medio plazo.</a:t>
            </a:r>
            <a:endParaRPr lang="en-US" sz="750" dirty="0"/>
          </a:p>
        </p:txBody>
      </p:sp>
      <p:sp>
        <p:nvSpPr>
          <p:cNvPr id="77" name="Shape 70"/>
          <p:cNvSpPr/>
          <p:nvPr/>
        </p:nvSpPr>
        <p:spPr>
          <a:xfrm>
            <a:off x="7339965" y="9127331"/>
            <a:ext cx="3887986" cy="889397"/>
          </a:xfrm>
          <a:prstGeom prst="roundRect">
            <a:avLst>
              <a:gd name="adj" fmla="val 8225"/>
            </a:avLst>
          </a:prstGeom>
          <a:solidFill>
            <a:srgbClr val="FFFFFF"/>
          </a:solidFill>
          <a:ln w="15240">
            <a:solidFill>
              <a:srgbClr val="B4CCE3"/>
            </a:solidFill>
            <a:prstDash val="solid"/>
          </a:ln>
        </p:spPr>
      </p:sp>
      <p:sp>
        <p:nvSpPr>
          <p:cNvPr id="78" name="Shape 71"/>
          <p:cNvSpPr/>
          <p:nvPr/>
        </p:nvSpPr>
        <p:spPr>
          <a:xfrm>
            <a:off x="7324725" y="9127331"/>
            <a:ext cx="60960" cy="889397"/>
          </a:xfrm>
          <a:prstGeom prst="roundRect">
            <a:avLst>
              <a:gd name="adj" fmla="val 146512"/>
            </a:avLst>
          </a:prstGeom>
          <a:solidFill>
            <a:srgbClr val="84C1FA"/>
          </a:solidFill>
          <a:ln/>
        </p:spPr>
      </p:sp>
      <p:sp>
        <p:nvSpPr>
          <p:cNvPr id="79" name="Text 72"/>
          <p:cNvSpPr/>
          <p:nvPr/>
        </p:nvSpPr>
        <p:spPr>
          <a:xfrm>
            <a:off x="7500104" y="9241750"/>
            <a:ext cx="1800701" cy="155019"/>
          </a:xfrm>
          <a:prstGeom prst="rect">
            <a:avLst/>
          </a:prstGeom>
          <a:noFill/>
          <a:ln/>
        </p:spPr>
        <p:txBody>
          <a:bodyPr wrap="none" lIns="0" tIns="0" rIns="0" bIns="0" rtlCol="0" anchor="t"/>
          <a:lstStyle/>
          <a:p>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IA y el nuevo modelo de trabajo</a:t>
            </a:r>
            <a:endParaRPr lang="en-US" sz="950" dirty="0"/>
          </a:p>
        </p:txBody>
      </p:sp>
      <p:sp>
        <p:nvSpPr>
          <p:cNvPr id="80" name="Text 73"/>
          <p:cNvSpPr/>
          <p:nvPr/>
        </p:nvSpPr>
        <p:spPr>
          <a:xfrm>
            <a:off x="7500104" y="9426535"/>
            <a:ext cx="3613428" cy="475774"/>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La IA no solo automatiza tareas: </a:t>
            </a:r>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redefine roles, crea nuevas profesiones</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y exige nuevas competencias digitales. La colaboración humano-IA ("augmented intelligence") será el paradigma dominante en la empresa del futuro próximo.</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402449" y="1215390"/>
            <a:ext cx="79296" cy="79296"/>
          </a:xfrm>
          <a:prstGeom prst="rect">
            <a:avLst/>
          </a:prstGeom>
        </p:spPr>
      </p:pic>
      <p:sp>
        <p:nvSpPr>
          <p:cNvPr id="3" name="Text 0"/>
          <p:cNvSpPr/>
          <p:nvPr/>
        </p:nvSpPr>
        <p:spPr>
          <a:xfrm>
            <a:off x="3521393" y="1207413"/>
            <a:ext cx="540068" cy="95250"/>
          </a:xfrm>
          <a:prstGeom prst="rect">
            <a:avLst/>
          </a:prstGeom>
          <a:noFill/>
          <a:ln/>
        </p:spPr>
        <p:txBody>
          <a:bodyPr wrap="none" lIns="0" tIns="0" rIns="0" bIns="0" rtlCol="0" anchor="t"/>
          <a:lstStyle/>
          <a:p>
            <a:pPr algn="l" indent="0" marL="0">
              <a:lnSpc>
                <a:spcPts val="750"/>
              </a:lnSpc>
              <a:buNone/>
            </a:pPr>
            <a:r>
              <a:rPr lang="en-US" sz="600" dirty="0">
                <a:solidFill>
                  <a:srgbClr val="84C1FA"/>
                </a:solidFill>
                <a:latin typeface="Instrument Sans Medium" pitchFamily="34" charset="0"/>
                <a:ea typeface="Instrument Sans Medium" pitchFamily="34" charset="-122"/>
                <a:cs typeface="Instrument Sans Medium" pitchFamily="34" charset="-120"/>
              </a:rPr>
              <a:t>APARTADO 1.3</a:t>
            </a:r>
            <a:endParaRPr lang="en-US" sz="600" dirty="0"/>
          </a:p>
        </p:txBody>
      </p:sp>
      <p:sp>
        <p:nvSpPr>
          <p:cNvPr id="4" name="Text 1"/>
          <p:cNvSpPr/>
          <p:nvPr/>
        </p:nvSpPr>
        <p:spPr>
          <a:xfrm>
            <a:off x="3402449" y="1352193"/>
            <a:ext cx="7825502" cy="620316"/>
          </a:xfrm>
          <a:prstGeom prst="rect">
            <a:avLst/>
          </a:prstGeom>
          <a:noFill/>
          <a:ln/>
        </p:spPr>
        <p:txBody>
          <a:bodyPr wrap="square" lIns="0" tIns="0" rIns="0" bIns="0" rtlCol="0" anchor="t"/>
          <a:lstStyle/>
          <a:p>
            <a:pPr algn="l" indent="0" marL="0">
              <a:lnSpc>
                <a:spcPts val="2400"/>
              </a:lnSpc>
              <a:buNone/>
            </a:pPr>
            <a:r>
              <a:rPr lang="en-US" sz="1950" dirty="0">
                <a:solidFill>
                  <a:srgbClr val="091C53"/>
                </a:solidFill>
                <a:latin typeface="Instrument Sans Semi Bold" pitchFamily="34" charset="0"/>
                <a:ea typeface="Instrument Sans Semi Bold" pitchFamily="34" charset="-122"/>
                <a:cs typeface="Instrument Sans Semi Bold" pitchFamily="34" charset="-120"/>
              </a:rPr>
              <a:t>Impacto de la IA en la Empresa: Procesos, Decisiones y Nuevos Modelos</a:t>
            </a:r>
            <a:endParaRPr lang="en-US" sz="1950" dirty="0"/>
          </a:p>
        </p:txBody>
      </p:sp>
      <p:sp>
        <p:nvSpPr>
          <p:cNvPr id="5" name="Text 2"/>
          <p:cNvSpPr/>
          <p:nvPr/>
        </p:nvSpPr>
        <p:spPr>
          <a:xfrm>
            <a:off x="3402449" y="2046923"/>
            <a:ext cx="7825502" cy="237887"/>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La inteligencia artificial no es solo una herramienta tecnológica: es un </a:t>
            </a:r>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vector de transformación organizacional</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que redefine cómo operan las empresas, cómo se toman las decisiones y cómo se crea valor. Este apartado analiza su impacto real en el tejido empresarial.</a:t>
            </a:r>
            <a:endParaRPr lang="en-US" sz="750" dirty="0"/>
          </a:p>
        </p:txBody>
      </p:sp>
      <p:sp>
        <p:nvSpPr>
          <p:cNvPr id="6" name="Text 3"/>
          <p:cNvSpPr/>
          <p:nvPr/>
        </p:nvSpPr>
        <p:spPr>
          <a:xfrm>
            <a:off x="3402449" y="2359223"/>
            <a:ext cx="2483287" cy="248007"/>
          </a:xfrm>
          <a:prstGeom prst="rect">
            <a:avLst/>
          </a:prstGeom>
          <a:noFill/>
          <a:ln/>
        </p:spPr>
        <p:txBody>
          <a:bodyPr wrap="none" lIns="0" tIns="0" rIns="0" bIns="0" rtlCol="0" anchor="t"/>
          <a:lstStyle/>
          <a:p>
            <a:pPr algn="l" indent="0" marL="0">
              <a:lnSpc>
                <a:spcPts val="1950"/>
              </a:lnSpc>
              <a:buNone/>
            </a:pPr>
            <a:r>
              <a:rPr lang="en-US" sz="1550" dirty="0">
                <a:solidFill>
                  <a:srgbClr val="091C53"/>
                </a:solidFill>
                <a:latin typeface="Instrument Sans Semi Bold" pitchFamily="34" charset="0"/>
                <a:ea typeface="Instrument Sans Semi Bold" pitchFamily="34" charset="-122"/>
                <a:cs typeface="Instrument Sans Semi Bold" pitchFamily="34" charset="-120"/>
              </a:rPr>
              <a:t>Transformación digital e IA</a:t>
            </a:r>
            <a:endParaRPr lang="en-US" sz="1550" dirty="0"/>
          </a:p>
        </p:txBody>
      </p:sp>
      <p:sp>
        <p:nvSpPr>
          <p:cNvPr id="7" name="Text 4"/>
          <p:cNvSpPr/>
          <p:nvPr/>
        </p:nvSpPr>
        <p:spPr>
          <a:xfrm>
            <a:off x="3402449" y="2681645"/>
            <a:ext cx="7825502" cy="237887"/>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La IA actúa como </a:t>
            </a:r>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acelerador de la transformación digital</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no solo digitaliza procesos existentes, sino que los reinventa. Las organizaciones que integran IA de forma estratégica desarrollan capacidades competitivas difíciles de replicar: velocidad, personalización y aprendizaje continuo a escala.</a:t>
            </a:r>
            <a:endParaRPr lang="en-US" sz="750" dirty="0"/>
          </a:p>
        </p:txBody>
      </p:sp>
      <p:sp>
        <p:nvSpPr>
          <p:cNvPr id="8" name="Text 5"/>
          <p:cNvSpPr/>
          <p:nvPr/>
        </p:nvSpPr>
        <p:spPr>
          <a:xfrm>
            <a:off x="3402449" y="2993946"/>
            <a:ext cx="3276362" cy="248007"/>
          </a:xfrm>
          <a:prstGeom prst="rect">
            <a:avLst/>
          </a:prstGeom>
          <a:noFill/>
          <a:ln/>
        </p:spPr>
        <p:txBody>
          <a:bodyPr wrap="none" lIns="0" tIns="0" rIns="0" bIns="0" rtlCol="0" anchor="t"/>
          <a:lstStyle/>
          <a:p>
            <a:pPr algn="l" indent="0" marL="0">
              <a:lnSpc>
                <a:spcPts val="1950"/>
              </a:lnSpc>
              <a:buNone/>
            </a:pPr>
            <a:r>
              <a:rPr lang="en-US" sz="1550" dirty="0">
                <a:solidFill>
                  <a:srgbClr val="091C53"/>
                </a:solidFill>
                <a:latin typeface="Instrument Sans Semi Bold" pitchFamily="34" charset="0"/>
                <a:ea typeface="Instrument Sans Semi Bold" pitchFamily="34" charset="-122"/>
                <a:cs typeface="Instrument Sans Semi Bold" pitchFamily="34" charset="-120"/>
              </a:rPr>
              <a:t>Impacto en procesos y operaciones</a:t>
            </a:r>
            <a:endParaRPr lang="en-US" sz="1550" dirty="0"/>
          </a:p>
        </p:txBody>
      </p:sp>
      <p:sp>
        <p:nvSpPr>
          <p:cNvPr id="9" name="Shape 6"/>
          <p:cNvSpPr/>
          <p:nvPr/>
        </p:nvSpPr>
        <p:spPr>
          <a:xfrm>
            <a:off x="3402449" y="3316367"/>
            <a:ext cx="7825502" cy="1733074"/>
          </a:xfrm>
          <a:prstGeom prst="roundRect">
            <a:avLst>
              <a:gd name="adj" fmla="val 5153"/>
            </a:avLst>
          </a:prstGeom>
          <a:solidFill>
            <a:srgbClr val="CEE6FD"/>
          </a:solidFill>
          <a:ln/>
        </p:spPr>
      </p:sp>
      <p:sp>
        <p:nvSpPr>
          <p:cNvPr id="10" name="Shape 7"/>
          <p:cNvSpPr/>
          <p:nvPr/>
        </p:nvSpPr>
        <p:spPr>
          <a:xfrm>
            <a:off x="3402449" y="3316367"/>
            <a:ext cx="3912751" cy="866537"/>
          </a:xfrm>
          <a:prstGeom prst="roundRect">
            <a:avLst>
              <a:gd name="adj" fmla="val 10307"/>
            </a:avLst>
          </a:prstGeom>
          <a:solidFill>
            <a:srgbClr val="CEE6FD"/>
          </a:solidFill>
          <a:ln/>
        </p:spPr>
      </p:sp>
      <p:sp>
        <p:nvSpPr>
          <p:cNvPr id="11" name="Text 8"/>
          <p:cNvSpPr/>
          <p:nvPr/>
        </p:nvSpPr>
        <p:spPr>
          <a:xfrm>
            <a:off x="3501628" y="3415546"/>
            <a:ext cx="1754505" cy="162639"/>
          </a:xfrm>
          <a:prstGeom prst="rect">
            <a:avLst/>
          </a:prstGeom>
          <a:noFill/>
          <a:ln/>
        </p:spPr>
        <p:txBody>
          <a:bodyPr wrap="none" lIns="0" tIns="0" rIns="0" bIns="0" rtlCol="0" anchor="t"/>
          <a:lstStyle/>
          <a:p>
            <a:pPr algn="l" indent="0" marL="0">
              <a:lnSpc>
                <a:spcPts val="1200"/>
              </a:lnSpc>
              <a:buNone/>
            </a:pPr>
            <a:r>
              <a:rPr lang="en-US" sz="950" dirty="0">
                <a:solidFill>
                  <a:srgbClr val="000000"/>
                </a:solidFill>
                <a:latin typeface="Instrument Sans Semi Bold" pitchFamily="34" charset="0"/>
                <a:ea typeface="Instrument Sans Semi Bold" pitchFamily="34" charset="-122"/>
                <a:cs typeface="Instrument Sans Semi Bold" pitchFamily="34" charset="-120"/>
              </a:rPr>
              <a:t>⚙️</a:t>
            </a:r>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 Automatización inteligente</a:t>
            </a:r>
            <a:endParaRPr lang="en-US" sz="950" dirty="0"/>
          </a:p>
        </p:txBody>
      </p:sp>
      <p:sp>
        <p:nvSpPr>
          <p:cNvPr id="12" name="Text 9"/>
          <p:cNvSpPr/>
          <p:nvPr/>
        </p:nvSpPr>
        <p:spPr>
          <a:xfrm>
            <a:off x="3501628" y="3607951"/>
            <a:ext cx="3714393" cy="475774"/>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Más allá de la automatización repetitiva (RPA), la IA permite </a:t>
            </a:r>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automatizar tareas cognitivas</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clasificación de documentos, atención al cliente, detección de anomalías y generación de informes. Reduce costes operativos y libera talento para tareas de mayor valor.</a:t>
            </a:r>
            <a:endParaRPr lang="en-US" sz="750" dirty="0"/>
          </a:p>
        </p:txBody>
      </p:sp>
      <p:sp>
        <p:nvSpPr>
          <p:cNvPr id="13" name="Shape 10"/>
          <p:cNvSpPr/>
          <p:nvPr/>
        </p:nvSpPr>
        <p:spPr>
          <a:xfrm>
            <a:off x="7315200" y="3316367"/>
            <a:ext cx="3912751" cy="866537"/>
          </a:xfrm>
          <a:prstGeom prst="rect">
            <a:avLst/>
          </a:prstGeom>
          <a:solidFill>
            <a:srgbClr val="CEE6FD"/>
          </a:solidFill>
          <a:ln/>
        </p:spPr>
      </p:sp>
      <p:sp>
        <p:nvSpPr>
          <p:cNvPr id="14" name="Shape 11"/>
          <p:cNvSpPr/>
          <p:nvPr/>
        </p:nvSpPr>
        <p:spPr>
          <a:xfrm>
            <a:off x="7315200" y="3316367"/>
            <a:ext cx="15240" cy="866537"/>
          </a:xfrm>
          <a:prstGeom prst="roundRect">
            <a:avLst>
              <a:gd name="adj" fmla="val 586046"/>
            </a:avLst>
          </a:prstGeom>
          <a:solidFill>
            <a:srgbClr val="B4CCE3"/>
          </a:solidFill>
          <a:ln/>
        </p:spPr>
      </p:sp>
      <p:sp>
        <p:nvSpPr>
          <p:cNvPr id="15" name="Text 12"/>
          <p:cNvSpPr/>
          <p:nvPr/>
        </p:nvSpPr>
        <p:spPr>
          <a:xfrm>
            <a:off x="7414379" y="3415546"/>
            <a:ext cx="1400532" cy="162639"/>
          </a:xfrm>
          <a:prstGeom prst="rect">
            <a:avLst/>
          </a:prstGeom>
          <a:noFill/>
          <a:ln/>
        </p:spPr>
        <p:txBody>
          <a:bodyPr wrap="none" lIns="0" tIns="0" rIns="0" bIns="0" rtlCol="0" anchor="t"/>
          <a:lstStyle/>
          <a:p>
            <a:pPr algn="l" indent="0" marL="0">
              <a:lnSpc>
                <a:spcPts val="1200"/>
              </a:lnSpc>
              <a:buNone/>
            </a:pPr>
            <a:r>
              <a:rPr lang="en-US" sz="950" dirty="0">
                <a:solidFill>
                  <a:srgbClr val="000000"/>
                </a:solidFill>
                <a:latin typeface="Instrument Sans Semi Bold" pitchFamily="34" charset="0"/>
                <a:ea typeface="Instrument Sans Semi Bold" pitchFamily="34" charset="-122"/>
                <a:cs typeface="Instrument Sans Semi Bold" pitchFamily="34" charset="-120"/>
              </a:rPr>
              <a:t>📊</a:t>
            </a:r>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 Mejora de decisiones</a:t>
            </a:r>
            <a:endParaRPr lang="en-US" sz="950" dirty="0"/>
          </a:p>
        </p:txBody>
      </p:sp>
      <p:sp>
        <p:nvSpPr>
          <p:cNvPr id="16" name="Text 13"/>
          <p:cNvSpPr/>
          <p:nvPr/>
        </p:nvSpPr>
        <p:spPr>
          <a:xfrm>
            <a:off x="7414379" y="3607951"/>
            <a:ext cx="3714393" cy="475774"/>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La analítica predictiva y los modelos de recomendación permiten </a:t>
            </a:r>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decisiones más rápidas, objetivas y basadas en datos</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El enfoque "human-in-the-loop" garantiza supervisión humana en decisiones críticas, combinando precisión algorítmica con criterio directivo.</a:t>
            </a:r>
            <a:endParaRPr lang="en-US" sz="750" dirty="0"/>
          </a:p>
        </p:txBody>
      </p:sp>
      <p:sp>
        <p:nvSpPr>
          <p:cNvPr id="17" name="Shape 14"/>
          <p:cNvSpPr/>
          <p:nvPr/>
        </p:nvSpPr>
        <p:spPr>
          <a:xfrm>
            <a:off x="3402449" y="4182904"/>
            <a:ext cx="3912751" cy="866537"/>
          </a:xfrm>
          <a:prstGeom prst="rect">
            <a:avLst/>
          </a:prstGeom>
          <a:solidFill>
            <a:srgbClr val="CEE6FD"/>
          </a:solidFill>
          <a:ln/>
        </p:spPr>
      </p:sp>
      <p:sp>
        <p:nvSpPr>
          <p:cNvPr id="18" name="Shape 15"/>
          <p:cNvSpPr/>
          <p:nvPr/>
        </p:nvSpPr>
        <p:spPr>
          <a:xfrm>
            <a:off x="3402449" y="4182904"/>
            <a:ext cx="3912751" cy="15240"/>
          </a:xfrm>
          <a:prstGeom prst="roundRect">
            <a:avLst>
              <a:gd name="adj" fmla="val 586046"/>
            </a:avLst>
          </a:prstGeom>
          <a:solidFill>
            <a:srgbClr val="B4CCE3"/>
          </a:solidFill>
          <a:ln/>
        </p:spPr>
      </p:sp>
      <p:sp>
        <p:nvSpPr>
          <p:cNvPr id="19" name="Text 16"/>
          <p:cNvSpPr/>
          <p:nvPr/>
        </p:nvSpPr>
        <p:spPr>
          <a:xfrm>
            <a:off x="3501628" y="4282083"/>
            <a:ext cx="1588056" cy="162639"/>
          </a:xfrm>
          <a:prstGeom prst="rect">
            <a:avLst/>
          </a:prstGeom>
          <a:noFill/>
          <a:ln/>
        </p:spPr>
        <p:txBody>
          <a:bodyPr wrap="none" lIns="0" tIns="0" rIns="0" bIns="0" rtlCol="0" anchor="t"/>
          <a:lstStyle/>
          <a:p>
            <a:pPr algn="l" indent="0" marL="0">
              <a:lnSpc>
                <a:spcPts val="1200"/>
              </a:lnSpc>
              <a:buNone/>
            </a:pPr>
            <a:r>
              <a:rPr lang="en-US" sz="950" dirty="0">
                <a:solidFill>
                  <a:srgbClr val="000000"/>
                </a:solidFill>
                <a:latin typeface="Instrument Sans Semi Bold" pitchFamily="34" charset="0"/>
                <a:ea typeface="Instrument Sans Semi Bold" pitchFamily="34" charset="-122"/>
                <a:cs typeface="Instrument Sans Semi Bold" pitchFamily="34" charset="-120"/>
              </a:rPr>
              <a:t>🎯</a:t>
            </a:r>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 Personalización a escala</a:t>
            </a:r>
            <a:endParaRPr lang="en-US" sz="950" dirty="0"/>
          </a:p>
        </p:txBody>
      </p:sp>
      <p:sp>
        <p:nvSpPr>
          <p:cNvPr id="20" name="Text 17"/>
          <p:cNvSpPr/>
          <p:nvPr/>
        </p:nvSpPr>
        <p:spPr>
          <a:xfrm>
            <a:off x="3501628" y="4474488"/>
            <a:ext cx="3714393" cy="475774"/>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La IA permite adaptar </a:t>
            </a:r>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contenidos, ofertas, canales y momentos de contacto</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a cada cliente de forma individualizada y en tiempo real. Aumenta la conversión, la satisfacción y la fidelización sin incrementar proporcionalmente los recursos necesarios.</a:t>
            </a:r>
            <a:endParaRPr lang="en-US" sz="750" dirty="0"/>
          </a:p>
        </p:txBody>
      </p:sp>
      <p:sp>
        <p:nvSpPr>
          <p:cNvPr id="21" name="Shape 18"/>
          <p:cNvSpPr/>
          <p:nvPr/>
        </p:nvSpPr>
        <p:spPr>
          <a:xfrm>
            <a:off x="7315200" y="4182904"/>
            <a:ext cx="3912751" cy="866537"/>
          </a:xfrm>
          <a:prstGeom prst="rect">
            <a:avLst/>
          </a:prstGeom>
          <a:solidFill>
            <a:srgbClr val="CEE6FD"/>
          </a:solidFill>
          <a:ln/>
        </p:spPr>
      </p:sp>
      <p:sp>
        <p:nvSpPr>
          <p:cNvPr id="22" name="Shape 19"/>
          <p:cNvSpPr/>
          <p:nvPr/>
        </p:nvSpPr>
        <p:spPr>
          <a:xfrm>
            <a:off x="7315200" y="4182904"/>
            <a:ext cx="15240" cy="866537"/>
          </a:xfrm>
          <a:prstGeom prst="roundRect">
            <a:avLst>
              <a:gd name="adj" fmla="val 586046"/>
            </a:avLst>
          </a:prstGeom>
          <a:solidFill>
            <a:srgbClr val="B4CCE3"/>
          </a:solidFill>
          <a:ln/>
        </p:spPr>
      </p:sp>
      <p:sp>
        <p:nvSpPr>
          <p:cNvPr id="23" name="Shape 20"/>
          <p:cNvSpPr/>
          <p:nvPr/>
        </p:nvSpPr>
        <p:spPr>
          <a:xfrm>
            <a:off x="7315200" y="4182904"/>
            <a:ext cx="3912751" cy="15240"/>
          </a:xfrm>
          <a:prstGeom prst="roundRect">
            <a:avLst>
              <a:gd name="adj" fmla="val 586046"/>
            </a:avLst>
          </a:prstGeom>
          <a:solidFill>
            <a:srgbClr val="B4CCE3"/>
          </a:solidFill>
          <a:ln/>
        </p:spPr>
      </p:sp>
      <p:sp>
        <p:nvSpPr>
          <p:cNvPr id="24" name="Text 21"/>
          <p:cNvSpPr/>
          <p:nvPr/>
        </p:nvSpPr>
        <p:spPr>
          <a:xfrm>
            <a:off x="7414379" y="4282083"/>
            <a:ext cx="2156817" cy="162639"/>
          </a:xfrm>
          <a:prstGeom prst="rect">
            <a:avLst/>
          </a:prstGeom>
          <a:noFill/>
          <a:ln/>
        </p:spPr>
        <p:txBody>
          <a:bodyPr wrap="none" lIns="0" tIns="0" rIns="0" bIns="0" rtlCol="0" anchor="t"/>
          <a:lstStyle/>
          <a:p>
            <a:pPr algn="l" indent="0" marL="0">
              <a:lnSpc>
                <a:spcPts val="1200"/>
              </a:lnSpc>
              <a:buNone/>
            </a:pPr>
            <a:r>
              <a:rPr lang="en-US" sz="950" dirty="0">
                <a:solidFill>
                  <a:srgbClr val="000000"/>
                </a:solidFill>
                <a:latin typeface="Instrument Sans Semi Bold" pitchFamily="34" charset="0"/>
                <a:ea typeface="Instrument Sans Semi Bold" pitchFamily="34" charset="-122"/>
                <a:cs typeface="Instrument Sans Semi Bold" pitchFamily="34" charset="-120"/>
              </a:rPr>
              <a:t>🚀</a:t>
            </a:r>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 Nuevas oportunidades de negocio</a:t>
            </a:r>
            <a:endParaRPr lang="en-US" sz="950" dirty="0"/>
          </a:p>
        </p:txBody>
      </p:sp>
      <p:sp>
        <p:nvSpPr>
          <p:cNvPr id="25" name="Text 22"/>
          <p:cNvSpPr/>
          <p:nvPr/>
        </p:nvSpPr>
        <p:spPr>
          <a:xfrm>
            <a:off x="7414379" y="4474488"/>
            <a:ext cx="3714393" cy="475774"/>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Surgen modelos como </a:t>
            </a:r>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"AI-as-a-feature"</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(IA integrada en productos existentes), </a:t>
            </a:r>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"AI-as-a-service"</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(capacidades de IA ofrecidas como servicio) y nuevas líneas de soporte, análisis y automatización premium que antes no eran viables económicamente.</a:t>
            </a:r>
            <a:endParaRPr lang="en-US" sz="750" dirty="0"/>
          </a:p>
        </p:txBody>
      </p:sp>
      <p:sp>
        <p:nvSpPr>
          <p:cNvPr id="26" name="Text 23"/>
          <p:cNvSpPr/>
          <p:nvPr/>
        </p:nvSpPr>
        <p:spPr>
          <a:xfrm>
            <a:off x="3402449" y="5123855"/>
            <a:ext cx="3239691" cy="248007"/>
          </a:xfrm>
          <a:prstGeom prst="rect">
            <a:avLst/>
          </a:prstGeom>
          <a:noFill/>
          <a:ln/>
        </p:spPr>
        <p:txBody>
          <a:bodyPr wrap="none" lIns="0" tIns="0" rIns="0" bIns="0" rtlCol="0" anchor="t"/>
          <a:lstStyle/>
          <a:p>
            <a:pPr algn="l" indent="0" marL="0">
              <a:lnSpc>
                <a:spcPts val="1950"/>
              </a:lnSpc>
              <a:buNone/>
            </a:pPr>
            <a:r>
              <a:rPr lang="en-US" sz="1550" dirty="0">
                <a:solidFill>
                  <a:srgbClr val="091C53"/>
                </a:solidFill>
                <a:latin typeface="Instrument Sans Semi Bold" pitchFamily="34" charset="0"/>
                <a:ea typeface="Instrument Sans Semi Bold" pitchFamily="34" charset="-122"/>
                <a:cs typeface="Instrument Sans Semi Bold" pitchFamily="34" charset="-120"/>
              </a:rPr>
              <a:t>Cambios en los modelos de trabajo</a:t>
            </a:r>
            <a:endParaRPr lang="en-US" sz="1550" dirty="0"/>
          </a:p>
        </p:txBody>
      </p:sp>
      <p:sp>
        <p:nvSpPr>
          <p:cNvPr id="27" name="Shape 24"/>
          <p:cNvSpPr/>
          <p:nvPr/>
        </p:nvSpPr>
        <p:spPr>
          <a:xfrm>
            <a:off x="3402449" y="5446276"/>
            <a:ext cx="3887986" cy="897017"/>
          </a:xfrm>
          <a:prstGeom prst="roundRect">
            <a:avLst>
              <a:gd name="adj" fmla="val 9957"/>
            </a:avLst>
          </a:prstGeom>
          <a:solidFill>
            <a:srgbClr val="FFFFFF"/>
          </a:solidFill>
          <a:ln w="15240">
            <a:solidFill>
              <a:srgbClr val="B4CCE3"/>
            </a:solidFill>
            <a:prstDash val="solid"/>
          </a:ln>
        </p:spPr>
      </p:sp>
      <p:sp>
        <p:nvSpPr>
          <p:cNvPr id="28" name="Text 25"/>
          <p:cNvSpPr/>
          <p:nvPr/>
        </p:nvSpPr>
        <p:spPr>
          <a:xfrm>
            <a:off x="3516868" y="5560695"/>
            <a:ext cx="1650206" cy="162639"/>
          </a:xfrm>
          <a:prstGeom prst="rect">
            <a:avLst/>
          </a:prstGeom>
          <a:noFill/>
          <a:ln/>
        </p:spPr>
        <p:txBody>
          <a:bodyPr wrap="none" lIns="0" tIns="0" rIns="0" bIns="0" rtlCol="0" anchor="t"/>
          <a:lstStyle/>
          <a:p>
            <a:pPr algn="l" indent="0" marL="0">
              <a:lnSpc>
                <a:spcPts val="1200"/>
              </a:lnSpc>
              <a:buNone/>
            </a:pPr>
            <a:r>
              <a:rPr lang="en-US" sz="950" dirty="0">
                <a:solidFill>
                  <a:srgbClr val="000000"/>
                </a:solidFill>
                <a:latin typeface="Instrument Sans Semi Bold" pitchFamily="34" charset="0"/>
                <a:ea typeface="Instrument Sans Semi Bold" pitchFamily="34" charset="-122"/>
                <a:cs typeface="Instrument Sans Semi Bold" pitchFamily="34" charset="-120"/>
              </a:rPr>
              <a:t>🤝</a:t>
            </a:r>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 Colaboración humano-IA</a:t>
            </a:r>
            <a:endParaRPr lang="en-US" sz="950" dirty="0"/>
          </a:p>
        </p:txBody>
      </p:sp>
      <p:sp>
        <p:nvSpPr>
          <p:cNvPr id="29" name="Text 26"/>
          <p:cNvSpPr/>
          <p:nvPr/>
        </p:nvSpPr>
        <p:spPr>
          <a:xfrm>
            <a:off x="3516868" y="5753100"/>
            <a:ext cx="3659148" cy="475774"/>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La IA no sustituye al profesional: </a:t>
            </a:r>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amplifica sus capacidades</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El modelo de "augmented intelligence" convierte al trabajador en un orquestador de herramientas inteligentes, elevando su productividad y el alcance de su impacto.</a:t>
            </a:r>
            <a:endParaRPr lang="en-US" sz="750" dirty="0"/>
          </a:p>
        </p:txBody>
      </p:sp>
      <p:sp>
        <p:nvSpPr>
          <p:cNvPr id="30" name="Shape 27"/>
          <p:cNvSpPr/>
          <p:nvPr/>
        </p:nvSpPr>
        <p:spPr>
          <a:xfrm>
            <a:off x="7339965" y="5446276"/>
            <a:ext cx="3887986" cy="897017"/>
          </a:xfrm>
          <a:prstGeom prst="roundRect">
            <a:avLst>
              <a:gd name="adj" fmla="val 9957"/>
            </a:avLst>
          </a:prstGeom>
          <a:solidFill>
            <a:srgbClr val="FFFFFF"/>
          </a:solidFill>
          <a:ln w="15240">
            <a:solidFill>
              <a:srgbClr val="B4CCE3"/>
            </a:solidFill>
            <a:prstDash val="solid"/>
          </a:ln>
        </p:spPr>
      </p:sp>
      <p:sp>
        <p:nvSpPr>
          <p:cNvPr id="31" name="Text 28"/>
          <p:cNvSpPr/>
          <p:nvPr/>
        </p:nvSpPr>
        <p:spPr>
          <a:xfrm>
            <a:off x="7454384" y="5560695"/>
            <a:ext cx="1864638" cy="162639"/>
          </a:xfrm>
          <a:prstGeom prst="rect">
            <a:avLst/>
          </a:prstGeom>
          <a:noFill/>
          <a:ln/>
        </p:spPr>
        <p:txBody>
          <a:bodyPr wrap="none" lIns="0" tIns="0" rIns="0" bIns="0" rtlCol="0" anchor="t"/>
          <a:lstStyle/>
          <a:p>
            <a:pPr algn="l" indent="0" marL="0">
              <a:lnSpc>
                <a:spcPts val="1200"/>
              </a:lnSpc>
              <a:buNone/>
            </a:pPr>
            <a:r>
              <a:rPr lang="en-US" sz="950" dirty="0">
                <a:solidFill>
                  <a:srgbClr val="000000"/>
                </a:solidFill>
                <a:latin typeface="Instrument Sans Semi Bold" pitchFamily="34" charset="0"/>
                <a:ea typeface="Instrument Sans Semi Bold" pitchFamily="34" charset="-122"/>
                <a:cs typeface="Instrument Sans Semi Bold" pitchFamily="34" charset="-120"/>
              </a:rPr>
              <a:t>🔄</a:t>
            </a:r>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 Nuevos roles y competencias</a:t>
            </a:r>
            <a:endParaRPr lang="en-US" sz="950" dirty="0"/>
          </a:p>
        </p:txBody>
      </p:sp>
      <p:sp>
        <p:nvSpPr>
          <p:cNvPr id="32" name="Text 29"/>
          <p:cNvSpPr/>
          <p:nvPr/>
        </p:nvSpPr>
        <p:spPr>
          <a:xfrm>
            <a:off x="7454384" y="5753100"/>
            <a:ext cx="3659148" cy="356830"/>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Emergen perfiles como el </a:t>
            </a:r>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prompt engineer, el AI product manager o el responsable de ética de IA</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Las organizaciones deben invertir en reskilling y upskilling para que sus equipos trabajen con eficacia junto a sistemas de IA.</a:t>
            </a:r>
            <a:endParaRPr lang="en-US" sz="750" dirty="0"/>
          </a:p>
        </p:txBody>
      </p:sp>
      <p:sp>
        <p:nvSpPr>
          <p:cNvPr id="33" name="Shape 30"/>
          <p:cNvSpPr/>
          <p:nvPr/>
        </p:nvSpPr>
        <p:spPr>
          <a:xfrm>
            <a:off x="3402449" y="6392823"/>
            <a:ext cx="7825502" cy="659130"/>
          </a:xfrm>
          <a:prstGeom prst="roundRect">
            <a:avLst>
              <a:gd name="adj" fmla="val 13550"/>
            </a:avLst>
          </a:prstGeom>
          <a:solidFill>
            <a:srgbClr val="FFFFFF"/>
          </a:solidFill>
          <a:ln w="15240">
            <a:solidFill>
              <a:srgbClr val="B4CCE3"/>
            </a:solidFill>
            <a:prstDash val="solid"/>
          </a:ln>
        </p:spPr>
      </p:sp>
      <p:sp>
        <p:nvSpPr>
          <p:cNvPr id="34" name="Text 31"/>
          <p:cNvSpPr/>
          <p:nvPr/>
        </p:nvSpPr>
        <p:spPr>
          <a:xfrm>
            <a:off x="3516868" y="6507242"/>
            <a:ext cx="1596866" cy="162639"/>
          </a:xfrm>
          <a:prstGeom prst="rect">
            <a:avLst/>
          </a:prstGeom>
          <a:noFill/>
          <a:ln/>
        </p:spPr>
        <p:txBody>
          <a:bodyPr wrap="none" lIns="0" tIns="0" rIns="0" bIns="0" rtlCol="0" anchor="t"/>
          <a:lstStyle/>
          <a:p>
            <a:pPr algn="l" indent="0" marL="0">
              <a:lnSpc>
                <a:spcPts val="1200"/>
              </a:lnSpc>
              <a:buNone/>
            </a:pPr>
            <a:r>
              <a:rPr lang="en-US" sz="950" dirty="0">
                <a:solidFill>
                  <a:srgbClr val="000000"/>
                </a:solidFill>
                <a:latin typeface="Instrument Sans Semi Bold" pitchFamily="34" charset="0"/>
                <a:ea typeface="Instrument Sans Semi Bold" pitchFamily="34" charset="-122"/>
                <a:cs typeface="Instrument Sans Semi Bold" pitchFamily="34" charset="-120"/>
              </a:rPr>
              <a:t>📐</a:t>
            </a:r>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 Rediseño organizacional</a:t>
            </a:r>
            <a:endParaRPr lang="en-US" sz="950" dirty="0"/>
          </a:p>
        </p:txBody>
      </p:sp>
      <p:sp>
        <p:nvSpPr>
          <p:cNvPr id="35" name="Text 32"/>
          <p:cNvSpPr/>
          <p:nvPr/>
        </p:nvSpPr>
        <p:spPr>
          <a:xfrm>
            <a:off x="3516868" y="6699647"/>
            <a:ext cx="7596664" cy="237887"/>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La automatización de procesos intermedios </a:t>
            </a:r>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aplana jerarquías y acelera ciclos de decisión</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Las estructuras más ágiles y orientadas a datos aprovechan mejor las capacidades de la IA y se adaptan más rápido a los cambios del mercado.</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402449" y="310634"/>
            <a:ext cx="79296" cy="79296"/>
          </a:xfrm>
          <a:prstGeom prst="rect">
            <a:avLst/>
          </a:prstGeom>
        </p:spPr>
      </p:pic>
      <p:sp>
        <p:nvSpPr>
          <p:cNvPr id="3" name="Text 0"/>
          <p:cNvSpPr/>
          <p:nvPr/>
        </p:nvSpPr>
        <p:spPr>
          <a:xfrm>
            <a:off x="3521393" y="302657"/>
            <a:ext cx="934283" cy="95250"/>
          </a:xfrm>
          <a:prstGeom prst="rect">
            <a:avLst/>
          </a:prstGeom>
          <a:noFill/>
          <a:ln/>
        </p:spPr>
        <p:txBody>
          <a:bodyPr wrap="none" lIns="0" tIns="0" rIns="0" bIns="0" rtlCol="0" anchor="t"/>
          <a:lstStyle/>
          <a:p>
            <a:pPr algn="l" indent="0" marL="0">
              <a:lnSpc>
                <a:spcPts val="750"/>
              </a:lnSpc>
              <a:buNone/>
            </a:pPr>
            <a:r>
              <a:rPr lang="en-US" sz="600" dirty="0">
                <a:solidFill>
                  <a:srgbClr val="84C1FA"/>
                </a:solidFill>
                <a:latin typeface="Instrument Sans Medium" pitchFamily="34" charset="0"/>
                <a:ea typeface="Instrument Sans Medium" pitchFamily="34" charset="-122"/>
                <a:cs typeface="Instrument Sans Medium" pitchFamily="34" charset="-120"/>
              </a:rPr>
              <a:t>APARTADO 1.3 · DETALLE</a:t>
            </a:r>
            <a:endParaRPr lang="en-US" sz="600" dirty="0"/>
          </a:p>
        </p:txBody>
      </p:sp>
      <p:sp>
        <p:nvSpPr>
          <p:cNvPr id="4" name="Text 1"/>
          <p:cNvSpPr/>
          <p:nvPr/>
        </p:nvSpPr>
        <p:spPr>
          <a:xfrm>
            <a:off x="3402449" y="447437"/>
            <a:ext cx="5932170" cy="310158"/>
          </a:xfrm>
          <a:prstGeom prst="rect">
            <a:avLst/>
          </a:prstGeom>
          <a:noFill/>
          <a:ln/>
        </p:spPr>
        <p:txBody>
          <a:bodyPr wrap="none" lIns="0" tIns="0" rIns="0" bIns="0" rtlCol="0" anchor="t"/>
          <a:lstStyle/>
          <a:p>
            <a:pPr algn="l" indent="0" marL="0">
              <a:lnSpc>
                <a:spcPts val="2400"/>
              </a:lnSpc>
              <a:buNone/>
            </a:pPr>
            <a:r>
              <a:rPr lang="en-US" sz="1950" dirty="0">
                <a:solidFill>
                  <a:srgbClr val="091C53"/>
                </a:solidFill>
                <a:latin typeface="Instrument Sans Semi Bold" pitchFamily="34" charset="0"/>
                <a:ea typeface="Instrument Sans Semi Bold" pitchFamily="34" charset="-122"/>
                <a:cs typeface="Instrument Sans Semi Bold" pitchFamily="34" charset="-120"/>
              </a:rPr>
              <a:t>IA en la Empresa: Casos de Impacto Real por Sector</a:t>
            </a:r>
            <a:endParaRPr lang="en-US" sz="1950" dirty="0"/>
          </a:p>
        </p:txBody>
      </p:sp>
      <p:sp>
        <p:nvSpPr>
          <p:cNvPr id="5" name="Text 2"/>
          <p:cNvSpPr/>
          <p:nvPr/>
        </p:nvSpPr>
        <p:spPr>
          <a:xfrm>
            <a:off x="3402449" y="832009"/>
            <a:ext cx="7825502" cy="237887"/>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Los mayores avances no vienen de adoptar IA por moda, sino de identificar </a:t>
            </a:r>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casos de uso concretos con ROI demostrable</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A continuación se presentan casos reales organizados por sector, con métricas de éxito, beneficios medibles, desafíos de implementación y lecciones aprendidas.</a:t>
            </a:r>
            <a:endParaRPr lang="en-US" sz="750" dirty="0"/>
          </a:p>
        </p:txBody>
      </p:sp>
      <p:sp>
        <p:nvSpPr>
          <p:cNvPr id="6" name="Text 3"/>
          <p:cNvSpPr/>
          <p:nvPr/>
        </p:nvSpPr>
        <p:spPr>
          <a:xfrm>
            <a:off x="3402449" y="1144310"/>
            <a:ext cx="2217658" cy="248007"/>
          </a:xfrm>
          <a:prstGeom prst="rect">
            <a:avLst/>
          </a:prstGeom>
          <a:noFill/>
          <a:ln/>
        </p:spPr>
        <p:txBody>
          <a:bodyPr wrap="none" lIns="0" tIns="0" rIns="0" bIns="0" rtlCol="0" anchor="t"/>
          <a:lstStyle/>
          <a:p>
            <a:pPr algn="l" indent="0" marL="0">
              <a:lnSpc>
                <a:spcPts val="1950"/>
              </a:lnSpc>
              <a:buNone/>
            </a:pPr>
            <a:r>
              <a:rPr lang="en-US" sz="1550" dirty="0">
                <a:solidFill>
                  <a:srgbClr val="091C53"/>
                </a:solidFill>
                <a:latin typeface="Instrument Sans Semi Bold" pitchFamily="34" charset="0"/>
                <a:ea typeface="Instrument Sans Semi Bold" pitchFamily="34" charset="-122"/>
                <a:cs typeface="Instrument Sans Semi Bold" pitchFamily="34" charset="-120"/>
              </a:rPr>
              <a:t>Casos de uso por sector</a:t>
            </a:r>
            <a:endParaRPr lang="en-US" sz="1550" dirty="0"/>
          </a:p>
        </p:txBody>
      </p:sp>
      <p:sp>
        <p:nvSpPr>
          <p:cNvPr id="7" name="Shape 4"/>
          <p:cNvSpPr/>
          <p:nvPr/>
        </p:nvSpPr>
        <p:spPr>
          <a:xfrm>
            <a:off x="3402449" y="1466731"/>
            <a:ext cx="3887986" cy="1947386"/>
          </a:xfrm>
          <a:prstGeom prst="roundRect">
            <a:avLst>
              <a:gd name="adj" fmla="val 3756"/>
            </a:avLst>
          </a:prstGeom>
          <a:solidFill>
            <a:srgbClr val="FFFFFF"/>
          </a:solidFill>
          <a:ln w="15240">
            <a:solidFill>
              <a:srgbClr val="B4CCE3"/>
            </a:solidFill>
            <a:prstDash val="solid"/>
          </a:ln>
        </p:spPr>
      </p:sp>
      <p:sp>
        <p:nvSpPr>
          <p:cNvPr id="8" name="Shape 5"/>
          <p:cNvSpPr/>
          <p:nvPr/>
        </p:nvSpPr>
        <p:spPr>
          <a:xfrm>
            <a:off x="3387209" y="1466731"/>
            <a:ext cx="60960" cy="1947386"/>
          </a:xfrm>
          <a:prstGeom prst="roundRect">
            <a:avLst>
              <a:gd name="adj" fmla="val 146512"/>
            </a:avLst>
          </a:prstGeom>
          <a:solidFill>
            <a:srgbClr val="84C1FA"/>
          </a:solidFill>
          <a:ln/>
        </p:spPr>
      </p:sp>
      <p:sp>
        <p:nvSpPr>
          <p:cNvPr id="9" name="Text 6"/>
          <p:cNvSpPr/>
          <p:nvPr/>
        </p:nvSpPr>
        <p:spPr>
          <a:xfrm>
            <a:off x="3562588" y="1581150"/>
            <a:ext cx="1410891" cy="162639"/>
          </a:xfrm>
          <a:prstGeom prst="rect">
            <a:avLst/>
          </a:prstGeom>
          <a:noFill/>
          <a:ln/>
        </p:spPr>
        <p:txBody>
          <a:bodyPr wrap="none" lIns="0" tIns="0" rIns="0" bIns="0" rtlCol="0" anchor="t"/>
          <a:lstStyle/>
          <a:p>
            <a:pPr algn="l" indent="0" marL="0">
              <a:lnSpc>
                <a:spcPts val="1200"/>
              </a:lnSpc>
              <a:buNone/>
            </a:pPr>
            <a:r>
              <a:rPr lang="en-US" sz="950" dirty="0">
                <a:solidFill>
                  <a:srgbClr val="000000"/>
                </a:solidFill>
                <a:latin typeface="Instrument Sans Semi Bold" pitchFamily="34" charset="0"/>
                <a:ea typeface="Instrument Sans Semi Bold" pitchFamily="34" charset="-122"/>
                <a:cs typeface="Instrument Sans Semi Bold" pitchFamily="34" charset="-120"/>
              </a:rPr>
              <a:t>🛒</a:t>
            </a:r>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 Retail &amp; E-commerce</a:t>
            </a:r>
            <a:endParaRPr lang="en-US" sz="950" dirty="0"/>
          </a:p>
        </p:txBody>
      </p:sp>
      <p:sp>
        <p:nvSpPr>
          <p:cNvPr id="10" name="Text 7"/>
          <p:cNvSpPr/>
          <p:nvPr/>
        </p:nvSpPr>
        <p:spPr>
          <a:xfrm>
            <a:off x="3562588" y="1773555"/>
            <a:ext cx="3613428" cy="118943"/>
          </a:xfrm>
          <a:prstGeom prst="rect">
            <a:avLst/>
          </a:prstGeom>
          <a:noFill/>
          <a:ln/>
        </p:spPr>
        <p:txBody>
          <a:bodyPr wrap="none" lIns="0" tIns="0" rIns="0" bIns="0" rtlCol="0" anchor="t"/>
          <a:lstStyle/>
          <a:p>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Caso:</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Motor de recomendación personalizado (Amazon, Zara Online)</a:t>
            </a:r>
            <a:endParaRPr lang="en-US" sz="750" dirty="0"/>
          </a:p>
        </p:txBody>
      </p:sp>
      <p:sp>
        <p:nvSpPr>
          <p:cNvPr id="11" name="Text 8"/>
          <p:cNvSpPr/>
          <p:nvPr/>
        </p:nvSpPr>
        <p:spPr>
          <a:xfrm>
            <a:off x="3562588" y="1922264"/>
            <a:ext cx="3613428" cy="1020604"/>
          </a:xfrm>
          <a:prstGeom prst="rect">
            <a:avLst/>
          </a:prstGeom>
          <a:noFill/>
          <a:ln/>
        </p:spPr>
        <p:txBody>
          <a:bodyPr wrap="square" lIns="0" tIns="0" rIns="0" bIns="0" rtlCol="0" anchor="t"/>
          <a:lstStyle/>
          <a:p>
            <a:pPr algn="l" marL="342900" indent="-342900">
              <a:lnSpc>
                <a:spcPts val="900"/>
              </a:lnSpc>
              <a:buSzPct val="100000"/>
              <a:buChar char="•"/>
            </a:pPr>
            <a:r>
              <a:rPr lang="en-US" sz="750" b="1" dirty="0">
                <a:solidFill>
                  <a:srgbClr val="1E3063"/>
                </a:solidFill>
                <a:latin typeface="Instrument Sans Medium" pitchFamily="34" charset="0"/>
                <a:ea typeface="Instrument Sans Medium" pitchFamily="34" charset="-122"/>
                <a:cs typeface="Instrument Sans Medium" pitchFamily="34" charset="-120"/>
              </a:rPr>
              <a:t>Métricas:</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CTR +35%, conversión +22%, ticket medio +18%</a:t>
            </a:r>
            <a:endParaRPr lang="en-US" sz="750" dirty="0"/>
          </a:p>
          <a:p>
            <a:pPr algn="l" marL="342900" indent="-342900">
              <a:lnSpc>
                <a:spcPts val="900"/>
              </a:lnSpc>
              <a:buSzPct val="100000"/>
              <a:buChar char="•"/>
            </a:pPr>
            <a:r>
              <a:rPr lang="en-US" sz="750" b="1" dirty="0">
                <a:solidFill>
                  <a:srgbClr val="1E3063"/>
                </a:solidFill>
                <a:latin typeface="Instrument Sans Medium" pitchFamily="34" charset="0"/>
                <a:ea typeface="Instrument Sans Medium" pitchFamily="34" charset="-122"/>
                <a:cs typeface="Instrument Sans Medium" pitchFamily="34" charset="-120"/>
              </a:rPr>
              <a:t>ROI:</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300–500% en 18 meses en implementaciones maduras</a:t>
            </a:r>
            <a:endParaRPr lang="en-US" sz="750" dirty="0"/>
          </a:p>
          <a:p>
            <a:pPr algn="l" marL="342900" indent="-342900">
              <a:lnSpc>
                <a:spcPts val="900"/>
              </a:lnSpc>
              <a:buSzPct val="100000"/>
              <a:buChar char="•"/>
            </a:pPr>
            <a:r>
              <a:rPr lang="en-US" sz="750" b="1" dirty="0">
                <a:solidFill>
                  <a:srgbClr val="1E3063"/>
                </a:solidFill>
                <a:latin typeface="Instrument Sans Medium" pitchFamily="34" charset="0"/>
                <a:ea typeface="Instrument Sans Medium" pitchFamily="34" charset="-122"/>
                <a:cs typeface="Instrument Sans Medium" pitchFamily="34" charset="-120"/>
              </a:rPr>
              <a:t>Beneficios:</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Reducción de devoluciones, mayor fidelización, gestión dinámica de stock</a:t>
            </a:r>
            <a:endParaRPr lang="en-US" sz="750" dirty="0"/>
          </a:p>
          <a:p>
            <a:pPr algn="l" marL="342900" indent="-342900">
              <a:lnSpc>
                <a:spcPts val="900"/>
              </a:lnSpc>
              <a:buSzPct val="100000"/>
              <a:buChar char="•"/>
            </a:pPr>
            <a:r>
              <a:rPr lang="en-US" sz="750" b="1" dirty="0">
                <a:solidFill>
                  <a:srgbClr val="1E3063"/>
                </a:solidFill>
                <a:latin typeface="Instrument Sans Medium" pitchFamily="34" charset="0"/>
                <a:ea typeface="Instrument Sans Medium" pitchFamily="34" charset="-122"/>
                <a:cs typeface="Instrument Sans Medium" pitchFamily="34" charset="-120"/>
              </a:rPr>
              <a:t>Desafíos:</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Calidad y fragmentación de datos de cliente, cold-start para nuevos usuarios</a:t>
            </a:r>
            <a:endParaRPr lang="en-US" sz="750" dirty="0"/>
          </a:p>
          <a:p>
            <a:pPr algn="l" marL="342900" indent="-342900">
              <a:lnSpc>
                <a:spcPts val="900"/>
              </a:lnSpc>
              <a:buSzPct val="100000"/>
              <a:buChar char="•"/>
            </a:pPr>
            <a:r>
              <a:rPr lang="en-US" sz="750" b="1" dirty="0">
                <a:solidFill>
                  <a:srgbClr val="1E3063"/>
                </a:solidFill>
                <a:latin typeface="Instrument Sans Medium" pitchFamily="34" charset="0"/>
                <a:ea typeface="Instrument Sans Medium" pitchFamily="34" charset="-122"/>
                <a:cs typeface="Instrument Sans Medium" pitchFamily="34" charset="-120"/>
              </a:rPr>
              <a:t>Lección:</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Empezar con segmentación RFM + IA sobre datos existentes antes de invertir en datos nuevos</a:t>
            </a:r>
            <a:endParaRPr lang="en-US" sz="750" dirty="0"/>
          </a:p>
        </p:txBody>
      </p:sp>
      <p:sp>
        <p:nvSpPr>
          <p:cNvPr id="12" name="Shape 9"/>
          <p:cNvSpPr/>
          <p:nvPr/>
        </p:nvSpPr>
        <p:spPr>
          <a:xfrm>
            <a:off x="7339965" y="1466731"/>
            <a:ext cx="3887986" cy="1947386"/>
          </a:xfrm>
          <a:prstGeom prst="roundRect">
            <a:avLst>
              <a:gd name="adj" fmla="val 3756"/>
            </a:avLst>
          </a:prstGeom>
          <a:solidFill>
            <a:srgbClr val="FFFFFF"/>
          </a:solidFill>
          <a:ln w="15240">
            <a:solidFill>
              <a:srgbClr val="B4CCE3"/>
            </a:solidFill>
            <a:prstDash val="solid"/>
          </a:ln>
        </p:spPr>
      </p:sp>
      <p:sp>
        <p:nvSpPr>
          <p:cNvPr id="13" name="Shape 10"/>
          <p:cNvSpPr/>
          <p:nvPr/>
        </p:nvSpPr>
        <p:spPr>
          <a:xfrm>
            <a:off x="7324725" y="1466731"/>
            <a:ext cx="60960" cy="1947386"/>
          </a:xfrm>
          <a:prstGeom prst="roundRect">
            <a:avLst>
              <a:gd name="adj" fmla="val 146512"/>
            </a:avLst>
          </a:prstGeom>
          <a:solidFill>
            <a:srgbClr val="84C1FA"/>
          </a:solidFill>
          <a:ln/>
        </p:spPr>
      </p:sp>
      <p:sp>
        <p:nvSpPr>
          <p:cNvPr id="14" name="Text 11"/>
          <p:cNvSpPr/>
          <p:nvPr/>
        </p:nvSpPr>
        <p:spPr>
          <a:xfrm>
            <a:off x="7500104" y="1581150"/>
            <a:ext cx="1240393" cy="162639"/>
          </a:xfrm>
          <a:prstGeom prst="rect">
            <a:avLst/>
          </a:prstGeom>
          <a:noFill/>
          <a:ln/>
        </p:spPr>
        <p:txBody>
          <a:bodyPr wrap="none" lIns="0" tIns="0" rIns="0" bIns="0" rtlCol="0" anchor="t"/>
          <a:lstStyle/>
          <a:p>
            <a:pPr algn="l" indent="0" marL="0">
              <a:lnSpc>
                <a:spcPts val="1200"/>
              </a:lnSpc>
              <a:buNone/>
            </a:pPr>
            <a:r>
              <a:rPr lang="en-US" sz="950" dirty="0">
                <a:solidFill>
                  <a:srgbClr val="000000"/>
                </a:solidFill>
                <a:latin typeface="Instrument Sans Semi Bold" pitchFamily="34" charset="0"/>
                <a:ea typeface="Instrument Sans Semi Bold" pitchFamily="34" charset="-122"/>
                <a:cs typeface="Instrument Sans Semi Bold" pitchFamily="34" charset="-120"/>
              </a:rPr>
              <a:t>🏦</a:t>
            </a:r>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 Finanzas &amp; Banca</a:t>
            </a:r>
            <a:endParaRPr lang="en-US" sz="950" dirty="0"/>
          </a:p>
        </p:txBody>
      </p:sp>
      <p:sp>
        <p:nvSpPr>
          <p:cNvPr id="15" name="Text 12"/>
          <p:cNvSpPr/>
          <p:nvPr/>
        </p:nvSpPr>
        <p:spPr>
          <a:xfrm>
            <a:off x="7500104" y="1773555"/>
            <a:ext cx="3613428" cy="237887"/>
          </a:xfrm>
          <a:prstGeom prst="rect">
            <a:avLst/>
          </a:prstGeom>
          <a:noFill/>
          <a:ln/>
        </p:spPr>
        <p:txBody>
          <a:bodyPr wrap="square" lIns="0" tIns="0" rIns="0" bIns="0" rtlCol="0" anchor="t"/>
          <a:lstStyle/>
          <a:p>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Caso:</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Detección de fraude y scoring crediticio en tiempo real (BBVA, Santander)</a:t>
            </a:r>
            <a:endParaRPr lang="en-US" sz="750" dirty="0"/>
          </a:p>
        </p:txBody>
      </p:sp>
      <p:sp>
        <p:nvSpPr>
          <p:cNvPr id="16" name="Text 13"/>
          <p:cNvSpPr/>
          <p:nvPr/>
        </p:nvSpPr>
        <p:spPr>
          <a:xfrm>
            <a:off x="7500104" y="2041208"/>
            <a:ext cx="3613428" cy="1258491"/>
          </a:xfrm>
          <a:prstGeom prst="rect">
            <a:avLst/>
          </a:prstGeom>
          <a:noFill/>
          <a:ln/>
        </p:spPr>
        <p:txBody>
          <a:bodyPr wrap="square" lIns="0" tIns="0" rIns="0" bIns="0" rtlCol="0" anchor="t"/>
          <a:lstStyle/>
          <a:p>
            <a:pPr algn="l" marL="342900" indent="-342900">
              <a:lnSpc>
                <a:spcPts val="900"/>
              </a:lnSpc>
              <a:buSzPct val="100000"/>
              <a:buChar char="•"/>
            </a:pPr>
            <a:r>
              <a:rPr lang="en-US" sz="750" b="1" dirty="0">
                <a:solidFill>
                  <a:srgbClr val="1E3063"/>
                </a:solidFill>
                <a:latin typeface="Instrument Sans Medium" pitchFamily="34" charset="0"/>
                <a:ea typeface="Instrument Sans Medium" pitchFamily="34" charset="-122"/>
                <a:cs typeface="Instrument Sans Medium" pitchFamily="34" charset="-120"/>
              </a:rPr>
              <a:t>Métricas:</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Reducción de falsos positivos en fraude: -40%; aprobación de crédito: +15% con mismo riesgo</a:t>
            </a:r>
            <a:endParaRPr lang="en-US" sz="750" dirty="0"/>
          </a:p>
          <a:p>
            <a:pPr algn="l" marL="342900" indent="-342900">
              <a:lnSpc>
                <a:spcPts val="900"/>
              </a:lnSpc>
              <a:buSzPct val="100000"/>
              <a:buChar char="•"/>
            </a:pPr>
            <a:r>
              <a:rPr lang="en-US" sz="750" b="1" dirty="0">
                <a:solidFill>
                  <a:srgbClr val="1E3063"/>
                </a:solidFill>
                <a:latin typeface="Instrument Sans Medium" pitchFamily="34" charset="0"/>
                <a:ea typeface="Instrument Sans Medium" pitchFamily="34" charset="-122"/>
                <a:cs typeface="Instrument Sans Medium" pitchFamily="34" charset="-120"/>
              </a:rPr>
              <a:t>ROI:</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Ahorro de 2–5 M€/año en fraude evitado por cada 100K transacciones diarias</a:t>
            </a:r>
            <a:endParaRPr lang="en-US" sz="750" dirty="0"/>
          </a:p>
          <a:p>
            <a:pPr algn="l" marL="342900" indent="-342900">
              <a:lnSpc>
                <a:spcPts val="900"/>
              </a:lnSpc>
              <a:buSzPct val="100000"/>
              <a:buChar char="•"/>
            </a:pPr>
            <a:r>
              <a:rPr lang="en-US" sz="750" b="1" dirty="0">
                <a:solidFill>
                  <a:srgbClr val="1E3063"/>
                </a:solidFill>
                <a:latin typeface="Instrument Sans Medium" pitchFamily="34" charset="0"/>
                <a:ea typeface="Instrument Sans Medium" pitchFamily="34" charset="-122"/>
                <a:cs typeface="Instrument Sans Medium" pitchFamily="34" charset="-120"/>
              </a:rPr>
              <a:t>Beneficios:</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Decisiones en milisegundos, inclusión financiera, reducción de mora</a:t>
            </a:r>
            <a:endParaRPr lang="en-US" sz="750" dirty="0"/>
          </a:p>
          <a:p>
            <a:pPr algn="l" marL="342900" indent="-342900">
              <a:lnSpc>
                <a:spcPts val="900"/>
              </a:lnSpc>
              <a:buSzPct val="100000"/>
              <a:buChar char="•"/>
            </a:pPr>
            <a:r>
              <a:rPr lang="en-US" sz="750" b="1" dirty="0">
                <a:solidFill>
                  <a:srgbClr val="1E3063"/>
                </a:solidFill>
                <a:latin typeface="Instrument Sans Medium" pitchFamily="34" charset="0"/>
                <a:ea typeface="Instrument Sans Medium" pitchFamily="34" charset="-122"/>
                <a:cs typeface="Instrument Sans Medium" pitchFamily="34" charset="-120"/>
              </a:rPr>
              <a:t>Desafíos:</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Explicabilidad regulatoria (GDPR, EBA), sesgo en datos históricos, adversarial attacks</a:t>
            </a:r>
            <a:endParaRPr lang="en-US" sz="750" dirty="0"/>
          </a:p>
          <a:p>
            <a:pPr algn="l" marL="342900" indent="-342900">
              <a:lnSpc>
                <a:spcPts val="900"/>
              </a:lnSpc>
              <a:buSzPct val="100000"/>
              <a:buChar char="•"/>
            </a:pPr>
            <a:r>
              <a:rPr lang="en-US" sz="750" b="1" dirty="0">
                <a:solidFill>
                  <a:srgbClr val="1E3063"/>
                </a:solidFill>
                <a:latin typeface="Instrument Sans Medium" pitchFamily="34" charset="0"/>
                <a:ea typeface="Instrument Sans Medium" pitchFamily="34" charset="-122"/>
                <a:cs typeface="Instrument Sans Medium" pitchFamily="34" charset="-120"/>
              </a:rPr>
              <a:t>Lección:</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El modelo técnico es el 30% del trabajo; el 70% es gobernanza, auditabilidad y gestión del cambio regulatorio</a:t>
            </a:r>
            <a:endParaRPr lang="en-US" sz="750" dirty="0"/>
          </a:p>
        </p:txBody>
      </p:sp>
      <p:sp>
        <p:nvSpPr>
          <p:cNvPr id="17" name="Shape 14"/>
          <p:cNvSpPr/>
          <p:nvPr/>
        </p:nvSpPr>
        <p:spPr>
          <a:xfrm>
            <a:off x="3402449" y="3463647"/>
            <a:ext cx="3887986" cy="1828443"/>
          </a:xfrm>
          <a:prstGeom prst="roundRect">
            <a:avLst>
              <a:gd name="adj" fmla="val 4001"/>
            </a:avLst>
          </a:prstGeom>
          <a:solidFill>
            <a:srgbClr val="FFFFFF"/>
          </a:solidFill>
          <a:ln w="15240">
            <a:solidFill>
              <a:srgbClr val="B4CCE3"/>
            </a:solidFill>
            <a:prstDash val="solid"/>
          </a:ln>
        </p:spPr>
      </p:sp>
      <p:sp>
        <p:nvSpPr>
          <p:cNvPr id="18" name="Shape 15"/>
          <p:cNvSpPr/>
          <p:nvPr/>
        </p:nvSpPr>
        <p:spPr>
          <a:xfrm>
            <a:off x="3387209" y="3463647"/>
            <a:ext cx="60960" cy="1828443"/>
          </a:xfrm>
          <a:prstGeom prst="roundRect">
            <a:avLst>
              <a:gd name="adj" fmla="val 146512"/>
            </a:avLst>
          </a:prstGeom>
          <a:solidFill>
            <a:srgbClr val="84C1FA"/>
          </a:solidFill>
          <a:ln/>
        </p:spPr>
      </p:sp>
      <p:sp>
        <p:nvSpPr>
          <p:cNvPr id="19" name="Text 16"/>
          <p:cNvSpPr/>
          <p:nvPr/>
        </p:nvSpPr>
        <p:spPr>
          <a:xfrm>
            <a:off x="3562588" y="3578066"/>
            <a:ext cx="1585555" cy="162639"/>
          </a:xfrm>
          <a:prstGeom prst="rect">
            <a:avLst/>
          </a:prstGeom>
          <a:noFill/>
          <a:ln/>
        </p:spPr>
        <p:txBody>
          <a:bodyPr wrap="none" lIns="0" tIns="0" rIns="0" bIns="0" rtlCol="0" anchor="t"/>
          <a:lstStyle/>
          <a:p>
            <a:pPr algn="l" indent="0" marL="0">
              <a:lnSpc>
                <a:spcPts val="1200"/>
              </a:lnSpc>
              <a:buNone/>
            </a:pPr>
            <a:r>
              <a:rPr lang="en-US" sz="950" dirty="0">
                <a:solidFill>
                  <a:srgbClr val="000000"/>
                </a:solidFill>
                <a:latin typeface="Instrument Sans Semi Bold" pitchFamily="34" charset="0"/>
                <a:ea typeface="Instrument Sans Semi Bold" pitchFamily="34" charset="-122"/>
                <a:cs typeface="Instrument Sans Semi Bold" pitchFamily="34" charset="-120"/>
              </a:rPr>
              <a:t>🏭</a:t>
            </a:r>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 Manufactura &amp; Industria</a:t>
            </a:r>
            <a:endParaRPr lang="en-US" sz="950" dirty="0"/>
          </a:p>
        </p:txBody>
      </p:sp>
      <p:sp>
        <p:nvSpPr>
          <p:cNvPr id="20" name="Text 17"/>
          <p:cNvSpPr/>
          <p:nvPr/>
        </p:nvSpPr>
        <p:spPr>
          <a:xfrm>
            <a:off x="3562588" y="3770471"/>
            <a:ext cx="3613428" cy="118943"/>
          </a:xfrm>
          <a:prstGeom prst="rect">
            <a:avLst/>
          </a:prstGeom>
          <a:noFill/>
          <a:ln/>
        </p:spPr>
        <p:txBody>
          <a:bodyPr wrap="none" lIns="0" tIns="0" rIns="0" bIns="0" rtlCol="0" anchor="t"/>
          <a:lstStyle/>
          <a:p>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Caso:</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Mantenimiento predictivo con sensores IoT + IA (Siemens, Airbus)</a:t>
            </a:r>
            <a:endParaRPr lang="en-US" sz="750" dirty="0"/>
          </a:p>
        </p:txBody>
      </p:sp>
      <p:sp>
        <p:nvSpPr>
          <p:cNvPr id="21" name="Text 18"/>
          <p:cNvSpPr/>
          <p:nvPr/>
        </p:nvSpPr>
        <p:spPr>
          <a:xfrm>
            <a:off x="3562588" y="3919180"/>
            <a:ext cx="3613428" cy="1258491"/>
          </a:xfrm>
          <a:prstGeom prst="rect">
            <a:avLst/>
          </a:prstGeom>
          <a:noFill/>
          <a:ln/>
        </p:spPr>
        <p:txBody>
          <a:bodyPr wrap="square" lIns="0" tIns="0" rIns="0" bIns="0" rtlCol="0" anchor="t"/>
          <a:lstStyle/>
          <a:p>
            <a:pPr algn="l" marL="342900" indent="-342900">
              <a:lnSpc>
                <a:spcPts val="900"/>
              </a:lnSpc>
              <a:buSzPct val="100000"/>
              <a:buChar char="•"/>
            </a:pPr>
            <a:r>
              <a:rPr lang="en-US" sz="750" b="1" dirty="0">
                <a:solidFill>
                  <a:srgbClr val="1E3063"/>
                </a:solidFill>
                <a:latin typeface="Instrument Sans Medium" pitchFamily="34" charset="0"/>
                <a:ea typeface="Instrument Sans Medium" pitchFamily="34" charset="-122"/>
                <a:cs typeface="Instrument Sans Medium" pitchFamily="34" charset="-120"/>
              </a:rPr>
              <a:t>Métricas:</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Reducción de paradas no planificadas: -30–50%; vida útil de activos: +20%</a:t>
            </a:r>
            <a:endParaRPr lang="en-US" sz="750" dirty="0"/>
          </a:p>
          <a:p>
            <a:pPr algn="l" marL="342900" indent="-342900">
              <a:lnSpc>
                <a:spcPts val="900"/>
              </a:lnSpc>
              <a:buSzPct val="100000"/>
              <a:buChar char="•"/>
            </a:pPr>
            <a:r>
              <a:rPr lang="en-US" sz="750" b="1" dirty="0">
                <a:solidFill>
                  <a:srgbClr val="1E3063"/>
                </a:solidFill>
                <a:latin typeface="Instrument Sans Medium" pitchFamily="34" charset="0"/>
                <a:ea typeface="Instrument Sans Medium" pitchFamily="34" charset="-122"/>
                <a:cs typeface="Instrument Sans Medium" pitchFamily="34" charset="-120"/>
              </a:rPr>
              <a:t>ROI:</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Cada hora de parada evitada en planta vale entre 10.000 y 100.000 € según sector</a:t>
            </a:r>
            <a:endParaRPr lang="en-US" sz="750" dirty="0"/>
          </a:p>
          <a:p>
            <a:pPr algn="l" marL="342900" indent="-342900">
              <a:lnSpc>
                <a:spcPts val="900"/>
              </a:lnSpc>
              <a:buSzPct val="100000"/>
              <a:buChar char="•"/>
            </a:pPr>
            <a:r>
              <a:rPr lang="en-US" sz="750" b="1" dirty="0">
                <a:solidFill>
                  <a:srgbClr val="1E3063"/>
                </a:solidFill>
                <a:latin typeface="Instrument Sans Medium" pitchFamily="34" charset="0"/>
                <a:ea typeface="Instrument Sans Medium" pitchFamily="34" charset="-122"/>
                <a:cs typeface="Instrument Sans Medium" pitchFamily="34" charset="-120"/>
              </a:rPr>
              <a:t>Beneficios:</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Planificación proactiva de mantenimiento, reducción de inventario de repuestos</a:t>
            </a:r>
            <a:endParaRPr lang="en-US" sz="750" dirty="0"/>
          </a:p>
          <a:p>
            <a:pPr algn="l" marL="342900" indent="-342900">
              <a:lnSpc>
                <a:spcPts val="900"/>
              </a:lnSpc>
              <a:buSzPct val="100000"/>
              <a:buChar char="•"/>
            </a:pPr>
            <a:r>
              <a:rPr lang="en-US" sz="750" b="1" dirty="0">
                <a:solidFill>
                  <a:srgbClr val="1E3063"/>
                </a:solidFill>
                <a:latin typeface="Instrument Sans Medium" pitchFamily="34" charset="0"/>
                <a:ea typeface="Instrument Sans Medium" pitchFamily="34" charset="-122"/>
                <a:cs typeface="Instrument Sans Medium" pitchFamily="34" charset="-120"/>
              </a:rPr>
              <a:t>Desafíos:</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Integración con sistemas legacy OT/IT, heterogeneidad de sensores, datos no etiquetados</a:t>
            </a:r>
            <a:endParaRPr lang="en-US" sz="750" dirty="0"/>
          </a:p>
          <a:p>
            <a:pPr algn="l" marL="342900" indent="-342900">
              <a:lnSpc>
                <a:spcPts val="900"/>
              </a:lnSpc>
              <a:buSzPct val="100000"/>
              <a:buChar char="•"/>
            </a:pPr>
            <a:r>
              <a:rPr lang="en-US" sz="750" b="1" dirty="0">
                <a:solidFill>
                  <a:srgbClr val="1E3063"/>
                </a:solidFill>
                <a:latin typeface="Instrument Sans Medium" pitchFamily="34" charset="0"/>
                <a:ea typeface="Instrument Sans Medium" pitchFamily="34" charset="-122"/>
                <a:cs typeface="Instrument Sans Medium" pitchFamily="34" charset="-120"/>
              </a:rPr>
              <a:t>Lección:</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Pilotar en una línea o activo crítico antes de escalar; los datos de fallo son escasos y hay que enriquecerlos</a:t>
            </a:r>
            <a:endParaRPr lang="en-US" sz="750" dirty="0"/>
          </a:p>
        </p:txBody>
      </p:sp>
      <p:sp>
        <p:nvSpPr>
          <p:cNvPr id="22" name="Shape 19"/>
          <p:cNvSpPr/>
          <p:nvPr/>
        </p:nvSpPr>
        <p:spPr>
          <a:xfrm>
            <a:off x="7339965" y="3463647"/>
            <a:ext cx="3887986" cy="1828443"/>
          </a:xfrm>
          <a:prstGeom prst="roundRect">
            <a:avLst>
              <a:gd name="adj" fmla="val 4001"/>
            </a:avLst>
          </a:prstGeom>
          <a:solidFill>
            <a:srgbClr val="FFFFFF"/>
          </a:solidFill>
          <a:ln w="15240">
            <a:solidFill>
              <a:srgbClr val="B4CCE3"/>
            </a:solidFill>
            <a:prstDash val="solid"/>
          </a:ln>
        </p:spPr>
      </p:sp>
      <p:sp>
        <p:nvSpPr>
          <p:cNvPr id="23" name="Shape 20"/>
          <p:cNvSpPr/>
          <p:nvPr/>
        </p:nvSpPr>
        <p:spPr>
          <a:xfrm>
            <a:off x="7324725" y="3463647"/>
            <a:ext cx="60960" cy="1828443"/>
          </a:xfrm>
          <a:prstGeom prst="roundRect">
            <a:avLst>
              <a:gd name="adj" fmla="val 146512"/>
            </a:avLst>
          </a:prstGeom>
          <a:solidFill>
            <a:srgbClr val="84C1FA"/>
          </a:solidFill>
          <a:ln/>
        </p:spPr>
      </p:sp>
      <p:sp>
        <p:nvSpPr>
          <p:cNvPr id="24" name="Text 21"/>
          <p:cNvSpPr/>
          <p:nvPr/>
        </p:nvSpPr>
        <p:spPr>
          <a:xfrm>
            <a:off x="7500104" y="3578066"/>
            <a:ext cx="1240393" cy="162639"/>
          </a:xfrm>
          <a:prstGeom prst="rect">
            <a:avLst/>
          </a:prstGeom>
          <a:noFill/>
          <a:ln/>
        </p:spPr>
        <p:txBody>
          <a:bodyPr wrap="none" lIns="0" tIns="0" rIns="0" bIns="0" rtlCol="0" anchor="t"/>
          <a:lstStyle/>
          <a:p>
            <a:pPr algn="l" indent="0" marL="0">
              <a:lnSpc>
                <a:spcPts val="1200"/>
              </a:lnSpc>
              <a:buNone/>
            </a:pPr>
            <a:r>
              <a:rPr lang="en-US" sz="950" dirty="0">
                <a:solidFill>
                  <a:srgbClr val="000000"/>
                </a:solidFill>
                <a:latin typeface="Instrument Sans Semi Bold" pitchFamily="34" charset="0"/>
                <a:ea typeface="Instrument Sans Semi Bold" pitchFamily="34" charset="-122"/>
                <a:cs typeface="Instrument Sans Semi Bold" pitchFamily="34" charset="-120"/>
              </a:rPr>
              <a:t>🏥</a:t>
            </a:r>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 Salud &amp; Farma</a:t>
            </a:r>
            <a:endParaRPr lang="en-US" sz="950" dirty="0"/>
          </a:p>
        </p:txBody>
      </p:sp>
      <p:sp>
        <p:nvSpPr>
          <p:cNvPr id="25" name="Text 22"/>
          <p:cNvSpPr/>
          <p:nvPr/>
        </p:nvSpPr>
        <p:spPr>
          <a:xfrm>
            <a:off x="7500104" y="3770471"/>
            <a:ext cx="3613428" cy="118943"/>
          </a:xfrm>
          <a:prstGeom prst="rect">
            <a:avLst/>
          </a:prstGeom>
          <a:noFill/>
          <a:ln/>
        </p:spPr>
        <p:txBody>
          <a:bodyPr wrap="none" lIns="0" tIns="0" rIns="0" bIns="0" rtlCol="0" anchor="t"/>
          <a:lstStyle/>
          <a:p>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Caso:</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Diagnóstico asistido por IA en imagen médica (radiología, patología)</a:t>
            </a:r>
            <a:endParaRPr lang="en-US" sz="750" dirty="0"/>
          </a:p>
        </p:txBody>
      </p:sp>
      <p:sp>
        <p:nvSpPr>
          <p:cNvPr id="26" name="Text 23"/>
          <p:cNvSpPr/>
          <p:nvPr/>
        </p:nvSpPr>
        <p:spPr>
          <a:xfrm>
            <a:off x="7500104" y="3919180"/>
            <a:ext cx="3613428" cy="1258491"/>
          </a:xfrm>
          <a:prstGeom prst="rect">
            <a:avLst/>
          </a:prstGeom>
          <a:noFill/>
          <a:ln/>
        </p:spPr>
        <p:txBody>
          <a:bodyPr wrap="square" lIns="0" tIns="0" rIns="0" bIns="0" rtlCol="0" anchor="t"/>
          <a:lstStyle/>
          <a:p>
            <a:pPr algn="l" marL="342900" indent="-342900">
              <a:lnSpc>
                <a:spcPts val="900"/>
              </a:lnSpc>
              <a:buSzPct val="100000"/>
              <a:buChar char="•"/>
            </a:pPr>
            <a:r>
              <a:rPr lang="en-US" sz="750" b="1" dirty="0">
                <a:solidFill>
                  <a:srgbClr val="1E3063"/>
                </a:solidFill>
                <a:latin typeface="Instrument Sans Medium" pitchFamily="34" charset="0"/>
                <a:ea typeface="Instrument Sans Medium" pitchFamily="34" charset="-122"/>
                <a:cs typeface="Instrument Sans Medium" pitchFamily="34" charset="-120"/>
              </a:rPr>
              <a:t>Métricas:</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Sensibilidad diagnóstica +15–25%; tiempo de lectura por imagen: -60%</a:t>
            </a:r>
            <a:endParaRPr lang="en-US" sz="750" dirty="0"/>
          </a:p>
          <a:p>
            <a:pPr algn="l" marL="342900" indent="-342900">
              <a:lnSpc>
                <a:spcPts val="900"/>
              </a:lnSpc>
              <a:buSzPct val="100000"/>
              <a:buChar char="•"/>
            </a:pPr>
            <a:r>
              <a:rPr lang="en-US" sz="750" b="1" dirty="0">
                <a:solidFill>
                  <a:srgbClr val="1E3063"/>
                </a:solidFill>
                <a:latin typeface="Instrument Sans Medium" pitchFamily="34" charset="0"/>
                <a:ea typeface="Instrument Sans Medium" pitchFamily="34" charset="-122"/>
                <a:cs typeface="Instrument Sans Medium" pitchFamily="34" charset="-120"/>
              </a:rPr>
              <a:t>ROI:</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Reducción de diagnósticos tardíos, menor coste por caso, optimización de radiólogos</a:t>
            </a:r>
            <a:endParaRPr lang="en-US" sz="750" dirty="0"/>
          </a:p>
          <a:p>
            <a:pPr algn="l" marL="342900" indent="-342900">
              <a:lnSpc>
                <a:spcPts val="900"/>
              </a:lnSpc>
              <a:buSzPct val="100000"/>
              <a:buChar char="•"/>
            </a:pPr>
            <a:r>
              <a:rPr lang="en-US" sz="750" b="1" dirty="0">
                <a:solidFill>
                  <a:srgbClr val="1E3063"/>
                </a:solidFill>
                <a:latin typeface="Instrument Sans Medium" pitchFamily="34" charset="0"/>
                <a:ea typeface="Instrument Sans Medium" pitchFamily="34" charset="-122"/>
                <a:cs typeface="Instrument Sans Medium" pitchFamily="34" charset="-120"/>
              </a:rPr>
              <a:t>Beneficios:</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Segundo nivel de revisión automático, priorización de casos urgentes, escalabilidad</a:t>
            </a:r>
            <a:endParaRPr lang="en-US" sz="750" dirty="0"/>
          </a:p>
          <a:p>
            <a:pPr algn="l" marL="342900" indent="-342900">
              <a:lnSpc>
                <a:spcPts val="900"/>
              </a:lnSpc>
              <a:buSzPct val="100000"/>
              <a:buChar char="•"/>
            </a:pPr>
            <a:r>
              <a:rPr lang="en-US" sz="750" b="1" dirty="0">
                <a:solidFill>
                  <a:srgbClr val="1E3063"/>
                </a:solidFill>
                <a:latin typeface="Instrument Sans Medium" pitchFamily="34" charset="0"/>
                <a:ea typeface="Instrument Sans Medium" pitchFamily="34" charset="-122"/>
                <a:cs typeface="Instrument Sans Medium" pitchFamily="34" charset="-120"/>
              </a:rPr>
              <a:t>Desafíos:</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Validación clínica, aprobación regulatoria (CE, FDA), aceptación por parte del profesional</a:t>
            </a:r>
            <a:endParaRPr lang="en-US" sz="750" dirty="0"/>
          </a:p>
          <a:p>
            <a:pPr algn="l" marL="342900" indent="-342900">
              <a:lnSpc>
                <a:spcPts val="900"/>
              </a:lnSpc>
              <a:buSzPct val="100000"/>
              <a:buChar char="•"/>
            </a:pPr>
            <a:r>
              <a:rPr lang="en-US" sz="750" b="1" dirty="0">
                <a:solidFill>
                  <a:srgbClr val="1E3063"/>
                </a:solidFill>
                <a:latin typeface="Instrument Sans Medium" pitchFamily="34" charset="0"/>
                <a:ea typeface="Instrument Sans Medium" pitchFamily="34" charset="-122"/>
                <a:cs typeface="Instrument Sans Medium" pitchFamily="34" charset="-120"/>
              </a:rPr>
              <a:t>Lección:</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El médico no puede ser sustituido; la IA debe presentarse como "copiloto", no como oráculo</a:t>
            </a:r>
            <a:endParaRPr lang="en-US" sz="750" dirty="0"/>
          </a:p>
        </p:txBody>
      </p:sp>
      <p:sp>
        <p:nvSpPr>
          <p:cNvPr id="27" name="Shape 24"/>
          <p:cNvSpPr/>
          <p:nvPr/>
        </p:nvSpPr>
        <p:spPr>
          <a:xfrm>
            <a:off x="3402449" y="5341620"/>
            <a:ext cx="3887986" cy="1947386"/>
          </a:xfrm>
          <a:prstGeom prst="roundRect">
            <a:avLst>
              <a:gd name="adj" fmla="val 3756"/>
            </a:avLst>
          </a:prstGeom>
          <a:solidFill>
            <a:srgbClr val="FFFFFF"/>
          </a:solidFill>
          <a:ln w="15240">
            <a:solidFill>
              <a:srgbClr val="B4CCE3"/>
            </a:solidFill>
            <a:prstDash val="solid"/>
          </a:ln>
        </p:spPr>
      </p:sp>
      <p:sp>
        <p:nvSpPr>
          <p:cNvPr id="28" name="Shape 25"/>
          <p:cNvSpPr/>
          <p:nvPr/>
        </p:nvSpPr>
        <p:spPr>
          <a:xfrm>
            <a:off x="3387209" y="5341620"/>
            <a:ext cx="60960" cy="1947386"/>
          </a:xfrm>
          <a:prstGeom prst="roundRect">
            <a:avLst>
              <a:gd name="adj" fmla="val 146512"/>
            </a:avLst>
          </a:prstGeom>
          <a:solidFill>
            <a:srgbClr val="84C1FA"/>
          </a:solidFill>
          <a:ln/>
        </p:spPr>
      </p:sp>
      <p:sp>
        <p:nvSpPr>
          <p:cNvPr id="29" name="Text 26"/>
          <p:cNvSpPr/>
          <p:nvPr/>
        </p:nvSpPr>
        <p:spPr>
          <a:xfrm>
            <a:off x="3562588" y="5456039"/>
            <a:ext cx="1628299" cy="162639"/>
          </a:xfrm>
          <a:prstGeom prst="rect">
            <a:avLst/>
          </a:prstGeom>
          <a:noFill/>
          <a:ln/>
        </p:spPr>
        <p:txBody>
          <a:bodyPr wrap="none" lIns="0" tIns="0" rIns="0" bIns="0" rtlCol="0" anchor="t"/>
          <a:lstStyle/>
          <a:p>
            <a:pPr algn="l" indent="0" marL="0">
              <a:lnSpc>
                <a:spcPts val="1200"/>
              </a:lnSpc>
              <a:buNone/>
            </a:pPr>
            <a:r>
              <a:rPr lang="en-US" sz="950" dirty="0">
                <a:solidFill>
                  <a:srgbClr val="000000"/>
                </a:solidFill>
                <a:latin typeface="Instrument Sans Semi Bold" pitchFamily="34" charset="0"/>
                <a:ea typeface="Instrument Sans Semi Bold" pitchFamily="34" charset="-122"/>
                <a:cs typeface="Instrument Sans Semi Bold" pitchFamily="34" charset="-120"/>
              </a:rPr>
              <a:t>📦</a:t>
            </a:r>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 Logística &amp; Supply Chain</a:t>
            </a:r>
            <a:endParaRPr lang="en-US" sz="950" dirty="0"/>
          </a:p>
        </p:txBody>
      </p:sp>
      <p:sp>
        <p:nvSpPr>
          <p:cNvPr id="30" name="Text 27"/>
          <p:cNvSpPr/>
          <p:nvPr/>
        </p:nvSpPr>
        <p:spPr>
          <a:xfrm>
            <a:off x="3562588" y="5648444"/>
            <a:ext cx="3613428" cy="118943"/>
          </a:xfrm>
          <a:prstGeom prst="rect">
            <a:avLst/>
          </a:prstGeom>
          <a:noFill/>
          <a:ln/>
        </p:spPr>
        <p:txBody>
          <a:bodyPr wrap="none" lIns="0" tIns="0" rIns="0" bIns="0" rtlCol="0" anchor="t"/>
          <a:lstStyle/>
          <a:p>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Caso:</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Optimización de rutas y predicción de demanda (DHL, Mercadona)</a:t>
            </a:r>
            <a:endParaRPr lang="en-US" sz="750" dirty="0"/>
          </a:p>
        </p:txBody>
      </p:sp>
      <p:sp>
        <p:nvSpPr>
          <p:cNvPr id="31" name="Text 28"/>
          <p:cNvSpPr/>
          <p:nvPr/>
        </p:nvSpPr>
        <p:spPr>
          <a:xfrm>
            <a:off x="3562588" y="5797153"/>
            <a:ext cx="3613428" cy="1258491"/>
          </a:xfrm>
          <a:prstGeom prst="rect">
            <a:avLst/>
          </a:prstGeom>
          <a:noFill/>
          <a:ln/>
        </p:spPr>
        <p:txBody>
          <a:bodyPr wrap="square" lIns="0" tIns="0" rIns="0" bIns="0" rtlCol="0" anchor="t"/>
          <a:lstStyle/>
          <a:p>
            <a:pPr algn="l" marL="342900" indent="-342900">
              <a:lnSpc>
                <a:spcPts val="900"/>
              </a:lnSpc>
              <a:buSzPct val="100000"/>
              <a:buChar char="•"/>
            </a:pPr>
            <a:r>
              <a:rPr lang="en-US" sz="750" b="1" dirty="0">
                <a:solidFill>
                  <a:srgbClr val="1E3063"/>
                </a:solidFill>
                <a:latin typeface="Instrument Sans Medium" pitchFamily="34" charset="0"/>
                <a:ea typeface="Instrument Sans Medium" pitchFamily="34" charset="-122"/>
                <a:cs typeface="Instrument Sans Medium" pitchFamily="34" charset="-120"/>
              </a:rPr>
              <a:t>Métricas:</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Reducción de kilometraje: -12–18%; error de previsión de demanda: -25–40%</a:t>
            </a:r>
            <a:endParaRPr lang="en-US" sz="750" dirty="0"/>
          </a:p>
          <a:p>
            <a:pPr algn="l" marL="342900" indent="-342900">
              <a:lnSpc>
                <a:spcPts val="900"/>
              </a:lnSpc>
              <a:buSzPct val="100000"/>
              <a:buChar char="•"/>
            </a:pPr>
            <a:r>
              <a:rPr lang="en-US" sz="750" b="1" dirty="0">
                <a:solidFill>
                  <a:srgbClr val="1E3063"/>
                </a:solidFill>
                <a:latin typeface="Instrument Sans Medium" pitchFamily="34" charset="0"/>
                <a:ea typeface="Instrument Sans Medium" pitchFamily="34" charset="-122"/>
                <a:cs typeface="Instrument Sans Medium" pitchFamily="34" charset="-120"/>
              </a:rPr>
              <a:t>ROI:</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Ahorro en combustible y personal; reducción de roturas de stock y merma</a:t>
            </a:r>
            <a:endParaRPr lang="en-US" sz="750" dirty="0"/>
          </a:p>
          <a:p>
            <a:pPr algn="l" marL="342900" indent="-342900">
              <a:lnSpc>
                <a:spcPts val="900"/>
              </a:lnSpc>
              <a:buSzPct val="100000"/>
              <a:buChar char="•"/>
            </a:pPr>
            <a:r>
              <a:rPr lang="en-US" sz="750" b="1" dirty="0">
                <a:solidFill>
                  <a:srgbClr val="1E3063"/>
                </a:solidFill>
                <a:latin typeface="Instrument Sans Medium" pitchFamily="34" charset="0"/>
                <a:ea typeface="Instrument Sans Medium" pitchFamily="34" charset="-122"/>
                <a:cs typeface="Instrument Sans Medium" pitchFamily="34" charset="-120"/>
              </a:rPr>
              <a:t>Beneficios:</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Menor huella de carbono, mejor nivel de servicio, planificación de almacén más eficiente</a:t>
            </a:r>
            <a:endParaRPr lang="en-US" sz="750" dirty="0"/>
          </a:p>
          <a:p>
            <a:pPr algn="l" marL="342900" indent="-342900">
              <a:lnSpc>
                <a:spcPts val="900"/>
              </a:lnSpc>
              <a:buSzPct val="100000"/>
              <a:buChar char="•"/>
            </a:pPr>
            <a:r>
              <a:rPr lang="en-US" sz="750" b="1" dirty="0">
                <a:solidFill>
                  <a:srgbClr val="1E3063"/>
                </a:solidFill>
                <a:latin typeface="Instrument Sans Medium" pitchFamily="34" charset="0"/>
                <a:ea typeface="Instrument Sans Medium" pitchFamily="34" charset="-122"/>
                <a:cs typeface="Instrument Sans Medium" pitchFamily="34" charset="-120"/>
              </a:rPr>
              <a:t>Desafíos:</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Datos de demanda con alta estacionalidad, eventos externos imprevistos (COVID, huelgas)</a:t>
            </a:r>
            <a:endParaRPr lang="en-US" sz="750" dirty="0"/>
          </a:p>
          <a:p>
            <a:pPr algn="l" marL="342900" indent="-342900">
              <a:lnSpc>
                <a:spcPts val="900"/>
              </a:lnSpc>
              <a:buSzPct val="100000"/>
              <a:buChar char="•"/>
            </a:pPr>
            <a:r>
              <a:rPr lang="en-US" sz="750" b="1" dirty="0">
                <a:solidFill>
                  <a:srgbClr val="1E3063"/>
                </a:solidFill>
                <a:latin typeface="Instrument Sans Medium" pitchFamily="34" charset="0"/>
                <a:ea typeface="Instrument Sans Medium" pitchFamily="34" charset="-122"/>
                <a:cs typeface="Instrument Sans Medium" pitchFamily="34" charset="-120"/>
              </a:rPr>
              <a:t>Lección:</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Incorporar variables externas (clima, eventos, tendencias) mejora drásticamente la precisión del modelo</a:t>
            </a:r>
            <a:endParaRPr lang="en-US" sz="750" dirty="0"/>
          </a:p>
        </p:txBody>
      </p:sp>
      <p:sp>
        <p:nvSpPr>
          <p:cNvPr id="32" name="Shape 29"/>
          <p:cNvSpPr/>
          <p:nvPr/>
        </p:nvSpPr>
        <p:spPr>
          <a:xfrm>
            <a:off x="7339965" y="5341620"/>
            <a:ext cx="3887986" cy="1947386"/>
          </a:xfrm>
          <a:prstGeom prst="roundRect">
            <a:avLst>
              <a:gd name="adj" fmla="val 3756"/>
            </a:avLst>
          </a:prstGeom>
          <a:solidFill>
            <a:srgbClr val="FFFFFF"/>
          </a:solidFill>
          <a:ln w="15240">
            <a:solidFill>
              <a:srgbClr val="B4CCE3"/>
            </a:solidFill>
            <a:prstDash val="solid"/>
          </a:ln>
        </p:spPr>
      </p:sp>
      <p:sp>
        <p:nvSpPr>
          <p:cNvPr id="33" name="Shape 30"/>
          <p:cNvSpPr/>
          <p:nvPr/>
        </p:nvSpPr>
        <p:spPr>
          <a:xfrm>
            <a:off x="7324725" y="5341620"/>
            <a:ext cx="60960" cy="1947386"/>
          </a:xfrm>
          <a:prstGeom prst="roundRect">
            <a:avLst>
              <a:gd name="adj" fmla="val 146512"/>
            </a:avLst>
          </a:prstGeom>
          <a:solidFill>
            <a:srgbClr val="84C1FA"/>
          </a:solidFill>
          <a:ln/>
        </p:spPr>
      </p:sp>
      <p:sp>
        <p:nvSpPr>
          <p:cNvPr id="34" name="Text 31"/>
          <p:cNvSpPr/>
          <p:nvPr/>
        </p:nvSpPr>
        <p:spPr>
          <a:xfrm>
            <a:off x="7500104" y="5456039"/>
            <a:ext cx="1558409" cy="162639"/>
          </a:xfrm>
          <a:prstGeom prst="rect">
            <a:avLst/>
          </a:prstGeom>
          <a:noFill/>
          <a:ln/>
        </p:spPr>
        <p:txBody>
          <a:bodyPr wrap="none" lIns="0" tIns="0" rIns="0" bIns="0" rtlCol="0" anchor="t"/>
          <a:lstStyle/>
          <a:p>
            <a:pPr algn="l" indent="0" marL="0">
              <a:lnSpc>
                <a:spcPts val="1200"/>
              </a:lnSpc>
              <a:buNone/>
            </a:pPr>
            <a:r>
              <a:rPr lang="en-US" sz="950" dirty="0">
                <a:solidFill>
                  <a:srgbClr val="000000"/>
                </a:solidFill>
                <a:latin typeface="Instrument Sans Semi Bold" pitchFamily="34" charset="0"/>
                <a:ea typeface="Instrument Sans Semi Bold" pitchFamily="34" charset="-122"/>
                <a:cs typeface="Instrument Sans Semi Bold" pitchFamily="34" charset="-120"/>
              </a:rPr>
              <a:t>🎓</a:t>
            </a:r>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 Educación &amp; Formación</a:t>
            </a:r>
            <a:endParaRPr lang="en-US" sz="950" dirty="0"/>
          </a:p>
        </p:txBody>
      </p:sp>
      <p:sp>
        <p:nvSpPr>
          <p:cNvPr id="35" name="Text 32"/>
          <p:cNvSpPr/>
          <p:nvPr/>
        </p:nvSpPr>
        <p:spPr>
          <a:xfrm>
            <a:off x="7500104" y="5648444"/>
            <a:ext cx="3613428" cy="237887"/>
          </a:xfrm>
          <a:prstGeom prst="rect">
            <a:avLst/>
          </a:prstGeom>
          <a:noFill/>
          <a:ln/>
        </p:spPr>
        <p:txBody>
          <a:bodyPr wrap="square" lIns="0" tIns="0" rIns="0" bIns="0" rtlCol="0" anchor="t"/>
          <a:lstStyle/>
          <a:p>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Caso:</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Personalización del aprendizaje y detección temprana de abandono (Coursera, universidades)</a:t>
            </a:r>
            <a:endParaRPr lang="en-US" sz="750" dirty="0"/>
          </a:p>
        </p:txBody>
      </p:sp>
      <p:sp>
        <p:nvSpPr>
          <p:cNvPr id="36" name="Text 33"/>
          <p:cNvSpPr/>
          <p:nvPr/>
        </p:nvSpPr>
        <p:spPr>
          <a:xfrm>
            <a:off x="7500104" y="5916097"/>
            <a:ext cx="3613428" cy="1258491"/>
          </a:xfrm>
          <a:prstGeom prst="rect">
            <a:avLst/>
          </a:prstGeom>
          <a:noFill/>
          <a:ln/>
        </p:spPr>
        <p:txBody>
          <a:bodyPr wrap="square" lIns="0" tIns="0" rIns="0" bIns="0" rtlCol="0" anchor="t"/>
          <a:lstStyle/>
          <a:p>
            <a:pPr algn="l" marL="342900" indent="-342900">
              <a:lnSpc>
                <a:spcPts val="900"/>
              </a:lnSpc>
              <a:buSzPct val="100000"/>
              <a:buChar char="•"/>
            </a:pPr>
            <a:r>
              <a:rPr lang="en-US" sz="750" b="1" dirty="0">
                <a:solidFill>
                  <a:srgbClr val="1E3063"/>
                </a:solidFill>
                <a:latin typeface="Instrument Sans Medium" pitchFamily="34" charset="0"/>
                <a:ea typeface="Instrument Sans Medium" pitchFamily="34" charset="-122"/>
                <a:cs typeface="Instrument Sans Medium" pitchFamily="34" charset="-120"/>
              </a:rPr>
              <a:t>Métricas:</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Tasa de finalización: +30–40%; intervención temprana reduce abandono en -20%</a:t>
            </a:r>
            <a:endParaRPr lang="en-US" sz="750" dirty="0"/>
          </a:p>
          <a:p>
            <a:pPr algn="l" marL="342900" indent="-342900">
              <a:lnSpc>
                <a:spcPts val="900"/>
              </a:lnSpc>
              <a:buSzPct val="100000"/>
              <a:buChar char="•"/>
            </a:pPr>
            <a:r>
              <a:rPr lang="en-US" sz="750" b="1" dirty="0">
                <a:solidFill>
                  <a:srgbClr val="1E3063"/>
                </a:solidFill>
                <a:latin typeface="Instrument Sans Medium" pitchFamily="34" charset="0"/>
                <a:ea typeface="Instrument Sans Medium" pitchFamily="34" charset="-122"/>
                <a:cs typeface="Instrument Sans Medium" pitchFamily="34" charset="-120"/>
              </a:rPr>
              <a:t>ROI:</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Mayor retención de alumnos, reducción de coste de captación, mejor reputación institucional</a:t>
            </a:r>
            <a:endParaRPr lang="en-US" sz="750" dirty="0"/>
          </a:p>
          <a:p>
            <a:pPr algn="l" marL="342900" indent="-342900">
              <a:lnSpc>
                <a:spcPts val="900"/>
              </a:lnSpc>
              <a:buSzPct val="100000"/>
              <a:buChar char="•"/>
            </a:pPr>
            <a:r>
              <a:rPr lang="en-US" sz="750" b="1" dirty="0">
                <a:solidFill>
                  <a:srgbClr val="1E3063"/>
                </a:solidFill>
                <a:latin typeface="Instrument Sans Medium" pitchFamily="34" charset="0"/>
                <a:ea typeface="Instrument Sans Medium" pitchFamily="34" charset="-122"/>
                <a:cs typeface="Instrument Sans Medium" pitchFamily="34" charset="-120"/>
              </a:rPr>
              <a:t>Beneficios:</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Itinerarios adaptativos, feedback inmediato, identificación de alumnos en riesgo</a:t>
            </a:r>
            <a:endParaRPr lang="en-US" sz="750" dirty="0"/>
          </a:p>
          <a:p>
            <a:pPr algn="l" marL="342900" indent="-342900">
              <a:lnSpc>
                <a:spcPts val="900"/>
              </a:lnSpc>
              <a:buSzPct val="100000"/>
              <a:buChar char="•"/>
            </a:pPr>
            <a:r>
              <a:rPr lang="en-US" sz="750" b="1" dirty="0">
                <a:solidFill>
                  <a:srgbClr val="1E3063"/>
                </a:solidFill>
                <a:latin typeface="Instrument Sans Medium" pitchFamily="34" charset="0"/>
                <a:ea typeface="Instrument Sans Medium" pitchFamily="34" charset="-122"/>
                <a:cs typeface="Instrument Sans Medium" pitchFamily="34" charset="-120"/>
              </a:rPr>
              <a:t>Desafíos:</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Privacidad de datos de menores, equidad algorítmica, resistencia del profesorado</a:t>
            </a:r>
            <a:endParaRPr lang="en-US" sz="750" dirty="0"/>
          </a:p>
          <a:p>
            <a:pPr algn="l" marL="342900" indent="-342900">
              <a:lnSpc>
                <a:spcPts val="900"/>
              </a:lnSpc>
              <a:buSzPct val="100000"/>
              <a:buChar char="•"/>
            </a:pPr>
            <a:r>
              <a:rPr lang="en-US" sz="750" b="1" dirty="0">
                <a:solidFill>
                  <a:srgbClr val="1E3063"/>
                </a:solidFill>
                <a:latin typeface="Instrument Sans Medium" pitchFamily="34" charset="0"/>
                <a:ea typeface="Instrument Sans Medium" pitchFamily="34" charset="-122"/>
                <a:cs typeface="Instrument Sans Medium" pitchFamily="34" charset="-120"/>
              </a:rPr>
              <a:t>Lección:</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La IA mejora la escala, no la calidad pedagógica intrínseca; el diseño instruccional sigue siendo clave</a:t>
            </a:r>
            <a:endParaRPr lang="en-US" sz="750" dirty="0"/>
          </a:p>
        </p:txBody>
      </p:sp>
      <p:sp>
        <p:nvSpPr>
          <p:cNvPr id="37" name="Text 34"/>
          <p:cNvSpPr/>
          <p:nvPr/>
        </p:nvSpPr>
        <p:spPr>
          <a:xfrm>
            <a:off x="3402449" y="7363420"/>
            <a:ext cx="4282797" cy="248007"/>
          </a:xfrm>
          <a:prstGeom prst="rect">
            <a:avLst/>
          </a:prstGeom>
          <a:noFill/>
          <a:ln/>
        </p:spPr>
        <p:txBody>
          <a:bodyPr wrap="none" lIns="0" tIns="0" rIns="0" bIns="0" rtlCol="0" anchor="t"/>
          <a:lstStyle/>
          <a:p>
            <a:pPr algn="l" indent="0" marL="0">
              <a:lnSpc>
                <a:spcPts val="1950"/>
              </a:lnSpc>
              <a:buNone/>
            </a:pPr>
            <a:r>
              <a:rPr lang="en-US" sz="1550" dirty="0">
                <a:solidFill>
                  <a:srgbClr val="091C53"/>
                </a:solidFill>
                <a:latin typeface="Instrument Sans Semi Bold" pitchFamily="34" charset="0"/>
                <a:ea typeface="Instrument Sans Semi Bold" pitchFamily="34" charset="-122"/>
                <a:cs typeface="Instrument Sans Semi Bold" pitchFamily="34" charset="-120"/>
              </a:rPr>
              <a:t>Marco para evaluar el ROI de un proyecto de IA</a:t>
            </a:r>
            <a:endParaRPr lang="en-US" sz="1550" dirty="0"/>
          </a:p>
        </p:txBody>
      </p:sp>
      <p:pic>
        <p:nvPicPr>
          <p:cNvPr id="38" name="Image 1" descr="preencoded.png">    </p:cNvPr>
          <p:cNvPicPr>
            <a:picLocks noChangeAspect="1"/>
          </p:cNvPicPr>
          <p:nvPr/>
        </p:nvPicPr>
        <p:blipFill>
          <a:blip r:embed="rId3"/>
          <a:stretch>
            <a:fillRect/>
          </a:stretch>
        </p:blipFill>
        <p:spPr>
          <a:xfrm>
            <a:off x="3402449" y="7685842"/>
            <a:ext cx="3912751" cy="396835"/>
          </a:xfrm>
          <a:prstGeom prst="rect">
            <a:avLst/>
          </a:prstGeom>
        </p:spPr>
      </p:pic>
      <p:sp>
        <p:nvSpPr>
          <p:cNvPr id="39" name="Text 35"/>
          <p:cNvSpPr/>
          <p:nvPr/>
        </p:nvSpPr>
        <p:spPr>
          <a:xfrm>
            <a:off x="3501628" y="8132207"/>
            <a:ext cx="1769269" cy="155019"/>
          </a:xfrm>
          <a:prstGeom prst="rect">
            <a:avLst/>
          </a:prstGeom>
          <a:noFill/>
          <a:ln/>
        </p:spPr>
        <p:txBody>
          <a:bodyPr wrap="none" lIns="0" tIns="0" rIns="0" bIns="0" rtlCol="0" anchor="t"/>
          <a:lstStyle/>
          <a:p>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1. Cuantificar el problema base</a:t>
            </a:r>
            <a:endParaRPr lang="en-US" sz="950" dirty="0"/>
          </a:p>
        </p:txBody>
      </p:sp>
      <p:sp>
        <p:nvSpPr>
          <p:cNvPr id="40" name="Text 36"/>
          <p:cNvSpPr/>
          <p:nvPr/>
        </p:nvSpPr>
        <p:spPr>
          <a:xfrm>
            <a:off x="3501628" y="8316992"/>
            <a:ext cx="3714393" cy="118943"/>
          </a:xfrm>
          <a:prstGeom prst="rect">
            <a:avLst/>
          </a:prstGeom>
          <a:noFill/>
          <a:ln/>
        </p:spPr>
        <p:txBody>
          <a:bodyPr wrap="non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¿Cuánto cuesta el problema hoy? (tiempo, errores, pérdidas, clientes perdidos)</a:t>
            </a:r>
            <a:endParaRPr lang="en-US" sz="750" dirty="0"/>
          </a:p>
        </p:txBody>
      </p:sp>
      <p:pic>
        <p:nvPicPr>
          <p:cNvPr id="41" name="Image 2" descr="preencoded.png">    </p:cNvPr>
          <p:cNvPicPr>
            <a:picLocks noChangeAspect="1"/>
          </p:cNvPicPr>
          <p:nvPr/>
        </p:nvPicPr>
        <p:blipFill>
          <a:blip r:embed="rId4"/>
          <a:stretch>
            <a:fillRect/>
          </a:stretch>
        </p:blipFill>
        <p:spPr>
          <a:xfrm>
            <a:off x="7315200" y="7685842"/>
            <a:ext cx="3912751" cy="396835"/>
          </a:xfrm>
          <a:prstGeom prst="rect">
            <a:avLst/>
          </a:prstGeom>
        </p:spPr>
      </p:pic>
      <p:sp>
        <p:nvSpPr>
          <p:cNvPr id="42" name="Text 37"/>
          <p:cNvSpPr/>
          <p:nvPr/>
        </p:nvSpPr>
        <p:spPr>
          <a:xfrm>
            <a:off x="7414379" y="8132207"/>
            <a:ext cx="1644253" cy="155019"/>
          </a:xfrm>
          <a:prstGeom prst="rect">
            <a:avLst/>
          </a:prstGeom>
          <a:noFill/>
          <a:ln/>
        </p:spPr>
        <p:txBody>
          <a:bodyPr wrap="none" lIns="0" tIns="0" rIns="0" bIns="0" rtlCol="0" anchor="t"/>
          <a:lstStyle/>
          <a:p>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2. Definir la mejora esperada</a:t>
            </a:r>
            <a:endParaRPr lang="en-US" sz="950" dirty="0"/>
          </a:p>
        </p:txBody>
      </p:sp>
      <p:sp>
        <p:nvSpPr>
          <p:cNvPr id="43" name="Text 38"/>
          <p:cNvSpPr/>
          <p:nvPr/>
        </p:nvSpPr>
        <p:spPr>
          <a:xfrm>
            <a:off x="7414379" y="8316992"/>
            <a:ext cx="3714393" cy="237887"/>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Establecer KPIs concretos: % reducción, tiempo ahorrado, tasa de conversión, NPS</a:t>
            </a:r>
            <a:endParaRPr lang="en-US" sz="750" dirty="0"/>
          </a:p>
        </p:txBody>
      </p:sp>
      <p:pic>
        <p:nvPicPr>
          <p:cNvPr id="44" name="Image 3" descr="preencoded.png">    </p:cNvPr>
          <p:cNvPicPr>
            <a:picLocks noChangeAspect="1"/>
          </p:cNvPicPr>
          <p:nvPr/>
        </p:nvPicPr>
        <p:blipFill>
          <a:blip r:embed="rId5"/>
          <a:stretch>
            <a:fillRect/>
          </a:stretch>
        </p:blipFill>
        <p:spPr>
          <a:xfrm>
            <a:off x="3402449" y="8654058"/>
            <a:ext cx="3912751" cy="396835"/>
          </a:xfrm>
          <a:prstGeom prst="rect">
            <a:avLst/>
          </a:prstGeom>
        </p:spPr>
      </p:pic>
      <p:sp>
        <p:nvSpPr>
          <p:cNvPr id="45" name="Text 39"/>
          <p:cNvSpPr/>
          <p:nvPr/>
        </p:nvSpPr>
        <p:spPr>
          <a:xfrm>
            <a:off x="3501628" y="9100423"/>
            <a:ext cx="1346359" cy="155019"/>
          </a:xfrm>
          <a:prstGeom prst="rect">
            <a:avLst/>
          </a:prstGeom>
          <a:noFill/>
          <a:ln/>
        </p:spPr>
        <p:txBody>
          <a:bodyPr wrap="none" lIns="0" tIns="0" rIns="0" bIns="0" rtlCol="0" anchor="t"/>
          <a:lstStyle/>
          <a:p>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3. Estimar el coste total</a:t>
            </a:r>
            <a:endParaRPr lang="en-US" sz="950" dirty="0"/>
          </a:p>
        </p:txBody>
      </p:sp>
      <p:sp>
        <p:nvSpPr>
          <p:cNvPr id="46" name="Text 40"/>
          <p:cNvSpPr/>
          <p:nvPr/>
        </p:nvSpPr>
        <p:spPr>
          <a:xfrm>
            <a:off x="3501628" y="9285208"/>
            <a:ext cx="3714393" cy="118943"/>
          </a:xfrm>
          <a:prstGeom prst="rect">
            <a:avLst/>
          </a:prstGeom>
          <a:noFill/>
          <a:ln/>
        </p:spPr>
        <p:txBody>
          <a:bodyPr wrap="non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Datos, infraestructura, talento, integración, mantenimiento y gestión del cambio</a:t>
            </a:r>
            <a:endParaRPr lang="en-US" sz="750" dirty="0"/>
          </a:p>
        </p:txBody>
      </p:sp>
      <p:pic>
        <p:nvPicPr>
          <p:cNvPr id="47" name="Image 4" descr="preencoded.png">    </p:cNvPr>
          <p:cNvPicPr>
            <a:picLocks noChangeAspect="1"/>
          </p:cNvPicPr>
          <p:nvPr/>
        </p:nvPicPr>
        <p:blipFill>
          <a:blip r:embed="rId6"/>
          <a:stretch>
            <a:fillRect/>
          </a:stretch>
        </p:blipFill>
        <p:spPr>
          <a:xfrm>
            <a:off x="7315200" y="8654058"/>
            <a:ext cx="3912751" cy="396835"/>
          </a:xfrm>
          <a:prstGeom prst="rect">
            <a:avLst/>
          </a:prstGeom>
        </p:spPr>
      </p:pic>
      <p:sp>
        <p:nvSpPr>
          <p:cNvPr id="48" name="Text 41"/>
          <p:cNvSpPr/>
          <p:nvPr/>
        </p:nvSpPr>
        <p:spPr>
          <a:xfrm>
            <a:off x="7414379" y="9100423"/>
            <a:ext cx="1240393" cy="155019"/>
          </a:xfrm>
          <a:prstGeom prst="rect">
            <a:avLst/>
          </a:prstGeom>
          <a:noFill/>
          <a:ln/>
        </p:spPr>
        <p:txBody>
          <a:bodyPr wrap="none" lIns="0" tIns="0" rIns="0" bIns="0" rtlCol="0" anchor="t"/>
          <a:lstStyle/>
          <a:p>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4. Pilotar y medir</a:t>
            </a:r>
            <a:endParaRPr lang="en-US" sz="950" dirty="0"/>
          </a:p>
        </p:txBody>
      </p:sp>
      <p:sp>
        <p:nvSpPr>
          <p:cNvPr id="49" name="Text 42"/>
          <p:cNvSpPr/>
          <p:nvPr/>
        </p:nvSpPr>
        <p:spPr>
          <a:xfrm>
            <a:off x="7414379" y="9285208"/>
            <a:ext cx="3714393" cy="118943"/>
          </a:xfrm>
          <a:prstGeom prst="rect">
            <a:avLst/>
          </a:prstGeom>
          <a:noFill/>
          <a:ln/>
        </p:spPr>
        <p:txBody>
          <a:bodyPr wrap="non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A/B test o piloto controlado para validar el impacto real antes de escalar</a:t>
            </a:r>
            <a:endParaRPr lang="en-US" sz="750" dirty="0"/>
          </a:p>
        </p:txBody>
      </p:sp>
      <p:sp>
        <p:nvSpPr>
          <p:cNvPr id="50" name="Text 43"/>
          <p:cNvSpPr/>
          <p:nvPr/>
        </p:nvSpPr>
        <p:spPr>
          <a:xfrm>
            <a:off x="3402449" y="9577745"/>
            <a:ext cx="3945374" cy="248007"/>
          </a:xfrm>
          <a:prstGeom prst="rect">
            <a:avLst/>
          </a:prstGeom>
          <a:noFill/>
          <a:ln/>
        </p:spPr>
        <p:txBody>
          <a:bodyPr wrap="none" lIns="0" tIns="0" rIns="0" bIns="0" rtlCol="0" anchor="t"/>
          <a:lstStyle/>
          <a:p>
            <a:pPr algn="l" indent="0" marL="0">
              <a:lnSpc>
                <a:spcPts val="1950"/>
              </a:lnSpc>
              <a:buNone/>
            </a:pPr>
            <a:r>
              <a:rPr lang="en-US" sz="1550" dirty="0">
                <a:solidFill>
                  <a:srgbClr val="091C53"/>
                </a:solidFill>
                <a:latin typeface="Instrument Sans Semi Bold" pitchFamily="34" charset="0"/>
                <a:ea typeface="Instrument Sans Semi Bold" pitchFamily="34" charset="-122"/>
                <a:cs typeface="Instrument Sans Semi Bold" pitchFamily="34" charset="-120"/>
              </a:rPr>
              <a:t>Desafíos transversales de implementación</a:t>
            </a:r>
            <a:endParaRPr lang="en-US" sz="1550" dirty="0"/>
          </a:p>
        </p:txBody>
      </p:sp>
      <p:sp>
        <p:nvSpPr>
          <p:cNvPr id="51" name="Shape 44"/>
          <p:cNvSpPr/>
          <p:nvPr/>
        </p:nvSpPr>
        <p:spPr>
          <a:xfrm>
            <a:off x="3402449" y="9955887"/>
            <a:ext cx="1871067" cy="886301"/>
          </a:xfrm>
          <a:prstGeom prst="roundRect">
            <a:avLst>
              <a:gd name="adj" fmla="val 10077"/>
            </a:avLst>
          </a:prstGeom>
          <a:solidFill>
            <a:srgbClr val="CEE6FD"/>
          </a:solidFill>
          <a:ln/>
        </p:spPr>
      </p:sp>
      <p:sp>
        <p:nvSpPr>
          <p:cNvPr id="52" name="Text 45"/>
          <p:cNvSpPr/>
          <p:nvPr/>
        </p:nvSpPr>
        <p:spPr>
          <a:xfrm>
            <a:off x="3501628" y="10055066"/>
            <a:ext cx="1240393" cy="162639"/>
          </a:xfrm>
          <a:prstGeom prst="rect">
            <a:avLst/>
          </a:prstGeom>
          <a:noFill/>
          <a:ln/>
        </p:spPr>
        <p:txBody>
          <a:bodyPr wrap="none" lIns="0" tIns="0" rIns="0" bIns="0" rtlCol="0" anchor="t"/>
          <a:lstStyle/>
          <a:p>
            <a:pPr algn="l" indent="0" marL="0">
              <a:lnSpc>
                <a:spcPts val="1200"/>
              </a:lnSpc>
              <a:buNone/>
            </a:pPr>
            <a:r>
              <a:rPr lang="en-US" sz="950" dirty="0">
                <a:solidFill>
                  <a:srgbClr val="000000"/>
                </a:solidFill>
                <a:latin typeface="Instrument Sans Semi Bold" pitchFamily="34" charset="0"/>
                <a:ea typeface="Instrument Sans Semi Bold" pitchFamily="34" charset="-122"/>
                <a:cs typeface="Instrument Sans Semi Bold" pitchFamily="34" charset="-120"/>
              </a:rPr>
              <a:t>📂</a:t>
            </a:r>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 Calidad de datos</a:t>
            </a:r>
            <a:endParaRPr lang="en-US" sz="950" dirty="0"/>
          </a:p>
        </p:txBody>
      </p:sp>
      <p:sp>
        <p:nvSpPr>
          <p:cNvPr id="53" name="Text 46"/>
          <p:cNvSpPr/>
          <p:nvPr/>
        </p:nvSpPr>
        <p:spPr>
          <a:xfrm>
            <a:off x="3501628" y="10267236"/>
            <a:ext cx="1672709" cy="475774"/>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El 60–80% del esfuerzo está en preparar, limpiar e integrar datos. Sin datos fiables, ningún modelo funciona en producción.</a:t>
            </a:r>
            <a:endParaRPr lang="en-US" sz="750" dirty="0"/>
          </a:p>
        </p:txBody>
      </p:sp>
      <p:sp>
        <p:nvSpPr>
          <p:cNvPr id="54" name="Shape 47"/>
          <p:cNvSpPr/>
          <p:nvPr/>
        </p:nvSpPr>
        <p:spPr>
          <a:xfrm>
            <a:off x="5323046" y="9955887"/>
            <a:ext cx="1871186" cy="886301"/>
          </a:xfrm>
          <a:prstGeom prst="roundRect">
            <a:avLst>
              <a:gd name="adj" fmla="val 10077"/>
            </a:avLst>
          </a:prstGeom>
          <a:solidFill>
            <a:srgbClr val="CEE6FD"/>
          </a:solidFill>
          <a:ln/>
        </p:spPr>
      </p:sp>
      <p:sp>
        <p:nvSpPr>
          <p:cNvPr id="55" name="Text 48"/>
          <p:cNvSpPr/>
          <p:nvPr/>
        </p:nvSpPr>
        <p:spPr>
          <a:xfrm>
            <a:off x="5422225" y="10055066"/>
            <a:ext cx="1299924" cy="162639"/>
          </a:xfrm>
          <a:prstGeom prst="rect">
            <a:avLst/>
          </a:prstGeom>
          <a:noFill/>
          <a:ln/>
        </p:spPr>
        <p:txBody>
          <a:bodyPr wrap="none" lIns="0" tIns="0" rIns="0" bIns="0" rtlCol="0" anchor="t"/>
          <a:lstStyle/>
          <a:p>
            <a:pPr algn="l" indent="0" marL="0">
              <a:lnSpc>
                <a:spcPts val="1200"/>
              </a:lnSpc>
              <a:buNone/>
            </a:pPr>
            <a:r>
              <a:rPr lang="en-US" sz="950" dirty="0">
                <a:solidFill>
                  <a:srgbClr val="000000"/>
                </a:solidFill>
                <a:latin typeface="Instrument Sans Semi Bold" pitchFamily="34" charset="0"/>
                <a:ea typeface="Instrument Sans Semi Bold" pitchFamily="34" charset="-122"/>
                <a:cs typeface="Instrument Sans Semi Bold" pitchFamily="34" charset="-120"/>
              </a:rPr>
              <a:t>🔗</a:t>
            </a:r>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 Integración técnica</a:t>
            </a:r>
            <a:endParaRPr lang="en-US" sz="950" dirty="0"/>
          </a:p>
        </p:txBody>
      </p:sp>
      <p:sp>
        <p:nvSpPr>
          <p:cNvPr id="56" name="Text 49"/>
          <p:cNvSpPr/>
          <p:nvPr/>
        </p:nvSpPr>
        <p:spPr>
          <a:xfrm>
            <a:off x="5422225" y="10267236"/>
            <a:ext cx="1672828" cy="475774"/>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Conectar sistemas legacy, ERP, CRM y fuentes externas exige arquitectura robusta y equipos con expertise tanto en IA como en IT.</a:t>
            </a:r>
            <a:endParaRPr lang="en-US" sz="750" dirty="0"/>
          </a:p>
        </p:txBody>
      </p:sp>
      <p:sp>
        <p:nvSpPr>
          <p:cNvPr id="57" name="Shape 50"/>
          <p:cNvSpPr/>
          <p:nvPr/>
        </p:nvSpPr>
        <p:spPr>
          <a:xfrm>
            <a:off x="3402449" y="10891718"/>
            <a:ext cx="3791783" cy="648414"/>
          </a:xfrm>
          <a:prstGeom prst="roundRect">
            <a:avLst>
              <a:gd name="adj" fmla="val 13774"/>
            </a:avLst>
          </a:prstGeom>
          <a:solidFill>
            <a:srgbClr val="CEE6FD"/>
          </a:solidFill>
          <a:ln/>
        </p:spPr>
      </p:sp>
      <p:sp>
        <p:nvSpPr>
          <p:cNvPr id="58" name="Text 51"/>
          <p:cNvSpPr/>
          <p:nvPr/>
        </p:nvSpPr>
        <p:spPr>
          <a:xfrm>
            <a:off x="3501628" y="10990898"/>
            <a:ext cx="1301115" cy="162639"/>
          </a:xfrm>
          <a:prstGeom prst="rect">
            <a:avLst/>
          </a:prstGeom>
          <a:noFill/>
          <a:ln/>
        </p:spPr>
        <p:txBody>
          <a:bodyPr wrap="none" lIns="0" tIns="0" rIns="0" bIns="0" rtlCol="0" anchor="t"/>
          <a:lstStyle/>
          <a:p>
            <a:pPr algn="l" indent="0" marL="0">
              <a:lnSpc>
                <a:spcPts val="1200"/>
              </a:lnSpc>
              <a:buNone/>
            </a:pPr>
            <a:r>
              <a:rPr lang="en-US" sz="950" dirty="0">
                <a:solidFill>
                  <a:srgbClr val="000000"/>
                </a:solidFill>
                <a:latin typeface="Instrument Sans Semi Bold" pitchFamily="34" charset="0"/>
                <a:ea typeface="Instrument Sans Semi Bold" pitchFamily="34" charset="-122"/>
                <a:cs typeface="Instrument Sans Semi Bold" pitchFamily="34" charset="-120"/>
              </a:rPr>
              <a:t>👥</a:t>
            </a:r>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 Gestión del cambio</a:t>
            </a:r>
            <a:endParaRPr lang="en-US" sz="950" dirty="0"/>
          </a:p>
        </p:txBody>
      </p:sp>
      <p:sp>
        <p:nvSpPr>
          <p:cNvPr id="59" name="Text 52"/>
          <p:cNvSpPr/>
          <p:nvPr/>
        </p:nvSpPr>
        <p:spPr>
          <a:xfrm>
            <a:off x="3501628" y="11203067"/>
            <a:ext cx="3593425" cy="237887"/>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La resistencia humana es el principal freno. El reskilling, la comunicación y el liderazgo visible son críticos para la adopción real.</a:t>
            </a:r>
            <a:endParaRPr lang="en-US" sz="750" dirty="0"/>
          </a:p>
        </p:txBody>
      </p:sp>
      <p:sp>
        <p:nvSpPr>
          <p:cNvPr id="60" name="Shape 53"/>
          <p:cNvSpPr/>
          <p:nvPr/>
        </p:nvSpPr>
        <p:spPr>
          <a:xfrm>
            <a:off x="7443788" y="9955887"/>
            <a:ext cx="1871067" cy="1160264"/>
          </a:xfrm>
          <a:prstGeom prst="roundRect">
            <a:avLst>
              <a:gd name="adj" fmla="val 7698"/>
            </a:avLst>
          </a:prstGeom>
          <a:solidFill>
            <a:srgbClr val="CEE6FD"/>
          </a:solidFill>
          <a:ln/>
        </p:spPr>
      </p:sp>
      <p:sp>
        <p:nvSpPr>
          <p:cNvPr id="61" name="Text 54"/>
          <p:cNvSpPr/>
          <p:nvPr/>
        </p:nvSpPr>
        <p:spPr>
          <a:xfrm>
            <a:off x="7542967" y="10055066"/>
            <a:ext cx="1240393" cy="162639"/>
          </a:xfrm>
          <a:prstGeom prst="rect">
            <a:avLst/>
          </a:prstGeom>
          <a:noFill/>
          <a:ln/>
        </p:spPr>
        <p:txBody>
          <a:bodyPr wrap="none" lIns="0" tIns="0" rIns="0" bIns="0" rtlCol="0" anchor="t"/>
          <a:lstStyle/>
          <a:p>
            <a:pPr algn="l" indent="0" marL="0">
              <a:lnSpc>
                <a:spcPts val="1200"/>
              </a:lnSpc>
              <a:buNone/>
            </a:pPr>
            <a:r>
              <a:rPr lang="en-US" sz="950" dirty="0">
                <a:solidFill>
                  <a:srgbClr val="000000"/>
                </a:solidFill>
                <a:latin typeface="Instrument Sans Semi Bold" pitchFamily="34" charset="0"/>
                <a:ea typeface="Instrument Sans Semi Bold" pitchFamily="34" charset="-122"/>
                <a:cs typeface="Instrument Sans Semi Bold" pitchFamily="34" charset="-120"/>
              </a:rPr>
              <a:t>⚖️</a:t>
            </a:r>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 Ética y regulación</a:t>
            </a:r>
            <a:endParaRPr lang="en-US" sz="950" dirty="0"/>
          </a:p>
        </p:txBody>
      </p:sp>
      <p:sp>
        <p:nvSpPr>
          <p:cNvPr id="62" name="Text 55"/>
          <p:cNvSpPr/>
          <p:nvPr/>
        </p:nvSpPr>
        <p:spPr>
          <a:xfrm>
            <a:off x="7542967" y="10267236"/>
            <a:ext cx="1672709" cy="475774"/>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Sesgos, explicabilidad, privacidad (GDPR) y cumplimiento normativo son requisitos no negociables en sectores regulados.</a:t>
            </a:r>
            <a:endParaRPr lang="en-US" sz="750" dirty="0"/>
          </a:p>
        </p:txBody>
      </p:sp>
      <p:sp>
        <p:nvSpPr>
          <p:cNvPr id="63" name="Shape 56"/>
          <p:cNvSpPr/>
          <p:nvPr/>
        </p:nvSpPr>
        <p:spPr>
          <a:xfrm>
            <a:off x="9364385" y="9955887"/>
            <a:ext cx="1871186" cy="1160264"/>
          </a:xfrm>
          <a:prstGeom prst="roundRect">
            <a:avLst>
              <a:gd name="adj" fmla="val 7698"/>
            </a:avLst>
          </a:prstGeom>
          <a:solidFill>
            <a:srgbClr val="CEE6FD"/>
          </a:solidFill>
          <a:ln/>
        </p:spPr>
      </p:sp>
      <p:sp>
        <p:nvSpPr>
          <p:cNvPr id="64" name="Text 57"/>
          <p:cNvSpPr/>
          <p:nvPr/>
        </p:nvSpPr>
        <p:spPr>
          <a:xfrm>
            <a:off x="9463564" y="10055066"/>
            <a:ext cx="1672828" cy="317659"/>
          </a:xfrm>
          <a:prstGeom prst="rect">
            <a:avLst/>
          </a:prstGeom>
          <a:noFill/>
          <a:ln/>
        </p:spPr>
        <p:txBody>
          <a:bodyPr wrap="square" lIns="0" tIns="0" rIns="0" bIns="0" rtlCol="0" anchor="t"/>
          <a:lstStyle/>
          <a:p>
            <a:pPr algn="l" indent="0" marL="0">
              <a:lnSpc>
                <a:spcPts val="1200"/>
              </a:lnSpc>
              <a:buNone/>
            </a:pPr>
            <a:r>
              <a:rPr lang="en-US" sz="950" dirty="0">
                <a:solidFill>
                  <a:srgbClr val="000000"/>
                </a:solidFill>
                <a:latin typeface="Instrument Sans Semi Bold" pitchFamily="34" charset="0"/>
                <a:ea typeface="Instrument Sans Semi Bold" pitchFamily="34" charset="-122"/>
                <a:cs typeface="Instrument Sans Semi Bold" pitchFamily="34" charset="-120"/>
              </a:rPr>
              <a:t>🔄</a:t>
            </a:r>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 Mantenimiento del modelo</a:t>
            </a:r>
            <a:endParaRPr lang="en-US" sz="950" dirty="0"/>
          </a:p>
        </p:txBody>
      </p:sp>
      <p:sp>
        <p:nvSpPr>
          <p:cNvPr id="65" name="Text 58"/>
          <p:cNvSpPr/>
          <p:nvPr/>
        </p:nvSpPr>
        <p:spPr>
          <a:xfrm>
            <a:off x="9463564" y="10422255"/>
            <a:ext cx="1672828" cy="594717"/>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Los modelos se degradan con el tiempo (</a:t>
            </a:r>
            <a:pPr algn="l" indent="0" marL="0">
              <a:lnSpc>
                <a:spcPts val="900"/>
              </a:lnSpc>
              <a:buNone/>
            </a:pPr>
            <a:r>
              <a:rPr lang="en-US" sz="750" i="1" dirty="0">
                <a:solidFill>
                  <a:srgbClr val="1E3063"/>
                </a:solidFill>
                <a:latin typeface="Instrument Sans Medium" pitchFamily="34" charset="0"/>
                <a:ea typeface="Instrument Sans Medium" pitchFamily="34" charset="-122"/>
                <a:cs typeface="Instrument Sans Medium" pitchFamily="34" charset="-120"/>
              </a:rPr>
              <a:t>model drift</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Se necesitan pipelines de reentrenamiento y monitorización continua en producción.</a:t>
            </a:r>
            <a:endParaRPr lang="en-US" sz="750" dirty="0"/>
          </a:p>
        </p:txBody>
      </p:sp>
      <p:sp>
        <p:nvSpPr>
          <p:cNvPr id="66" name="Shape 59"/>
          <p:cNvSpPr/>
          <p:nvPr/>
        </p:nvSpPr>
        <p:spPr>
          <a:xfrm>
            <a:off x="7443788" y="11165681"/>
            <a:ext cx="3791783" cy="648414"/>
          </a:xfrm>
          <a:prstGeom prst="roundRect">
            <a:avLst>
              <a:gd name="adj" fmla="val 13774"/>
            </a:avLst>
          </a:prstGeom>
          <a:solidFill>
            <a:srgbClr val="CEE6FD"/>
          </a:solidFill>
          <a:ln/>
        </p:spPr>
      </p:sp>
      <p:sp>
        <p:nvSpPr>
          <p:cNvPr id="67" name="Text 60"/>
          <p:cNvSpPr/>
          <p:nvPr/>
        </p:nvSpPr>
        <p:spPr>
          <a:xfrm>
            <a:off x="7542967" y="11264860"/>
            <a:ext cx="1240393" cy="162639"/>
          </a:xfrm>
          <a:prstGeom prst="rect">
            <a:avLst/>
          </a:prstGeom>
          <a:noFill/>
          <a:ln/>
        </p:spPr>
        <p:txBody>
          <a:bodyPr wrap="none" lIns="0" tIns="0" rIns="0" bIns="0" rtlCol="0" anchor="t"/>
          <a:lstStyle/>
          <a:p>
            <a:pPr algn="l" indent="0" marL="0">
              <a:lnSpc>
                <a:spcPts val="1200"/>
              </a:lnSpc>
              <a:buNone/>
            </a:pPr>
            <a:r>
              <a:rPr lang="en-US" sz="950" dirty="0">
                <a:solidFill>
                  <a:srgbClr val="000000"/>
                </a:solidFill>
                <a:latin typeface="Instrument Sans Semi Bold" pitchFamily="34" charset="0"/>
                <a:ea typeface="Instrument Sans Semi Bold" pitchFamily="34" charset="-122"/>
                <a:cs typeface="Instrument Sans Semi Bold" pitchFamily="34" charset="-120"/>
              </a:rPr>
              <a:t>📏</a:t>
            </a:r>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 Escalabilidad</a:t>
            </a:r>
            <a:endParaRPr lang="en-US" sz="950" dirty="0"/>
          </a:p>
        </p:txBody>
      </p:sp>
      <p:sp>
        <p:nvSpPr>
          <p:cNvPr id="68" name="Text 61"/>
          <p:cNvSpPr/>
          <p:nvPr/>
        </p:nvSpPr>
        <p:spPr>
          <a:xfrm>
            <a:off x="7542967" y="11477030"/>
            <a:ext cx="3593425" cy="237887"/>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Lo que funciona en un piloto de 1.000 casos puede fallar con 1M. La arquitectura MLOps y la gobernanza deben diseñarse desde el inicio.</a:t>
            </a:r>
            <a:endParaRPr lang="en-US" sz="750" dirty="0"/>
          </a:p>
        </p:txBody>
      </p:sp>
      <p:sp>
        <p:nvSpPr>
          <p:cNvPr id="69" name="Shape 62"/>
          <p:cNvSpPr/>
          <p:nvPr/>
        </p:nvSpPr>
        <p:spPr>
          <a:xfrm>
            <a:off x="3402449" y="11925538"/>
            <a:ext cx="7825502" cy="406360"/>
          </a:xfrm>
          <a:prstGeom prst="roundRect">
            <a:avLst>
              <a:gd name="adj" fmla="val 21979"/>
            </a:avLst>
          </a:prstGeom>
          <a:solidFill>
            <a:srgbClr val="B5DAFC"/>
          </a:solidFill>
          <a:ln/>
        </p:spPr>
      </p:sp>
      <p:pic>
        <p:nvPicPr>
          <p:cNvPr id="70" name="Image 5" descr="preencoded.png">    </p:cNvPr>
          <p:cNvPicPr>
            <a:picLocks noChangeAspect="1"/>
          </p:cNvPicPr>
          <p:nvPr/>
        </p:nvPicPr>
        <p:blipFill>
          <a:blip r:embed="rId7"/>
          <a:stretch>
            <a:fillRect/>
          </a:stretch>
        </p:blipFill>
        <p:spPr>
          <a:xfrm>
            <a:off x="3501628" y="12054126"/>
            <a:ext cx="123944" cy="99179"/>
          </a:xfrm>
          <a:prstGeom prst="rect">
            <a:avLst/>
          </a:prstGeom>
        </p:spPr>
      </p:pic>
      <p:sp>
        <p:nvSpPr>
          <p:cNvPr id="71" name="Text 63"/>
          <p:cNvSpPr/>
          <p:nvPr/>
        </p:nvSpPr>
        <p:spPr>
          <a:xfrm>
            <a:off x="3724751" y="11999833"/>
            <a:ext cx="7404021" cy="237887"/>
          </a:xfrm>
          <a:prstGeom prst="rect">
            <a:avLst/>
          </a:prstGeom>
          <a:noFill/>
          <a:ln/>
        </p:spPr>
        <p:txBody>
          <a:bodyPr wrap="square" lIns="0" tIns="0" rIns="0" bIns="0" rtlCol="0" anchor="t"/>
          <a:lstStyle/>
          <a:p>
            <a:pPr algn="l" indent="0" marL="0">
              <a:lnSpc>
                <a:spcPts val="900"/>
              </a:lnSpc>
              <a:buNone/>
            </a:pPr>
            <a:r>
              <a:rPr lang="en-US" sz="750" dirty="0">
                <a:solidFill>
                  <a:srgbClr val="000000"/>
                </a:solidFill>
                <a:latin typeface="Instrument Sans Medium" pitchFamily="34" charset="0"/>
                <a:ea typeface="Instrument Sans Medium" pitchFamily="34" charset="-122"/>
                <a:cs typeface="Instrument Sans Medium" pitchFamily="34" charset="-120"/>
              </a:rPr>
              <a:t>💡</a:t>
            </a:r>
            <a:pPr algn="l" indent="0" marL="0">
              <a:lnSpc>
                <a:spcPts val="900"/>
              </a:lnSpc>
              <a:buNone/>
            </a:pPr>
            <a:r>
              <a:rPr lang="en-US" sz="750" dirty="0">
                <a:solidFill>
                  <a:srgbClr val="000000"/>
                </a:solidFill>
                <a:latin typeface="Instrument Sans Medium" pitchFamily="34" charset="0"/>
                <a:ea typeface="Instrument Sans Medium" pitchFamily="34" charset="-122"/>
                <a:cs typeface="Instrument Sans Medium" pitchFamily="34" charset="-120"/>
              </a:rPr>
              <a:t> </a:t>
            </a:r>
            <a:pPr algn="l" indent="0" marL="0">
              <a:lnSpc>
                <a:spcPts val="900"/>
              </a:lnSpc>
              <a:buNone/>
            </a:pPr>
            <a:r>
              <a:rPr lang="en-US" sz="750" b="1" dirty="0">
                <a:solidFill>
                  <a:srgbClr val="000000"/>
                </a:solidFill>
                <a:latin typeface="Instrument Sans Medium" pitchFamily="34" charset="0"/>
                <a:ea typeface="Instrument Sans Medium" pitchFamily="34" charset="-122"/>
                <a:cs typeface="Instrument Sans Medium" pitchFamily="34" charset="-120"/>
              </a:rPr>
              <a:t>Lección maestra:</a:t>
            </a:r>
            <a:pPr algn="l" indent="0" marL="0">
              <a:lnSpc>
                <a:spcPts val="900"/>
              </a:lnSpc>
              <a:buNone/>
            </a:pPr>
            <a:r>
              <a:rPr lang="en-US" sz="750" dirty="0">
                <a:solidFill>
                  <a:srgbClr val="000000"/>
                </a:solidFill>
                <a:latin typeface="Instrument Sans Medium" pitchFamily="34" charset="0"/>
                <a:ea typeface="Instrument Sans Medium" pitchFamily="34" charset="-122"/>
                <a:cs typeface="Instrument Sans Medium" pitchFamily="34" charset="-120"/>
              </a:rPr>
              <a:t> Los proyectos de IA con mayor ROI no son los más sofisticados tecnológicamente, sino los que resuelven un </a:t>
            </a:r>
            <a:pPr algn="l" indent="0" marL="0">
              <a:lnSpc>
                <a:spcPts val="900"/>
              </a:lnSpc>
              <a:buNone/>
            </a:pPr>
            <a:r>
              <a:rPr lang="en-US" sz="750" b="1" dirty="0">
                <a:solidFill>
                  <a:srgbClr val="000000"/>
                </a:solidFill>
                <a:latin typeface="Instrument Sans Medium" pitchFamily="34" charset="0"/>
                <a:ea typeface="Instrument Sans Medium" pitchFamily="34" charset="-122"/>
                <a:cs typeface="Instrument Sans Medium" pitchFamily="34" charset="-120"/>
              </a:rPr>
              <a:t>problema de negocio concreto, con datos disponibles, patrocinio directivo y un equipo comprometido con la adopción</a:t>
            </a:r>
            <a:pPr algn="l" indent="0" marL="0">
              <a:lnSpc>
                <a:spcPts val="900"/>
              </a:lnSpc>
              <a:buNone/>
            </a:pPr>
            <a:r>
              <a:rPr lang="en-US" sz="750" dirty="0">
                <a:solidFill>
                  <a:srgbClr val="000000"/>
                </a:solidFill>
                <a:latin typeface="Instrument Sans Medium" pitchFamily="34" charset="0"/>
                <a:ea typeface="Instrument Sans Medium" pitchFamily="34" charset="-122"/>
                <a:cs typeface="Instrument Sans Medium" pitchFamily="34" charset="-120"/>
              </a:rPr>
              <a:t>.</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402449" y="310634"/>
            <a:ext cx="79296" cy="79296"/>
          </a:xfrm>
          <a:prstGeom prst="rect">
            <a:avLst/>
          </a:prstGeom>
        </p:spPr>
      </p:pic>
      <p:sp>
        <p:nvSpPr>
          <p:cNvPr id="3" name="Text 0"/>
          <p:cNvSpPr/>
          <p:nvPr/>
        </p:nvSpPr>
        <p:spPr>
          <a:xfrm>
            <a:off x="3521393" y="302657"/>
            <a:ext cx="541377" cy="95250"/>
          </a:xfrm>
          <a:prstGeom prst="rect">
            <a:avLst/>
          </a:prstGeom>
          <a:noFill/>
          <a:ln/>
        </p:spPr>
        <p:txBody>
          <a:bodyPr wrap="none" lIns="0" tIns="0" rIns="0" bIns="0" rtlCol="0" anchor="t"/>
          <a:lstStyle/>
          <a:p>
            <a:pPr algn="l" indent="0" marL="0">
              <a:lnSpc>
                <a:spcPts val="750"/>
              </a:lnSpc>
              <a:buNone/>
            </a:pPr>
            <a:r>
              <a:rPr lang="en-US" sz="600" dirty="0">
                <a:solidFill>
                  <a:srgbClr val="84C1FA"/>
                </a:solidFill>
                <a:latin typeface="Instrument Sans Medium" pitchFamily="34" charset="0"/>
                <a:ea typeface="Instrument Sans Medium" pitchFamily="34" charset="-122"/>
                <a:cs typeface="Instrument Sans Medium" pitchFamily="34" charset="-120"/>
              </a:rPr>
              <a:t>APARTADO 1.4</a:t>
            </a:r>
            <a:endParaRPr lang="en-US" sz="600" dirty="0"/>
          </a:p>
        </p:txBody>
      </p:sp>
      <p:sp>
        <p:nvSpPr>
          <p:cNvPr id="4" name="Text 1"/>
          <p:cNvSpPr/>
          <p:nvPr/>
        </p:nvSpPr>
        <p:spPr>
          <a:xfrm>
            <a:off x="3402449" y="447437"/>
            <a:ext cx="7349490" cy="310158"/>
          </a:xfrm>
          <a:prstGeom prst="rect">
            <a:avLst/>
          </a:prstGeom>
          <a:noFill/>
          <a:ln/>
        </p:spPr>
        <p:txBody>
          <a:bodyPr wrap="none" lIns="0" tIns="0" rIns="0" bIns="0" rtlCol="0" anchor="t"/>
          <a:lstStyle/>
          <a:p>
            <a:pPr algn="l" indent="0" marL="0">
              <a:lnSpc>
                <a:spcPts val="2400"/>
              </a:lnSpc>
              <a:buNone/>
            </a:pPr>
            <a:r>
              <a:rPr lang="en-US" sz="1950" dirty="0">
                <a:solidFill>
                  <a:srgbClr val="091C53"/>
                </a:solidFill>
                <a:latin typeface="Instrument Sans Semi Bold" pitchFamily="34" charset="0"/>
                <a:ea typeface="Instrument Sans Semi Bold" pitchFamily="34" charset="-122"/>
                <a:cs typeface="Instrument Sans Semi Bold" pitchFamily="34" charset="-120"/>
              </a:rPr>
              <a:t>Casos de Éxito y Fracaso: Ejemplos Reales en Diversos Sectores</a:t>
            </a:r>
            <a:endParaRPr lang="en-US" sz="1950" dirty="0"/>
          </a:p>
        </p:txBody>
      </p:sp>
      <p:sp>
        <p:nvSpPr>
          <p:cNvPr id="5" name="Text 2"/>
          <p:cNvSpPr/>
          <p:nvPr/>
        </p:nvSpPr>
        <p:spPr>
          <a:xfrm>
            <a:off x="3402449" y="832009"/>
            <a:ext cx="7825502" cy="237887"/>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Analizar implantaciones reales de IA permite extraer </a:t>
            </a:r>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patrones transferibles</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tanto de los proyectos que triunfaron como de los que fracasaron. La diferencia entre ambos rara vez es tecnológica.</a:t>
            </a:r>
            <a:endParaRPr lang="en-US" sz="750" dirty="0"/>
          </a:p>
        </p:txBody>
      </p:sp>
      <p:sp>
        <p:nvSpPr>
          <p:cNvPr id="6" name="Text 3"/>
          <p:cNvSpPr/>
          <p:nvPr/>
        </p:nvSpPr>
        <p:spPr>
          <a:xfrm>
            <a:off x="3402449" y="1144310"/>
            <a:ext cx="3658553" cy="248007"/>
          </a:xfrm>
          <a:prstGeom prst="rect">
            <a:avLst/>
          </a:prstGeom>
          <a:noFill/>
          <a:ln/>
        </p:spPr>
        <p:txBody>
          <a:bodyPr wrap="none" lIns="0" tIns="0" rIns="0" bIns="0" rtlCol="0" anchor="t"/>
          <a:lstStyle/>
          <a:p>
            <a:pPr algn="l" indent="0" marL="0">
              <a:lnSpc>
                <a:spcPts val="1950"/>
              </a:lnSpc>
              <a:buNone/>
            </a:pPr>
            <a:r>
              <a:rPr lang="en-US" sz="1550" dirty="0">
                <a:solidFill>
                  <a:srgbClr val="091C53"/>
                </a:solidFill>
                <a:latin typeface="Instrument Sans Semi Bold" pitchFamily="34" charset="0"/>
                <a:ea typeface="Instrument Sans Semi Bold" pitchFamily="34" charset="-122"/>
                <a:cs typeface="Instrument Sans Semi Bold" pitchFamily="34" charset="-120"/>
              </a:rPr>
              <a:t>Implementaciones exitosas destacadas</a:t>
            </a:r>
            <a:endParaRPr lang="en-US" sz="1550" dirty="0"/>
          </a:p>
        </p:txBody>
      </p:sp>
      <p:sp>
        <p:nvSpPr>
          <p:cNvPr id="7" name="Shape 4"/>
          <p:cNvSpPr/>
          <p:nvPr/>
        </p:nvSpPr>
        <p:spPr>
          <a:xfrm>
            <a:off x="3402449" y="1466731"/>
            <a:ext cx="3887986" cy="778073"/>
          </a:xfrm>
          <a:prstGeom prst="roundRect">
            <a:avLst>
              <a:gd name="adj" fmla="val 9402"/>
            </a:avLst>
          </a:prstGeom>
          <a:solidFill>
            <a:srgbClr val="FFFFFF"/>
          </a:solidFill>
          <a:ln w="15240">
            <a:solidFill>
              <a:srgbClr val="B4CCE3"/>
            </a:solidFill>
            <a:prstDash val="solid"/>
          </a:ln>
        </p:spPr>
      </p:sp>
      <p:sp>
        <p:nvSpPr>
          <p:cNvPr id="8" name="Shape 5"/>
          <p:cNvSpPr/>
          <p:nvPr/>
        </p:nvSpPr>
        <p:spPr>
          <a:xfrm>
            <a:off x="3387209" y="1466731"/>
            <a:ext cx="60960" cy="778073"/>
          </a:xfrm>
          <a:prstGeom prst="roundRect">
            <a:avLst>
              <a:gd name="adj" fmla="val 146512"/>
            </a:avLst>
          </a:prstGeom>
          <a:solidFill>
            <a:srgbClr val="84C1FA"/>
          </a:solidFill>
          <a:ln/>
        </p:spPr>
      </p:sp>
      <p:sp>
        <p:nvSpPr>
          <p:cNvPr id="9" name="Text 6"/>
          <p:cNvSpPr/>
          <p:nvPr/>
        </p:nvSpPr>
        <p:spPr>
          <a:xfrm>
            <a:off x="3562588" y="1581150"/>
            <a:ext cx="2196822" cy="162639"/>
          </a:xfrm>
          <a:prstGeom prst="rect">
            <a:avLst/>
          </a:prstGeom>
          <a:noFill/>
          <a:ln/>
        </p:spPr>
        <p:txBody>
          <a:bodyPr wrap="none" lIns="0" tIns="0" rIns="0" bIns="0" rtlCol="0" anchor="t"/>
          <a:lstStyle/>
          <a:p>
            <a:pPr algn="l" indent="0" marL="0">
              <a:lnSpc>
                <a:spcPts val="1200"/>
              </a:lnSpc>
              <a:buNone/>
            </a:pPr>
            <a:r>
              <a:rPr lang="en-US" sz="950" dirty="0">
                <a:solidFill>
                  <a:srgbClr val="000000"/>
                </a:solidFill>
                <a:latin typeface="Instrument Sans Semi Bold" pitchFamily="34" charset="0"/>
                <a:ea typeface="Instrument Sans Semi Bold" pitchFamily="34" charset="-122"/>
                <a:cs typeface="Instrument Sans Semi Bold" pitchFamily="34" charset="-120"/>
              </a:rPr>
              <a:t>🛒</a:t>
            </a:r>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 Netflix — Motor de recomendación</a:t>
            </a:r>
            <a:endParaRPr lang="en-US" sz="950" dirty="0"/>
          </a:p>
        </p:txBody>
      </p:sp>
      <p:sp>
        <p:nvSpPr>
          <p:cNvPr id="10" name="Text 7"/>
          <p:cNvSpPr/>
          <p:nvPr/>
        </p:nvSpPr>
        <p:spPr>
          <a:xfrm>
            <a:off x="3562588" y="1773555"/>
            <a:ext cx="3613428" cy="356830"/>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Personalización de contenido basada en comportamiento. </a:t>
            </a:r>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Resultado:</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80% del contenido consumido proviene de recomendaciones. Ahorro estimado de 1.000 M$/año en churn evitado.</a:t>
            </a:r>
            <a:endParaRPr lang="en-US" sz="750" dirty="0"/>
          </a:p>
        </p:txBody>
      </p:sp>
      <p:sp>
        <p:nvSpPr>
          <p:cNvPr id="11" name="Shape 8"/>
          <p:cNvSpPr/>
          <p:nvPr/>
        </p:nvSpPr>
        <p:spPr>
          <a:xfrm>
            <a:off x="7339965" y="1466731"/>
            <a:ext cx="3887986" cy="778073"/>
          </a:xfrm>
          <a:prstGeom prst="roundRect">
            <a:avLst>
              <a:gd name="adj" fmla="val 9402"/>
            </a:avLst>
          </a:prstGeom>
          <a:solidFill>
            <a:srgbClr val="FFFFFF"/>
          </a:solidFill>
          <a:ln w="15240">
            <a:solidFill>
              <a:srgbClr val="B4CCE3"/>
            </a:solidFill>
            <a:prstDash val="solid"/>
          </a:ln>
        </p:spPr>
      </p:sp>
      <p:sp>
        <p:nvSpPr>
          <p:cNvPr id="12" name="Shape 9"/>
          <p:cNvSpPr/>
          <p:nvPr/>
        </p:nvSpPr>
        <p:spPr>
          <a:xfrm>
            <a:off x="7324725" y="1466731"/>
            <a:ext cx="60960" cy="778073"/>
          </a:xfrm>
          <a:prstGeom prst="roundRect">
            <a:avLst>
              <a:gd name="adj" fmla="val 146512"/>
            </a:avLst>
          </a:prstGeom>
          <a:solidFill>
            <a:srgbClr val="84C1FA"/>
          </a:solidFill>
          <a:ln/>
        </p:spPr>
      </p:sp>
      <p:sp>
        <p:nvSpPr>
          <p:cNvPr id="13" name="Text 10"/>
          <p:cNvSpPr/>
          <p:nvPr/>
        </p:nvSpPr>
        <p:spPr>
          <a:xfrm>
            <a:off x="7500104" y="1581150"/>
            <a:ext cx="2354461" cy="162639"/>
          </a:xfrm>
          <a:prstGeom prst="rect">
            <a:avLst/>
          </a:prstGeom>
          <a:noFill/>
          <a:ln/>
        </p:spPr>
        <p:txBody>
          <a:bodyPr wrap="none" lIns="0" tIns="0" rIns="0" bIns="0" rtlCol="0" anchor="t"/>
          <a:lstStyle/>
          <a:p>
            <a:pPr algn="l" indent="0" marL="0">
              <a:lnSpc>
                <a:spcPts val="1200"/>
              </a:lnSpc>
              <a:buNone/>
            </a:pPr>
            <a:r>
              <a:rPr lang="en-US" sz="950" dirty="0">
                <a:solidFill>
                  <a:srgbClr val="000000"/>
                </a:solidFill>
                <a:latin typeface="Instrument Sans Semi Bold" pitchFamily="34" charset="0"/>
                <a:ea typeface="Instrument Sans Semi Bold" pitchFamily="34" charset="-122"/>
                <a:cs typeface="Instrument Sans Semi Bold" pitchFamily="34" charset="-120"/>
              </a:rPr>
              <a:t>🏭</a:t>
            </a:r>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 Siemens — Mantenimiento predictivo</a:t>
            </a:r>
            <a:endParaRPr lang="en-US" sz="950" dirty="0"/>
          </a:p>
        </p:txBody>
      </p:sp>
      <p:sp>
        <p:nvSpPr>
          <p:cNvPr id="14" name="Text 11"/>
          <p:cNvSpPr/>
          <p:nvPr/>
        </p:nvSpPr>
        <p:spPr>
          <a:xfrm>
            <a:off x="7500104" y="1773555"/>
            <a:ext cx="3613428" cy="356830"/>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Sensores IoT + modelos de IA para anticipar fallos en maquinaria industrial. </a:t>
            </a:r>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Resultado:</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-45% en paradas no planificadas, ROI positivo en menos de 12 meses.</a:t>
            </a:r>
            <a:endParaRPr lang="en-US" sz="750" dirty="0"/>
          </a:p>
        </p:txBody>
      </p:sp>
      <p:sp>
        <p:nvSpPr>
          <p:cNvPr id="15" name="Shape 12"/>
          <p:cNvSpPr/>
          <p:nvPr/>
        </p:nvSpPr>
        <p:spPr>
          <a:xfrm>
            <a:off x="3402449" y="2294334"/>
            <a:ext cx="3887986" cy="659130"/>
          </a:xfrm>
          <a:prstGeom prst="roundRect">
            <a:avLst>
              <a:gd name="adj" fmla="val 11098"/>
            </a:avLst>
          </a:prstGeom>
          <a:solidFill>
            <a:srgbClr val="FFFFFF"/>
          </a:solidFill>
          <a:ln w="15240">
            <a:solidFill>
              <a:srgbClr val="B4CCE3"/>
            </a:solidFill>
            <a:prstDash val="solid"/>
          </a:ln>
        </p:spPr>
      </p:sp>
      <p:sp>
        <p:nvSpPr>
          <p:cNvPr id="16" name="Shape 13"/>
          <p:cNvSpPr/>
          <p:nvPr/>
        </p:nvSpPr>
        <p:spPr>
          <a:xfrm>
            <a:off x="3387209" y="2294334"/>
            <a:ext cx="60960" cy="659130"/>
          </a:xfrm>
          <a:prstGeom prst="roundRect">
            <a:avLst>
              <a:gd name="adj" fmla="val 146512"/>
            </a:avLst>
          </a:prstGeom>
          <a:solidFill>
            <a:srgbClr val="84C1FA"/>
          </a:solidFill>
          <a:ln/>
        </p:spPr>
      </p:sp>
      <p:sp>
        <p:nvSpPr>
          <p:cNvPr id="17" name="Text 14"/>
          <p:cNvSpPr/>
          <p:nvPr/>
        </p:nvSpPr>
        <p:spPr>
          <a:xfrm>
            <a:off x="3562588" y="2408753"/>
            <a:ext cx="2546033" cy="162639"/>
          </a:xfrm>
          <a:prstGeom prst="rect">
            <a:avLst/>
          </a:prstGeom>
          <a:noFill/>
          <a:ln/>
        </p:spPr>
        <p:txBody>
          <a:bodyPr wrap="none" lIns="0" tIns="0" rIns="0" bIns="0" rtlCol="0" anchor="t"/>
          <a:lstStyle/>
          <a:p>
            <a:pPr algn="l" indent="0" marL="0">
              <a:lnSpc>
                <a:spcPts val="1200"/>
              </a:lnSpc>
              <a:buNone/>
            </a:pPr>
            <a:r>
              <a:rPr lang="en-US" sz="950" dirty="0">
                <a:solidFill>
                  <a:srgbClr val="000000"/>
                </a:solidFill>
                <a:latin typeface="Instrument Sans Semi Bold" pitchFamily="34" charset="0"/>
                <a:ea typeface="Instrument Sans Semi Bold" pitchFamily="34" charset="-122"/>
                <a:cs typeface="Instrument Sans Semi Bold" pitchFamily="34" charset="-120"/>
              </a:rPr>
              <a:t>🏦</a:t>
            </a:r>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 BBVA — Scoring crediticio en tiempo real</a:t>
            </a:r>
            <a:endParaRPr lang="en-US" sz="950" dirty="0"/>
          </a:p>
        </p:txBody>
      </p:sp>
      <p:sp>
        <p:nvSpPr>
          <p:cNvPr id="18" name="Text 15"/>
          <p:cNvSpPr/>
          <p:nvPr/>
        </p:nvSpPr>
        <p:spPr>
          <a:xfrm>
            <a:off x="3562588" y="2601158"/>
            <a:ext cx="3613428" cy="237887"/>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Modelos de ML para evaluación de riesgo instantánea. </a:t>
            </a:r>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Resultado:</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+15% en aprobaciones con igual nivel de riesgo, -40% en falsos positivos de fraude.</a:t>
            </a:r>
            <a:endParaRPr lang="en-US" sz="750" dirty="0"/>
          </a:p>
        </p:txBody>
      </p:sp>
      <p:sp>
        <p:nvSpPr>
          <p:cNvPr id="19" name="Shape 16"/>
          <p:cNvSpPr/>
          <p:nvPr/>
        </p:nvSpPr>
        <p:spPr>
          <a:xfrm>
            <a:off x="7339965" y="2294334"/>
            <a:ext cx="3887986" cy="659130"/>
          </a:xfrm>
          <a:prstGeom prst="roundRect">
            <a:avLst>
              <a:gd name="adj" fmla="val 11098"/>
            </a:avLst>
          </a:prstGeom>
          <a:solidFill>
            <a:srgbClr val="FFFFFF"/>
          </a:solidFill>
          <a:ln w="15240">
            <a:solidFill>
              <a:srgbClr val="B4CCE3"/>
            </a:solidFill>
            <a:prstDash val="solid"/>
          </a:ln>
        </p:spPr>
      </p:sp>
      <p:sp>
        <p:nvSpPr>
          <p:cNvPr id="20" name="Shape 17"/>
          <p:cNvSpPr/>
          <p:nvPr/>
        </p:nvSpPr>
        <p:spPr>
          <a:xfrm>
            <a:off x="7324725" y="2294334"/>
            <a:ext cx="60960" cy="659130"/>
          </a:xfrm>
          <a:prstGeom prst="roundRect">
            <a:avLst>
              <a:gd name="adj" fmla="val 146512"/>
            </a:avLst>
          </a:prstGeom>
          <a:solidFill>
            <a:srgbClr val="84C1FA"/>
          </a:solidFill>
          <a:ln/>
        </p:spPr>
      </p:sp>
      <p:sp>
        <p:nvSpPr>
          <p:cNvPr id="21" name="Text 18"/>
          <p:cNvSpPr/>
          <p:nvPr/>
        </p:nvSpPr>
        <p:spPr>
          <a:xfrm>
            <a:off x="7500104" y="2408753"/>
            <a:ext cx="2493288" cy="162639"/>
          </a:xfrm>
          <a:prstGeom prst="rect">
            <a:avLst/>
          </a:prstGeom>
          <a:noFill/>
          <a:ln/>
        </p:spPr>
        <p:txBody>
          <a:bodyPr wrap="none" lIns="0" tIns="0" rIns="0" bIns="0" rtlCol="0" anchor="t"/>
          <a:lstStyle/>
          <a:p>
            <a:pPr algn="l" indent="0" marL="0">
              <a:lnSpc>
                <a:spcPts val="1200"/>
              </a:lnSpc>
              <a:buNone/>
            </a:pPr>
            <a:r>
              <a:rPr lang="en-US" sz="950" dirty="0">
                <a:solidFill>
                  <a:srgbClr val="000000"/>
                </a:solidFill>
                <a:latin typeface="Instrument Sans Semi Bold" pitchFamily="34" charset="0"/>
                <a:ea typeface="Instrument Sans Semi Bold" pitchFamily="34" charset="-122"/>
                <a:cs typeface="Instrument Sans Semi Bold" pitchFamily="34" charset="-120"/>
              </a:rPr>
              <a:t>🏥</a:t>
            </a:r>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 DeepMind — Diagnóstico oftalmológico</a:t>
            </a:r>
            <a:endParaRPr lang="en-US" sz="950" dirty="0"/>
          </a:p>
        </p:txBody>
      </p:sp>
      <p:sp>
        <p:nvSpPr>
          <p:cNvPr id="22" name="Text 19"/>
          <p:cNvSpPr/>
          <p:nvPr/>
        </p:nvSpPr>
        <p:spPr>
          <a:xfrm>
            <a:off x="7500104" y="2601158"/>
            <a:ext cx="3613428" cy="237887"/>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IA para detectar enfermedades oculares en retinografías. </a:t>
            </a:r>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Resultado:</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Precisión equivalente a especialistas senior en más de 50 patologías distintas.</a:t>
            </a:r>
            <a:endParaRPr lang="en-US" sz="750" dirty="0"/>
          </a:p>
        </p:txBody>
      </p:sp>
      <p:sp>
        <p:nvSpPr>
          <p:cNvPr id="23" name="Text 20"/>
          <p:cNvSpPr/>
          <p:nvPr/>
        </p:nvSpPr>
        <p:spPr>
          <a:xfrm>
            <a:off x="3402449" y="3027878"/>
            <a:ext cx="4017764" cy="248007"/>
          </a:xfrm>
          <a:prstGeom prst="rect">
            <a:avLst/>
          </a:prstGeom>
          <a:noFill/>
          <a:ln/>
        </p:spPr>
        <p:txBody>
          <a:bodyPr wrap="none" lIns="0" tIns="0" rIns="0" bIns="0" rtlCol="0" anchor="t"/>
          <a:lstStyle/>
          <a:p>
            <a:pPr algn="l" indent="0" marL="0">
              <a:lnSpc>
                <a:spcPts val="1950"/>
              </a:lnSpc>
              <a:buNone/>
            </a:pPr>
            <a:r>
              <a:rPr lang="en-US" sz="1550" dirty="0">
                <a:solidFill>
                  <a:srgbClr val="091C53"/>
                </a:solidFill>
                <a:latin typeface="Instrument Sans Semi Bold" pitchFamily="34" charset="0"/>
                <a:ea typeface="Instrument Sans Semi Bold" pitchFamily="34" charset="-122"/>
                <a:cs typeface="Instrument Sans Semi Bold" pitchFamily="34" charset="-120"/>
              </a:rPr>
              <a:t>Éxitos vs. Fracasos: factores determinantes</a:t>
            </a:r>
            <a:endParaRPr lang="en-US" sz="1550" dirty="0"/>
          </a:p>
        </p:txBody>
      </p:sp>
      <p:sp>
        <p:nvSpPr>
          <p:cNvPr id="24" name="Shape 21"/>
          <p:cNvSpPr/>
          <p:nvPr/>
        </p:nvSpPr>
        <p:spPr>
          <a:xfrm>
            <a:off x="3402449" y="4677251"/>
            <a:ext cx="7825502" cy="15240"/>
          </a:xfrm>
          <a:prstGeom prst="roundRect">
            <a:avLst>
              <a:gd name="adj" fmla="val 586046"/>
            </a:avLst>
          </a:prstGeom>
          <a:solidFill>
            <a:srgbClr val="B4CCE3"/>
          </a:solidFill>
          <a:ln/>
        </p:spPr>
      </p:sp>
      <p:sp>
        <p:nvSpPr>
          <p:cNvPr id="25" name="Shape 22"/>
          <p:cNvSpPr/>
          <p:nvPr/>
        </p:nvSpPr>
        <p:spPr>
          <a:xfrm>
            <a:off x="3402449" y="3350300"/>
            <a:ext cx="3881795" cy="1326952"/>
          </a:xfrm>
          <a:prstGeom prst="roundRect">
            <a:avLst>
              <a:gd name="adj" fmla="val 6731"/>
            </a:avLst>
          </a:prstGeom>
          <a:solidFill>
            <a:srgbClr val="CEE6FD"/>
          </a:solidFill>
          <a:ln/>
        </p:spPr>
      </p:sp>
      <p:sp>
        <p:nvSpPr>
          <p:cNvPr id="26" name="Text 23"/>
          <p:cNvSpPr/>
          <p:nvPr/>
        </p:nvSpPr>
        <p:spPr>
          <a:xfrm>
            <a:off x="4723090" y="3449479"/>
            <a:ext cx="1240393" cy="162639"/>
          </a:xfrm>
          <a:prstGeom prst="rect">
            <a:avLst/>
          </a:prstGeom>
          <a:noFill/>
          <a:ln/>
        </p:spPr>
        <p:txBody>
          <a:bodyPr wrap="none" lIns="0" tIns="0" rIns="0" bIns="0" rtlCol="0" anchor="t"/>
          <a:lstStyle/>
          <a:p>
            <a:pPr algn="ctr" indent="0" marL="0">
              <a:lnSpc>
                <a:spcPts val="1200"/>
              </a:lnSpc>
              <a:buNone/>
            </a:pPr>
            <a:r>
              <a:rPr lang="en-US" sz="950" dirty="0">
                <a:solidFill>
                  <a:srgbClr val="000000"/>
                </a:solidFill>
                <a:latin typeface="Instrument Sans Semi Bold" pitchFamily="34" charset="0"/>
                <a:ea typeface="Instrument Sans Semi Bold" pitchFamily="34" charset="-122"/>
                <a:cs typeface="Instrument Sans Semi Bold" pitchFamily="34" charset="-120"/>
              </a:rPr>
              <a:t>✅</a:t>
            </a:r>
            <a:pPr algn="ctr"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 Factores de éxito</a:t>
            </a:r>
            <a:endParaRPr lang="en-US" sz="950" dirty="0"/>
          </a:p>
        </p:txBody>
      </p:sp>
      <p:sp>
        <p:nvSpPr>
          <p:cNvPr id="27" name="Text 24"/>
          <p:cNvSpPr/>
          <p:nvPr/>
        </p:nvSpPr>
        <p:spPr>
          <a:xfrm>
            <a:off x="3501628" y="3641884"/>
            <a:ext cx="3683437" cy="936188"/>
          </a:xfrm>
          <a:prstGeom prst="rect">
            <a:avLst/>
          </a:prstGeom>
          <a:noFill/>
          <a:ln/>
        </p:spPr>
        <p:txBody>
          <a:bodyPr wrap="square" lIns="0" tIns="0" rIns="0" bIns="0" rtlCol="0" anchor="t"/>
          <a:lstStyle/>
          <a:p>
            <a:pPr algn="l" marL="342900" indent="-342900">
              <a:lnSpc>
                <a:spcPts val="900"/>
              </a:lnSpc>
              <a:buSzPct val="100000"/>
              <a:buChar char="•"/>
            </a:pPr>
            <a:r>
              <a:rPr lang="en-US" sz="750" b="1" dirty="0">
                <a:solidFill>
                  <a:srgbClr val="1E3063"/>
                </a:solidFill>
                <a:latin typeface="Instrument Sans Medium" pitchFamily="34" charset="0"/>
                <a:ea typeface="Instrument Sans Medium" pitchFamily="34" charset="-122"/>
                <a:cs typeface="Instrument Sans Medium" pitchFamily="34" charset="-120"/>
              </a:rPr>
              <a:t>Problema concreto y medible</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desde el inicio</a:t>
            </a:r>
            <a:endParaRPr lang="en-US" sz="750" dirty="0"/>
          </a:p>
          <a:p>
            <a:pPr algn="l" marL="342900" indent="-342900">
              <a:lnSpc>
                <a:spcPts val="900"/>
              </a:lnSpc>
              <a:buSzPct val="100000"/>
              <a:buChar char="•"/>
            </a:pPr>
            <a:r>
              <a:rPr lang="en-US" sz="750" b="1" dirty="0">
                <a:solidFill>
                  <a:srgbClr val="1E3063"/>
                </a:solidFill>
                <a:latin typeface="Instrument Sans Medium" pitchFamily="34" charset="0"/>
                <a:ea typeface="Instrument Sans Medium" pitchFamily="34" charset="-122"/>
                <a:cs typeface="Instrument Sans Medium" pitchFamily="34" charset="-120"/>
              </a:rPr>
              <a:t>Datos disponibles, limpios</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y representativos</a:t>
            </a:r>
            <a:endParaRPr lang="en-US" sz="750" dirty="0"/>
          </a:p>
          <a:p>
            <a:pPr algn="l" marL="342900" indent="-342900">
              <a:lnSpc>
                <a:spcPts val="900"/>
              </a:lnSpc>
              <a:buSzPct val="100000"/>
              <a:buChar char="•"/>
            </a:pPr>
            <a:r>
              <a:rPr lang="en-US" sz="750" b="1" dirty="0">
                <a:solidFill>
                  <a:srgbClr val="1E3063"/>
                </a:solidFill>
                <a:latin typeface="Instrument Sans Medium" pitchFamily="34" charset="0"/>
                <a:ea typeface="Instrument Sans Medium" pitchFamily="34" charset="-122"/>
                <a:cs typeface="Instrument Sans Medium" pitchFamily="34" charset="-120"/>
              </a:rPr>
              <a:t>Sponsor ejecutivo</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con compromiso real</a:t>
            </a:r>
            <a:endParaRPr lang="en-US" sz="750" dirty="0"/>
          </a:p>
          <a:p>
            <a:pPr algn="l" marL="342900" indent="-342900">
              <a:lnSpc>
                <a:spcPts val="900"/>
              </a:lnSpc>
              <a:buSzPct val="100000"/>
              <a:buChar char="•"/>
            </a:pPr>
            <a:r>
              <a:rPr lang="en-US" sz="750" dirty="0">
                <a:solidFill>
                  <a:srgbClr val="1E3063"/>
                </a:solidFill>
                <a:latin typeface="Instrument Sans Medium" pitchFamily="34" charset="0"/>
                <a:ea typeface="Instrument Sans Medium" pitchFamily="34" charset="-122"/>
                <a:cs typeface="Instrument Sans Medium" pitchFamily="34" charset="-120"/>
              </a:rPr>
              <a:t>Piloto acotado antes de escalar</a:t>
            </a:r>
            <a:endParaRPr lang="en-US" sz="750" dirty="0"/>
          </a:p>
          <a:p>
            <a:pPr algn="l" marL="342900" indent="-342900">
              <a:lnSpc>
                <a:spcPts val="900"/>
              </a:lnSpc>
              <a:buSzPct val="100000"/>
              <a:buChar char="•"/>
            </a:pPr>
            <a:r>
              <a:rPr lang="en-US" sz="750" dirty="0">
                <a:solidFill>
                  <a:srgbClr val="1E3063"/>
                </a:solidFill>
                <a:latin typeface="Instrument Sans Medium" pitchFamily="34" charset="0"/>
                <a:ea typeface="Instrument Sans Medium" pitchFamily="34" charset="-122"/>
                <a:cs typeface="Instrument Sans Medium" pitchFamily="34" charset="-120"/>
              </a:rPr>
              <a:t>KPIs de negocio, no solo técnicos</a:t>
            </a:r>
            <a:endParaRPr lang="en-US" sz="750" dirty="0"/>
          </a:p>
          <a:p>
            <a:pPr algn="l" marL="342900" indent="-342900">
              <a:lnSpc>
                <a:spcPts val="900"/>
              </a:lnSpc>
              <a:buSzPct val="100000"/>
              <a:buChar char="•"/>
            </a:pPr>
            <a:r>
              <a:rPr lang="en-US" sz="750" dirty="0">
                <a:solidFill>
                  <a:srgbClr val="1E3063"/>
                </a:solidFill>
                <a:latin typeface="Instrument Sans Medium" pitchFamily="34" charset="0"/>
                <a:ea typeface="Instrument Sans Medium" pitchFamily="34" charset="-122"/>
                <a:cs typeface="Instrument Sans Medium" pitchFamily="34" charset="-120"/>
              </a:rPr>
              <a:t>Equipo mixto: negocio + tecnología + datos</a:t>
            </a:r>
            <a:endParaRPr lang="en-US" sz="750" dirty="0"/>
          </a:p>
          <a:p>
            <a:pPr algn="l" marL="342900" indent="-342900">
              <a:lnSpc>
                <a:spcPts val="900"/>
              </a:lnSpc>
              <a:buSzPct val="100000"/>
              <a:buChar char="•"/>
            </a:pPr>
            <a:r>
              <a:rPr lang="en-US" sz="750" dirty="0">
                <a:solidFill>
                  <a:srgbClr val="1E3063"/>
                </a:solidFill>
                <a:latin typeface="Instrument Sans Medium" pitchFamily="34" charset="0"/>
                <a:ea typeface="Instrument Sans Medium" pitchFamily="34" charset="-122"/>
                <a:cs typeface="Instrument Sans Medium" pitchFamily="34" charset="-120"/>
              </a:rPr>
              <a:t>Plan de adopción y gestión del cambio</a:t>
            </a:r>
            <a:endParaRPr lang="en-US" sz="750" dirty="0"/>
          </a:p>
        </p:txBody>
      </p:sp>
      <p:sp>
        <p:nvSpPr>
          <p:cNvPr id="28" name="Shape 25"/>
          <p:cNvSpPr/>
          <p:nvPr/>
        </p:nvSpPr>
        <p:spPr>
          <a:xfrm>
            <a:off x="7346156" y="4692491"/>
            <a:ext cx="3881795" cy="1326952"/>
          </a:xfrm>
          <a:prstGeom prst="rect">
            <a:avLst/>
          </a:prstGeom>
          <a:solidFill>
            <a:srgbClr val="CEE6FD"/>
          </a:solidFill>
          <a:ln/>
        </p:spPr>
      </p:sp>
      <p:sp>
        <p:nvSpPr>
          <p:cNvPr id="29" name="Text 26"/>
          <p:cNvSpPr/>
          <p:nvPr/>
        </p:nvSpPr>
        <p:spPr>
          <a:xfrm>
            <a:off x="8666798" y="4791670"/>
            <a:ext cx="1240393" cy="162639"/>
          </a:xfrm>
          <a:prstGeom prst="rect">
            <a:avLst/>
          </a:prstGeom>
          <a:noFill/>
          <a:ln/>
        </p:spPr>
        <p:txBody>
          <a:bodyPr wrap="none" lIns="0" tIns="0" rIns="0" bIns="0" rtlCol="0" anchor="t"/>
          <a:lstStyle/>
          <a:p>
            <a:pPr algn="ctr" indent="0" marL="0">
              <a:lnSpc>
                <a:spcPts val="1200"/>
              </a:lnSpc>
              <a:buNone/>
            </a:pPr>
            <a:r>
              <a:rPr lang="en-US" sz="950" dirty="0">
                <a:solidFill>
                  <a:srgbClr val="000000"/>
                </a:solidFill>
                <a:latin typeface="Instrument Sans Semi Bold" pitchFamily="34" charset="0"/>
                <a:ea typeface="Instrument Sans Semi Bold" pitchFamily="34" charset="-122"/>
                <a:cs typeface="Instrument Sans Semi Bold" pitchFamily="34" charset="-120"/>
              </a:rPr>
              <a:t>❌</a:t>
            </a:r>
            <a:pPr algn="ctr"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 Causas de fracaso</a:t>
            </a:r>
            <a:endParaRPr lang="en-US" sz="950" dirty="0"/>
          </a:p>
        </p:txBody>
      </p:sp>
      <p:sp>
        <p:nvSpPr>
          <p:cNvPr id="30" name="Text 27"/>
          <p:cNvSpPr/>
          <p:nvPr/>
        </p:nvSpPr>
        <p:spPr>
          <a:xfrm>
            <a:off x="7445335" y="4984075"/>
            <a:ext cx="3683437" cy="936188"/>
          </a:xfrm>
          <a:prstGeom prst="rect">
            <a:avLst/>
          </a:prstGeom>
          <a:noFill/>
          <a:ln/>
        </p:spPr>
        <p:txBody>
          <a:bodyPr wrap="square" lIns="0" tIns="0" rIns="0" bIns="0" rtlCol="0" anchor="t"/>
          <a:lstStyle/>
          <a:p>
            <a:pPr algn="l" marL="342900" indent="-342900">
              <a:lnSpc>
                <a:spcPts val="900"/>
              </a:lnSpc>
              <a:buSzPct val="100000"/>
              <a:buChar char="•"/>
            </a:pPr>
            <a:r>
              <a:rPr lang="en-US" sz="750" b="1" dirty="0">
                <a:solidFill>
                  <a:srgbClr val="1E3063"/>
                </a:solidFill>
                <a:latin typeface="Instrument Sans Medium" pitchFamily="34" charset="0"/>
                <a:ea typeface="Instrument Sans Medium" pitchFamily="34" charset="-122"/>
                <a:cs typeface="Instrument Sans Medium" pitchFamily="34" charset="-120"/>
              </a:rPr>
              <a:t>Objetivo vago</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o cambiante durante el proyecto</a:t>
            </a:r>
            <a:endParaRPr lang="en-US" sz="750" dirty="0"/>
          </a:p>
          <a:p>
            <a:pPr algn="l" marL="342900" indent="-342900">
              <a:lnSpc>
                <a:spcPts val="900"/>
              </a:lnSpc>
              <a:buSzPct val="100000"/>
              <a:buChar char="•"/>
            </a:pPr>
            <a:r>
              <a:rPr lang="en-US" sz="750" b="1" dirty="0">
                <a:solidFill>
                  <a:srgbClr val="1E3063"/>
                </a:solidFill>
                <a:latin typeface="Instrument Sans Medium" pitchFamily="34" charset="0"/>
                <a:ea typeface="Instrument Sans Medium" pitchFamily="34" charset="-122"/>
                <a:cs typeface="Instrument Sans Medium" pitchFamily="34" charset="-120"/>
              </a:rPr>
              <a:t>Datos inexistentes, fragmentados</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o de baja calidad</a:t>
            </a:r>
            <a:endParaRPr lang="en-US" sz="750" dirty="0"/>
          </a:p>
          <a:p>
            <a:pPr algn="l" marL="342900" indent="-342900">
              <a:lnSpc>
                <a:spcPts val="900"/>
              </a:lnSpc>
              <a:buSzPct val="100000"/>
              <a:buChar char="•"/>
            </a:pPr>
            <a:r>
              <a:rPr lang="en-US" sz="750" dirty="0">
                <a:solidFill>
                  <a:srgbClr val="1E3063"/>
                </a:solidFill>
                <a:latin typeface="Instrument Sans Medium" pitchFamily="34" charset="0"/>
                <a:ea typeface="Instrument Sans Medium" pitchFamily="34" charset="-122"/>
                <a:cs typeface="Instrument Sans Medium" pitchFamily="34" charset="-120"/>
              </a:rPr>
              <a:t>Falta de alineación entre IT y negocio</a:t>
            </a:r>
            <a:endParaRPr lang="en-US" sz="750" dirty="0"/>
          </a:p>
          <a:p>
            <a:pPr algn="l" marL="342900" indent="-342900">
              <a:lnSpc>
                <a:spcPts val="900"/>
              </a:lnSpc>
              <a:buSzPct val="100000"/>
              <a:buChar char="•"/>
            </a:pPr>
            <a:r>
              <a:rPr lang="en-US" sz="750" dirty="0">
                <a:solidFill>
                  <a:srgbClr val="1E3063"/>
                </a:solidFill>
                <a:latin typeface="Instrument Sans Medium" pitchFamily="34" charset="0"/>
                <a:ea typeface="Instrument Sans Medium" pitchFamily="34" charset="-122"/>
                <a:cs typeface="Instrument Sans Medium" pitchFamily="34" charset="-120"/>
              </a:rPr>
              <a:t>Expectativas irreales sobre la IA</a:t>
            </a:r>
            <a:endParaRPr lang="en-US" sz="750" dirty="0"/>
          </a:p>
          <a:p>
            <a:pPr algn="l" marL="342900" indent="-342900">
              <a:lnSpc>
                <a:spcPts val="900"/>
              </a:lnSpc>
              <a:buSzPct val="100000"/>
              <a:buChar char="•"/>
            </a:pPr>
            <a:r>
              <a:rPr lang="en-US" sz="750" dirty="0">
                <a:solidFill>
                  <a:srgbClr val="1E3063"/>
                </a:solidFill>
                <a:latin typeface="Instrument Sans Medium" pitchFamily="34" charset="0"/>
                <a:ea typeface="Instrument Sans Medium" pitchFamily="34" charset="-122"/>
                <a:cs typeface="Instrument Sans Medium" pitchFamily="34" charset="-120"/>
              </a:rPr>
              <a:t>Ausencia de gobernanza y cumplimiento normativo</a:t>
            </a:r>
            <a:endParaRPr lang="en-US" sz="750" dirty="0"/>
          </a:p>
          <a:p>
            <a:pPr algn="l" marL="342900" indent="-342900">
              <a:lnSpc>
                <a:spcPts val="900"/>
              </a:lnSpc>
              <a:buSzPct val="100000"/>
              <a:buChar char="•"/>
            </a:pPr>
            <a:r>
              <a:rPr lang="en-US" sz="750" dirty="0">
                <a:solidFill>
                  <a:srgbClr val="1E3063"/>
                </a:solidFill>
                <a:latin typeface="Instrument Sans Medium" pitchFamily="34" charset="0"/>
                <a:ea typeface="Instrument Sans Medium" pitchFamily="34" charset="-122"/>
                <a:cs typeface="Instrument Sans Medium" pitchFamily="34" charset="-120"/>
              </a:rPr>
              <a:t>Modelo no integrado en procesos reales</a:t>
            </a:r>
            <a:endParaRPr lang="en-US" sz="750" dirty="0"/>
          </a:p>
          <a:p>
            <a:pPr algn="l" marL="342900" indent="-342900">
              <a:lnSpc>
                <a:spcPts val="900"/>
              </a:lnSpc>
              <a:buSzPct val="100000"/>
              <a:buChar char="•"/>
            </a:pPr>
            <a:r>
              <a:rPr lang="en-US" sz="750" dirty="0">
                <a:solidFill>
                  <a:srgbClr val="1E3063"/>
                </a:solidFill>
                <a:latin typeface="Instrument Sans Medium" pitchFamily="34" charset="0"/>
                <a:ea typeface="Instrument Sans Medium" pitchFamily="34" charset="-122"/>
                <a:cs typeface="Instrument Sans Medium" pitchFamily="34" charset="-120"/>
              </a:rPr>
              <a:t>Sin plan de mantenimiento post-lanzamiento</a:t>
            </a:r>
            <a:endParaRPr lang="en-US" sz="750" dirty="0"/>
          </a:p>
        </p:txBody>
      </p:sp>
      <p:sp>
        <p:nvSpPr>
          <p:cNvPr id="31" name="Text 28"/>
          <p:cNvSpPr/>
          <p:nvPr/>
        </p:nvSpPr>
        <p:spPr>
          <a:xfrm>
            <a:off x="3402449" y="6078617"/>
            <a:ext cx="4452818" cy="248007"/>
          </a:xfrm>
          <a:prstGeom prst="rect">
            <a:avLst/>
          </a:prstGeom>
          <a:noFill/>
          <a:ln/>
        </p:spPr>
        <p:txBody>
          <a:bodyPr wrap="none" lIns="0" tIns="0" rIns="0" bIns="0" rtlCol="0" anchor="t"/>
          <a:lstStyle/>
          <a:p>
            <a:pPr algn="l" indent="0" marL="0">
              <a:lnSpc>
                <a:spcPts val="1950"/>
              </a:lnSpc>
              <a:buNone/>
            </a:pPr>
            <a:r>
              <a:rPr lang="en-US" sz="1550" dirty="0">
                <a:solidFill>
                  <a:srgbClr val="091C53"/>
                </a:solidFill>
                <a:latin typeface="Instrument Sans Semi Bold" pitchFamily="34" charset="0"/>
                <a:ea typeface="Instrument Sans Semi Bold" pitchFamily="34" charset="-122"/>
                <a:cs typeface="Instrument Sans Semi Bold" pitchFamily="34" charset="-120"/>
              </a:rPr>
              <a:t>Casos de fracaso documentados y sus lecciones</a:t>
            </a:r>
            <a:endParaRPr lang="en-US" sz="1550" dirty="0"/>
          </a:p>
        </p:txBody>
      </p:sp>
      <p:sp>
        <p:nvSpPr>
          <p:cNvPr id="32" name="Shape 29"/>
          <p:cNvSpPr/>
          <p:nvPr/>
        </p:nvSpPr>
        <p:spPr>
          <a:xfrm>
            <a:off x="3402449" y="6401038"/>
            <a:ext cx="3887986" cy="1026081"/>
          </a:xfrm>
          <a:prstGeom prst="roundRect">
            <a:avLst>
              <a:gd name="adj" fmla="val 8704"/>
            </a:avLst>
          </a:prstGeom>
          <a:solidFill>
            <a:srgbClr val="FFFFFF"/>
          </a:solidFill>
          <a:ln w="15240">
            <a:solidFill>
              <a:srgbClr val="B4CCE3"/>
            </a:solidFill>
            <a:prstDash val="solid"/>
          </a:ln>
        </p:spPr>
      </p:sp>
      <p:sp>
        <p:nvSpPr>
          <p:cNvPr id="33" name="Shape 30"/>
          <p:cNvSpPr/>
          <p:nvPr/>
        </p:nvSpPr>
        <p:spPr>
          <a:xfrm>
            <a:off x="3417689" y="6416278"/>
            <a:ext cx="3857506" cy="297656"/>
          </a:xfrm>
          <a:prstGeom prst="roundRect">
            <a:avLst>
              <a:gd name="adj" fmla="val 23862"/>
            </a:avLst>
          </a:prstGeom>
          <a:solidFill>
            <a:srgbClr val="CEE6FD"/>
          </a:solidFill>
          <a:ln/>
        </p:spPr>
      </p:sp>
      <p:sp>
        <p:nvSpPr>
          <p:cNvPr id="34" name="Text 31"/>
          <p:cNvSpPr/>
          <p:nvPr/>
        </p:nvSpPr>
        <p:spPr>
          <a:xfrm>
            <a:off x="3516868" y="6763464"/>
            <a:ext cx="1954768" cy="162639"/>
          </a:xfrm>
          <a:prstGeom prst="rect">
            <a:avLst/>
          </a:prstGeom>
          <a:noFill/>
          <a:ln/>
        </p:spPr>
        <p:txBody>
          <a:bodyPr wrap="none" lIns="0" tIns="0" rIns="0" bIns="0" rtlCol="0" anchor="t"/>
          <a:lstStyle/>
          <a:p>
            <a:pPr algn="l" indent="0" marL="0">
              <a:lnSpc>
                <a:spcPts val="1200"/>
              </a:lnSpc>
              <a:buNone/>
            </a:pPr>
            <a:r>
              <a:rPr lang="en-US" sz="950" dirty="0">
                <a:solidFill>
                  <a:srgbClr val="000000"/>
                </a:solidFill>
                <a:latin typeface="Instrument Sans Semi Bold" pitchFamily="34" charset="0"/>
                <a:ea typeface="Instrument Sans Semi Bold" pitchFamily="34" charset="-122"/>
                <a:cs typeface="Instrument Sans Semi Bold" pitchFamily="34" charset="-120"/>
              </a:rPr>
              <a:t>🤖</a:t>
            </a:r>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 Amazon Recruiting Tool (2018)</a:t>
            </a:r>
            <a:endParaRPr lang="en-US" sz="950" dirty="0"/>
          </a:p>
        </p:txBody>
      </p:sp>
      <p:sp>
        <p:nvSpPr>
          <p:cNvPr id="35" name="Text 32"/>
          <p:cNvSpPr/>
          <p:nvPr/>
        </p:nvSpPr>
        <p:spPr>
          <a:xfrm>
            <a:off x="3516868" y="6955869"/>
            <a:ext cx="3659148" cy="356830"/>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Sistema de selección de CV que discriminaba a mujeres porque fue entrenado con datos históricos sesgados. </a:t>
            </a:r>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Lección:</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Los datos históricos perpetúan sesgos. La auditabilidad y la equidad deben ser requisitos desde el diseño.</a:t>
            </a:r>
            <a:endParaRPr lang="en-US" sz="750" dirty="0"/>
          </a:p>
        </p:txBody>
      </p:sp>
      <p:sp>
        <p:nvSpPr>
          <p:cNvPr id="36" name="Shape 33"/>
          <p:cNvSpPr/>
          <p:nvPr/>
        </p:nvSpPr>
        <p:spPr>
          <a:xfrm>
            <a:off x="7339965" y="6401038"/>
            <a:ext cx="3887986" cy="1026081"/>
          </a:xfrm>
          <a:prstGeom prst="roundRect">
            <a:avLst>
              <a:gd name="adj" fmla="val 8704"/>
            </a:avLst>
          </a:prstGeom>
          <a:solidFill>
            <a:srgbClr val="FFFFFF"/>
          </a:solidFill>
          <a:ln w="15240">
            <a:solidFill>
              <a:srgbClr val="B4CCE3"/>
            </a:solidFill>
            <a:prstDash val="solid"/>
          </a:ln>
        </p:spPr>
      </p:sp>
      <p:sp>
        <p:nvSpPr>
          <p:cNvPr id="37" name="Shape 34"/>
          <p:cNvSpPr/>
          <p:nvPr/>
        </p:nvSpPr>
        <p:spPr>
          <a:xfrm>
            <a:off x="7355205" y="6416278"/>
            <a:ext cx="3857506" cy="297656"/>
          </a:xfrm>
          <a:prstGeom prst="roundRect">
            <a:avLst>
              <a:gd name="adj" fmla="val 23862"/>
            </a:avLst>
          </a:prstGeom>
          <a:solidFill>
            <a:srgbClr val="CEE6FD"/>
          </a:solidFill>
          <a:ln/>
        </p:spPr>
      </p:sp>
      <p:sp>
        <p:nvSpPr>
          <p:cNvPr id="38" name="Text 35"/>
          <p:cNvSpPr/>
          <p:nvPr/>
        </p:nvSpPr>
        <p:spPr>
          <a:xfrm>
            <a:off x="7454384" y="6763464"/>
            <a:ext cx="1290757" cy="162639"/>
          </a:xfrm>
          <a:prstGeom prst="rect">
            <a:avLst/>
          </a:prstGeom>
          <a:noFill/>
          <a:ln/>
        </p:spPr>
        <p:txBody>
          <a:bodyPr wrap="none" lIns="0" tIns="0" rIns="0" bIns="0" rtlCol="0" anchor="t"/>
          <a:lstStyle/>
          <a:p>
            <a:pPr algn="l" indent="0" marL="0">
              <a:lnSpc>
                <a:spcPts val="1200"/>
              </a:lnSpc>
              <a:buNone/>
            </a:pPr>
            <a:r>
              <a:rPr lang="en-US" sz="950" dirty="0">
                <a:solidFill>
                  <a:srgbClr val="000000"/>
                </a:solidFill>
                <a:latin typeface="Instrument Sans Semi Bold" pitchFamily="34" charset="0"/>
                <a:ea typeface="Instrument Sans Semi Bold" pitchFamily="34" charset="-122"/>
                <a:cs typeface="Instrument Sans Semi Bold" pitchFamily="34" charset="-120"/>
              </a:rPr>
              <a:t>🚌</a:t>
            </a:r>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 IBM Watson Health</a:t>
            </a:r>
            <a:endParaRPr lang="en-US" sz="950" dirty="0"/>
          </a:p>
        </p:txBody>
      </p:sp>
      <p:sp>
        <p:nvSpPr>
          <p:cNvPr id="39" name="Text 36"/>
          <p:cNvSpPr/>
          <p:nvPr/>
        </p:nvSpPr>
        <p:spPr>
          <a:xfrm>
            <a:off x="7454384" y="6955869"/>
            <a:ext cx="3659148" cy="356830"/>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Inversión multimillonaria en IA oncológica que no llegó a implementarse clínicamente por falta de validación en datos reales y resistencia médica. </a:t>
            </a:r>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Lección:</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La sofisticación técnica no garantiza la utilidad clínica ni la adopción.</a:t>
            </a:r>
            <a:endParaRPr lang="en-US" sz="750" dirty="0"/>
          </a:p>
        </p:txBody>
      </p:sp>
      <p:sp>
        <p:nvSpPr>
          <p:cNvPr id="40" name="Shape 37"/>
          <p:cNvSpPr/>
          <p:nvPr/>
        </p:nvSpPr>
        <p:spPr>
          <a:xfrm>
            <a:off x="3402449" y="7476649"/>
            <a:ext cx="3887986" cy="1145024"/>
          </a:xfrm>
          <a:prstGeom prst="roundRect">
            <a:avLst>
              <a:gd name="adj" fmla="val 7800"/>
            </a:avLst>
          </a:prstGeom>
          <a:solidFill>
            <a:srgbClr val="FFFFFF"/>
          </a:solidFill>
          <a:ln w="15240">
            <a:solidFill>
              <a:srgbClr val="B4CCE3"/>
            </a:solidFill>
            <a:prstDash val="solid"/>
          </a:ln>
        </p:spPr>
      </p:sp>
      <p:sp>
        <p:nvSpPr>
          <p:cNvPr id="41" name="Shape 38"/>
          <p:cNvSpPr/>
          <p:nvPr/>
        </p:nvSpPr>
        <p:spPr>
          <a:xfrm>
            <a:off x="3417689" y="7491889"/>
            <a:ext cx="3857506" cy="297656"/>
          </a:xfrm>
          <a:prstGeom prst="roundRect">
            <a:avLst>
              <a:gd name="adj" fmla="val 23862"/>
            </a:avLst>
          </a:prstGeom>
          <a:solidFill>
            <a:srgbClr val="CEE6FD"/>
          </a:solidFill>
          <a:ln/>
        </p:spPr>
      </p:sp>
      <p:sp>
        <p:nvSpPr>
          <p:cNvPr id="42" name="Text 39"/>
          <p:cNvSpPr/>
          <p:nvPr/>
        </p:nvSpPr>
        <p:spPr>
          <a:xfrm>
            <a:off x="3516868" y="7839075"/>
            <a:ext cx="2034302" cy="162639"/>
          </a:xfrm>
          <a:prstGeom prst="rect">
            <a:avLst/>
          </a:prstGeom>
          <a:noFill/>
          <a:ln/>
        </p:spPr>
        <p:txBody>
          <a:bodyPr wrap="none" lIns="0" tIns="0" rIns="0" bIns="0" rtlCol="0" anchor="t"/>
          <a:lstStyle/>
          <a:p>
            <a:pPr algn="l" indent="0" marL="0">
              <a:lnSpc>
                <a:spcPts val="1200"/>
              </a:lnSpc>
              <a:buNone/>
            </a:pPr>
            <a:r>
              <a:rPr lang="en-US" sz="950" dirty="0">
                <a:solidFill>
                  <a:srgbClr val="000000"/>
                </a:solidFill>
                <a:latin typeface="Instrument Sans Semi Bold" pitchFamily="34" charset="0"/>
                <a:ea typeface="Instrument Sans Semi Bold" pitchFamily="34" charset="-122"/>
                <a:cs typeface="Instrument Sans Semi Bold" pitchFamily="34" charset="-120"/>
              </a:rPr>
              <a:t>🏪</a:t>
            </a:r>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 Retail — Chatbot sin integración</a:t>
            </a:r>
            <a:endParaRPr lang="en-US" sz="950" dirty="0"/>
          </a:p>
        </p:txBody>
      </p:sp>
      <p:sp>
        <p:nvSpPr>
          <p:cNvPr id="43" name="Text 40"/>
          <p:cNvSpPr/>
          <p:nvPr/>
        </p:nvSpPr>
        <p:spPr>
          <a:xfrm>
            <a:off x="3516868" y="8031480"/>
            <a:ext cx="3659148" cy="356830"/>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Chatbots de atención al cliente desplegados sin acceso a sistemas de pedidos ni CRM, incapaces de resolver consultas reales. </a:t>
            </a:r>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Lección:</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La IA sin integración operativa crea fricción, no valor.</a:t>
            </a:r>
            <a:endParaRPr lang="en-US" sz="750" dirty="0"/>
          </a:p>
        </p:txBody>
      </p:sp>
      <p:sp>
        <p:nvSpPr>
          <p:cNvPr id="44" name="Shape 41"/>
          <p:cNvSpPr/>
          <p:nvPr/>
        </p:nvSpPr>
        <p:spPr>
          <a:xfrm>
            <a:off x="7339965" y="7476649"/>
            <a:ext cx="3887986" cy="1145024"/>
          </a:xfrm>
          <a:prstGeom prst="roundRect">
            <a:avLst>
              <a:gd name="adj" fmla="val 7800"/>
            </a:avLst>
          </a:prstGeom>
          <a:solidFill>
            <a:srgbClr val="FFFFFF"/>
          </a:solidFill>
          <a:ln w="15240">
            <a:solidFill>
              <a:srgbClr val="B4CCE3"/>
            </a:solidFill>
            <a:prstDash val="solid"/>
          </a:ln>
        </p:spPr>
      </p:sp>
      <p:sp>
        <p:nvSpPr>
          <p:cNvPr id="45" name="Shape 42"/>
          <p:cNvSpPr/>
          <p:nvPr/>
        </p:nvSpPr>
        <p:spPr>
          <a:xfrm>
            <a:off x="7355205" y="7491889"/>
            <a:ext cx="3857506" cy="297656"/>
          </a:xfrm>
          <a:prstGeom prst="roundRect">
            <a:avLst>
              <a:gd name="adj" fmla="val 23862"/>
            </a:avLst>
          </a:prstGeom>
          <a:solidFill>
            <a:srgbClr val="CEE6FD"/>
          </a:solidFill>
          <a:ln/>
        </p:spPr>
      </p:sp>
      <p:sp>
        <p:nvSpPr>
          <p:cNvPr id="46" name="Text 43"/>
          <p:cNvSpPr/>
          <p:nvPr/>
        </p:nvSpPr>
        <p:spPr>
          <a:xfrm>
            <a:off x="7454384" y="7839075"/>
            <a:ext cx="2640211" cy="162639"/>
          </a:xfrm>
          <a:prstGeom prst="rect">
            <a:avLst/>
          </a:prstGeom>
          <a:noFill/>
          <a:ln/>
        </p:spPr>
        <p:txBody>
          <a:bodyPr wrap="none" lIns="0" tIns="0" rIns="0" bIns="0" rtlCol="0" anchor="t"/>
          <a:lstStyle/>
          <a:p>
            <a:pPr algn="l" indent="0" marL="0">
              <a:lnSpc>
                <a:spcPts val="1200"/>
              </a:lnSpc>
              <a:buNone/>
            </a:pPr>
            <a:r>
              <a:rPr lang="en-US" sz="950" dirty="0">
                <a:solidFill>
                  <a:srgbClr val="000000"/>
                </a:solidFill>
                <a:latin typeface="Instrument Sans Semi Bold" pitchFamily="34" charset="0"/>
                <a:ea typeface="Instrument Sans Semi Bold" pitchFamily="34" charset="-122"/>
                <a:cs typeface="Instrument Sans Semi Bold" pitchFamily="34" charset="-120"/>
              </a:rPr>
              <a:t>📊</a:t>
            </a:r>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 Predicción de demanda sin datos externos</a:t>
            </a:r>
            <a:endParaRPr lang="en-US" sz="950" dirty="0"/>
          </a:p>
        </p:txBody>
      </p:sp>
      <p:sp>
        <p:nvSpPr>
          <p:cNvPr id="47" name="Text 44"/>
          <p:cNvSpPr/>
          <p:nvPr/>
        </p:nvSpPr>
        <p:spPr>
          <a:xfrm>
            <a:off x="7454384" y="8031480"/>
            <a:ext cx="3659148" cy="475774"/>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Modelos de forecasting que ignoraban eventos externos (COVID, huelgas, clima). Colapso total de predicciones en escenarios atípicos. </a:t>
            </a:r>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Lección:</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Los modelos deben incorporar señales del mundo real, no solo datos históricos internos.</a:t>
            </a:r>
            <a:endParaRPr lang="en-US" sz="750" dirty="0"/>
          </a:p>
        </p:txBody>
      </p:sp>
      <p:sp>
        <p:nvSpPr>
          <p:cNvPr id="48" name="Text 45"/>
          <p:cNvSpPr/>
          <p:nvPr/>
        </p:nvSpPr>
        <p:spPr>
          <a:xfrm>
            <a:off x="3402449" y="8696087"/>
            <a:ext cx="2307312" cy="248007"/>
          </a:xfrm>
          <a:prstGeom prst="rect">
            <a:avLst/>
          </a:prstGeom>
          <a:noFill/>
          <a:ln/>
        </p:spPr>
        <p:txBody>
          <a:bodyPr wrap="none" lIns="0" tIns="0" rIns="0" bIns="0" rtlCol="0" anchor="t"/>
          <a:lstStyle/>
          <a:p>
            <a:pPr algn="l" indent="0" marL="0">
              <a:lnSpc>
                <a:spcPts val="1950"/>
              </a:lnSpc>
              <a:buNone/>
            </a:pPr>
            <a:r>
              <a:rPr lang="en-US" sz="1550" dirty="0">
                <a:solidFill>
                  <a:srgbClr val="091C53"/>
                </a:solidFill>
                <a:latin typeface="Instrument Sans Semi Bold" pitchFamily="34" charset="0"/>
                <a:ea typeface="Instrument Sans Semi Bold" pitchFamily="34" charset="-122"/>
                <a:cs typeface="Instrument Sans Semi Bold" pitchFamily="34" charset="-120"/>
              </a:rPr>
              <a:t>Errores comunes a evitar</a:t>
            </a:r>
            <a:endParaRPr lang="en-US" sz="1550" dirty="0"/>
          </a:p>
        </p:txBody>
      </p:sp>
      <p:sp>
        <p:nvSpPr>
          <p:cNvPr id="49" name="Shape 46"/>
          <p:cNvSpPr/>
          <p:nvPr/>
        </p:nvSpPr>
        <p:spPr>
          <a:xfrm>
            <a:off x="3402449" y="9074229"/>
            <a:ext cx="1871067" cy="886301"/>
          </a:xfrm>
          <a:prstGeom prst="roundRect">
            <a:avLst>
              <a:gd name="adj" fmla="val 10077"/>
            </a:avLst>
          </a:prstGeom>
          <a:solidFill>
            <a:srgbClr val="CEE6FD"/>
          </a:solidFill>
          <a:ln/>
        </p:spPr>
      </p:sp>
      <p:sp>
        <p:nvSpPr>
          <p:cNvPr id="50" name="Text 47"/>
          <p:cNvSpPr/>
          <p:nvPr/>
        </p:nvSpPr>
        <p:spPr>
          <a:xfrm>
            <a:off x="3501628" y="9173408"/>
            <a:ext cx="1240393" cy="162639"/>
          </a:xfrm>
          <a:prstGeom prst="rect">
            <a:avLst/>
          </a:prstGeom>
          <a:noFill/>
          <a:ln/>
        </p:spPr>
        <p:txBody>
          <a:bodyPr wrap="none" lIns="0" tIns="0" rIns="0" bIns="0" rtlCol="0" anchor="t"/>
          <a:lstStyle/>
          <a:p>
            <a:pPr algn="l" indent="0" marL="0">
              <a:lnSpc>
                <a:spcPts val="1200"/>
              </a:lnSpc>
              <a:buNone/>
            </a:pPr>
            <a:r>
              <a:rPr lang="en-US" sz="950" dirty="0">
                <a:solidFill>
                  <a:srgbClr val="000000"/>
                </a:solidFill>
                <a:latin typeface="Instrument Sans Semi Bold" pitchFamily="34" charset="0"/>
                <a:ea typeface="Instrument Sans Semi Bold" pitchFamily="34" charset="-122"/>
                <a:cs typeface="Instrument Sans Semi Bold" pitchFamily="34" charset="-120"/>
              </a:rPr>
              <a:t>🎯</a:t>
            </a:r>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 Error de alcance</a:t>
            </a:r>
            <a:endParaRPr lang="en-US" sz="950" dirty="0"/>
          </a:p>
        </p:txBody>
      </p:sp>
      <p:sp>
        <p:nvSpPr>
          <p:cNvPr id="51" name="Text 48"/>
          <p:cNvSpPr/>
          <p:nvPr/>
        </p:nvSpPr>
        <p:spPr>
          <a:xfrm>
            <a:off x="3501628" y="9385578"/>
            <a:ext cx="1672709" cy="356830"/>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Intentar resolver todo con IA a la vez. Mejor: un problema, un piloto, un éxito demostrable antes de escalar.</a:t>
            </a:r>
            <a:endParaRPr lang="en-US" sz="750" dirty="0"/>
          </a:p>
        </p:txBody>
      </p:sp>
      <p:sp>
        <p:nvSpPr>
          <p:cNvPr id="52" name="Shape 49"/>
          <p:cNvSpPr/>
          <p:nvPr/>
        </p:nvSpPr>
        <p:spPr>
          <a:xfrm>
            <a:off x="5323046" y="9074229"/>
            <a:ext cx="1871186" cy="886301"/>
          </a:xfrm>
          <a:prstGeom prst="roundRect">
            <a:avLst>
              <a:gd name="adj" fmla="val 10077"/>
            </a:avLst>
          </a:prstGeom>
          <a:solidFill>
            <a:srgbClr val="CEE6FD"/>
          </a:solidFill>
          <a:ln/>
        </p:spPr>
      </p:sp>
      <p:sp>
        <p:nvSpPr>
          <p:cNvPr id="53" name="Text 50"/>
          <p:cNvSpPr/>
          <p:nvPr/>
        </p:nvSpPr>
        <p:spPr>
          <a:xfrm>
            <a:off x="5422225" y="9173408"/>
            <a:ext cx="1240393" cy="162639"/>
          </a:xfrm>
          <a:prstGeom prst="rect">
            <a:avLst/>
          </a:prstGeom>
          <a:noFill/>
          <a:ln/>
        </p:spPr>
        <p:txBody>
          <a:bodyPr wrap="none" lIns="0" tIns="0" rIns="0" bIns="0" rtlCol="0" anchor="t"/>
          <a:lstStyle/>
          <a:p>
            <a:pPr algn="l" indent="0" marL="0">
              <a:lnSpc>
                <a:spcPts val="1200"/>
              </a:lnSpc>
              <a:buNone/>
            </a:pPr>
            <a:r>
              <a:rPr lang="en-US" sz="950" dirty="0">
                <a:solidFill>
                  <a:srgbClr val="000000"/>
                </a:solidFill>
                <a:latin typeface="Instrument Sans Semi Bold" pitchFamily="34" charset="0"/>
                <a:ea typeface="Instrument Sans Semi Bold" pitchFamily="34" charset="-122"/>
                <a:cs typeface="Instrument Sans Semi Bold" pitchFamily="34" charset="-120"/>
              </a:rPr>
              <a:t>📦</a:t>
            </a:r>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 Error de datos</a:t>
            </a:r>
            <a:endParaRPr lang="en-US" sz="950" dirty="0"/>
          </a:p>
        </p:txBody>
      </p:sp>
      <p:sp>
        <p:nvSpPr>
          <p:cNvPr id="54" name="Text 51"/>
          <p:cNvSpPr/>
          <p:nvPr/>
        </p:nvSpPr>
        <p:spPr>
          <a:xfrm>
            <a:off x="5422225" y="9385578"/>
            <a:ext cx="1672828" cy="475774"/>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Asumir que los datos existentes son suficientes sin auditarlos. El 70% del tiempo en un proyecto real es limpieza y preparación de datos.</a:t>
            </a:r>
            <a:endParaRPr lang="en-US" sz="750" dirty="0"/>
          </a:p>
        </p:txBody>
      </p:sp>
      <p:sp>
        <p:nvSpPr>
          <p:cNvPr id="55" name="Shape 52"/>
          <p:cNvSpPr/>
          <p:nvPr/>
        </p:nvSpPr>
        <p:spPr>
          <a:xfrm>
            <a:off x="3402449" y="10010061"/>
            <a:ext cx="3791783" cy="648414"/>
          </a:xfrm>
          <a:prstGeom prst="roundRect">
            <a:avLst>
              <a:gd name="adj" fmla="val 13774"/>
            </a:avLst>
          </a:prstGeom>
          <a:solidFill>
            <a:srgbClr val="CEE6FD"/>
          </a:solidFill>
          <a:ln/>
        </p:spPr>
      </p:sp>
      <p:sp>
        <p:nvSpPr>
          <p:cNvPr id="56" name="Text 53"/>
          <p:cNvSpPr/>
          <p:nvPr/>
        </p:nvSpPr>
        <p:spPr>
          <a:xfrm>
            <a:off x="3501628" y="10109240"/>
            <a:ext cx="1261467" cy="162639"/>
          </a:xfrm>
          <a:prstGeom prst="rect">
            <a:avLst/>
          </a:prstGeom>
          <a:noFill/>
          <a:ln/>
        </p:spPr>
        <p:txBody>
          <a:bodyPr wrap="none" lIns="0" tIns="0" rIns="0" bIns="0" rtlCol="0" anchor="t"/>
          <a:lstStyle/>
          <a:p>
            <a:pPr algn="l" indent="0" marL="0">
              <a:lnSpc>
                <a:spcPts val="1200"/>
              </a:lnSpc>
              <a:buNone/>
            </a:pPr>
            <a:r>
              <a:rPr lang="en-US" sz="950" dirty="0">
                <a:solidFill>
                  <a:srgbClr val="000000"/>
                </a:solidFill>
                <a:latin typeface="Instrument Sans Semi Bold" pitchFamily="34" charset="0"/>
                <a:ea typeface="Instrument Sans Semi Bold" pitchFamily="34" charset="-122"/>
                <a:cs typeface="Instrument Sans Semi Bold" pitchFamily="34" charset="-120"/>
              </a:rPr>
              <a:t>🧪</a:t>
            </a:r>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 Error de validación</a:t>
            </a:r>
            <a:endParaRPr lang="en-US" sz="950" dirty="0"/>
          </a:p>
        </p:txBody>
      </p:sp>
      <p:sp>
        <p:nvSpPr>
          <p:cNvPr id="57" name="Text 54"/>
          <p:cNvSpPr/>
          <p:nvPr/>
        </p:nvSpPr>
        <p:spPr>
          <a:xfrm>
            <a:off x="3501628" y="10321409"/>
            <a:ext cx="3593425" cy="237887"/>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Pasar del laboratorio a producción sin un piloto controlado. Los resultados en entorno de prueba rara vez se replican directamente.</a:t>
            </a:r>
            <a:endParaRPr lang="en-US" sz="750" dirty="0"/>
          </a:p>
        </p:txBody>
      </p:sp>
      <p:sp>
        <p:nvSpPr>
          <p:cNvPr id="58" name="Shape 55"/>
          <p:cNvSpPr/>
          <p:nvPr/>
        </p:nvSpPr>
        <p:spPr>
          <a:xfrm>
            <a:off x="7443788" y="9074229"/>
            <a:ext cx="1871067" cy="886301"/>
          </a:xfrm>
          <a:prstGeom prst="roundRect">
            <a:avLst>
              <a:gd name="adj" fmla="val 10077"/>
            </a:avLst>
          </a:prstGeom>
          <a:solidFill>
            <a:srgbClr val="CEE6FD"/>
          </a:solidFill>
          <a:ln/>
        </p:spPr>
      </p:sp>
      <p:sp>
        <p:nvSpPr>
          <p:cNvPr id="59" name="Text 56"/>
          <p:cNvSpPr/>
          <p:nvPr/>
        </p:nvSpPr>
        <p:spPr>
          <a:xfrm>
            <a:off x="7542967" y="9173408"/>
            <a:ext cx="1240393" cy="162639"/>
          </a:xfrm>
          <a:prstGeom prst="rect">
            <a:avLst/>
          </a:prstGeom>
          <a:noFill/>
          <a:ln/>
        </p:spPr>
        <p:txBody>
          <a:bodyPr wrap="none" lIns="0" tIns="0" rIns="0" bIns="0" rtlCol="0" anchor="t"/>
          <a:lstStyle/>
          <a:p>
            <a:pPr algn="l" indent="0" marL="0">
              <a:lnSpc>
                <a:spcPts val="1200"/>
              </a:lnSpc>
              <a:buNone/>
            </a:pPr>
            <a:r>
              <a:rPr lang="en-US" sz="950" dirty="0">
                <a:solidFill>
                  <a:srgbClr val="000000"/>
                </a:solidFill>
                <a:latin typeface="Instrument Sans Semi Bold" pitchFamily="34" charset="0"/>
                <a:ea typeface="Instrument Sans Semi Bold" pitchFamily="34" charset="-122"/>
                <a:cs typeface="Instrument Sans Semi Bold" pitchFamily="34" charset="-120"/>
              </a:rPr>
              <a:t>👥</a:t>
            </a:r>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 Error humano</a:t>
            </a:r>
            <a:endParaRPr lang="en-US" sz="950" dirty="0"/>
          </a:p>
        </p:txBody>
      </p:sp>
      <p:sp>
        <p:nvSpPr>
          <p:cNvPr id="60" name="Text 57"/>
          <p:cNvSpPr/>
          <p:nvPr/>
        </p:nvSpPr>
        <p:spPr>
          <a:xfrm>
            <a:off x="7542967" y="9385578"/>
            <a:ext cx="1672709" cy="475774"/>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Ignorar la resistencia organizacional. Sin reskilling, comunicación y liderazgo visible, la adopción fracasa aunque el modelo funcione.</a:t>
            </a:r>
            <a:endParaRPr lang="en-US" sz="750" dirty="0"/>
          </a:p>
        </p:txBody>
      </p:sp>
      <p:sp>
        <p:nvSpPr>
          <p:cNvPr id="61" name="Shape 58"/>
          <p:cNvSpPr/>
          <p:nvPr/>
        </p:nvSpPr>
        <p:spPr>
          <a:xfrm>
            <a:off x="9364385" y="9074229"/>
            <a:ext cx="1871186" cy="886301"/>
          </a:xfrm>
          <a:prstGeom prst="roundRect">
            <a:avLst>
              <a:gd name="adj" fmla="val 10077"/>
            </a:avLst>
          </a:prstGeom>
          <a:solidFill>
            <a:srgbClr val="CEE6FD"/>
          </a:solidFill>
          <a:ln/>
        </p:spPr>
      </p:sp>
      <p:sp>
        <p:nvSpPr>
          <p:cNvPr id="62" name="Text 59"/>
          <p:cNvSpPr/>
          <p:nvPr/>
        </p:nvSpPr>
        <p:spPr>
          <a:xfrm>
            <a:off x="9463564" y="9173408"/>
            <a:ext cx="1240393" cy="162639"/>
          </a:xfrm>
          <a:prstGeom prst="rect">
            <a:avLst/>
          </a:prstGeom>
          <a:noFill/>
          <a:ln/>
        </p:spPr>
        <p:txBody>
          <a:bodyPr wrap="none" lIns="0" tIns="0" rIns="0" bIns="0" rtlCol="0" anchor="t"/>
          <a:lstStyle/>
          <a:p>
            <a:pPr algn="l" indent="0" marL="0">
              <a:lnSpc>
                <a:spcPts val="1200"/>
              </a:lnSpc>
              <a:buNone/>
            </a:pPr>
            <a:r>
              <a:rPr lang="en-US" sz="950" dirty="0">
                <a:solidFill>
                  <a:srgbClr val="000000"/>
                </a:solidFill>
                <a:latin typeface="Instrument Sans Semi Bold" pitchFamily="34" charset="0"/>
                <a:ea typeface="Instrument Sans Semi Bold" pitchFamily="34" charset="-122"/>
                <a:cs typeface="Instrument Sans Semi Bold" pitchFamily="34" charset="-120"/>
              </a:rPr>
              <a:t>⚖️</a:t>
            </a:r>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 Error regulatorio</a:t>
            </a:r>
            <a:endParaRPr lang="en-US" sz="950" dirty="0"/>
          </a:p>
        </p:txBody>
      </p:sp>
      <p:sp>
        <p:nvSpPr>
          <p:cNvPr id="63" name="Text 60"/>
          <p:cNvSpPr/>
          <p:nvPr/>
        </p:nvSpPr>
        <p:spPr>
          <a:xfrm>
            <a:off x="9463564" y="9385578"/>
            <a:ext cx="1672828" cy="475774"/>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No contemplar desde el inicio GDPR, explicabilidad y sesgos. En sectores regulados, esto puede paralizar o eliminar el proyecto.</a:t>
            </a:r>
            <a:endParaRPr lang="en-US" sz="750" dirty="0"/>
          </a:p>
        </p:txBody>
      </p:sp>
      <p:sp>
        <p:nvSpPr>
          <p:cNvPr id="64" name="Shape 61"/>
          <p:cNvSpPr/>
          <p:nvPr/>
        </p:nvSpPr>
        <p:spPr>
          <a:xfrm>
            <a:off x="7443788" y="10010061"/>
            <a:ext cx="3791783" cy="648414"/>
          </a:xfrm>
          <a:prstGeom prst="roundRect">
            <a:avLst>
              <a:gd name="adj" fmla="val 13774"/>
            </a:avLst>
          </a:prstGeom>
          <a:solidFill>
            <a:srgbClr val="CEE6FD"/>
          </a:solidFill>
          <a:ln/>
        </p:spPr>
      </p:sp>
      <p:sp>
        <p:nvSpPr>
          <p:cNvPr id="65" name="Text 62"/>
          <p:cNvSpPr/>
          <p:nvPr/>
        </p:nvSpPr>
        <p:spPr>
          <a:xfrm>
            <a:off x="7542967" y="10109240"/>
            <a:ext cx="1569958" cy="162639"/>
          </a:xfrm>
          <a:prstGeom prst="rect">
            <a:avLst/>
          </a:prstGeom>
          <a:noFill/>
          <a:ln/>
        </p:spPr>
        <p:txBody>
          <a:bodyPr wrap="none" lIns="0" tIns="0" rIns="0" bIns="0" rtlCol="0" anchor="t"/>
          <a:lstStyle/>
          <a:p>
            <a:pPr algn="l" indent="0" marL="0">
              <a:lnSpc>
                <a:spcPts val="1200"/>
              </a:lnSpc>
              <a:buNone/>
            </a:pPr>
            <a:r>
              <a:rPr lang="en-US" sz="950" dirty="0">
                <a:solidFill>
                  <a:srgbClr val="000000"/>
                </a:solidFill>
                <a:latin typeface="Instrument Sans Semi Bold" pitchFamily="34" charset="0"/>
                <a:ea typeface="Instrument Sans Semi Bold" pitchFamily="34" charset="-122"/>
                <a:cs typeface="Instrument Sans Semi Bold" pitchFamily="34" charset="-120"/>
              </a:rPr>
              <a:t>🔄</a:t>
            </a:r>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 Error de mantenimiento</a:t>
            </a:r>
            <a:endParaRPr lang="en-US" sz="950" dirty="0"/>
          </a:p>
        </p:txBody>
      </p:sp>
      <p:sp>
        <p:nvSpPr>
          <p:cNvPr id="66" name="Text 63"/>
          <p:cNvSpPr/>
          <p:nvPr/>
        </p:nvSpPr>
        <p:spPr>
          <a:xfrm>
            <a:off x="7542967" y="10321409"/>
            <a:ext cx="3593425" cy="237887"/>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Tratar la IA como un proyecto con fecha de fin. Los modelos se degradan (</a:t>
            </a:r>
            <a:pPr algn="l" indent="0" marL="0">
              <a:lnSpc>
                <a:spcPts val="900"/>
              </a:lnSpc>
              <a:buNone/>
            </a:pPr>
            <a:r>
              <a:rPr lang="en-US" sz="750" i="1" dirty="0">
                <a:solidFill>
                  <a:srgbClr val="1E3063"/>
                </a:solidFill>
                <a:latin typeface="Instrument Sans Medium" pitchFamily="34" charset="0"/>
                <a:ea typeface="Instrument Sans Medium" pitchFamily="34" charset="-122"/>
                <a:cs typeface="Instrument Sans Medium" pitchFamily="34" charset="-120"/>
              </a:rPr>
              <a:t>drift</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y necesitan monitorización y reentrenamiento continuo.</a:t>
            </a:r>
            <a:endParaRPr lang="en-US" sz="750" dirty="0"/>
          </a:p>
        </p:txBody>
      </p:sp>
      <p:sp>
        <p:nvSpPr>
          <p:cNvPr id="67" name="Text 64"/>
          <p:cNvSpPr/>
          <p:nvPr/>
        </p:nvSpPr>
        <p:spPr>
          <a:xfrm>
            <a:off x="3402449" y="10788610"/>
            <a:ext cx="4057293" cy="248007"/>
          </a:xfrm>
          <a:prstGeom prst="rect">
            <a:avLst/>
          </a:prstGeom>
          <a:noFill/>
          <a:ln/>
        </p:spPr>
        <p:txBody>
          <a:bodyPr wrap="none" lIns="0" tIns="0" rIns="0" bIns="0" rtlCol="0" anchor="t"/>
          <a:lstStyle/>
          <a:p>
            <a:pPr algn="l" indent="0" marL="0">
              <a:lnSpc>
                <a:spcPts val="1950"/>
              </a:lnSpc>
              <a:buNone/>
            </a:pPr>
            <a:r>
              <a:rPr lang="en-US" sz="1550" dirty="0">
                <a:solidFill>
                  <a:srgbClr val="091C53"/>
                </a:solidFill>
                <a:latin typeface="Instrument Sans Semi Bold" pitchFamily="34" charset="0"/>
                <a:ea typeface="Instrument Sans Semi Bold" pitchFamily="34" charset="-122"/>
                <a:cs typeface="Instrument Sans Semi Bold" pitchFamily="34" charset="-120"/>
              </a:rPr>
              <a:t>Mejores prácticas y lecciones de la industria</a:t>
            </a:r>
            <a:endParaRPr lang="en-US" sz="1550" dirty="0"/>
          </a:p>
        </p:txBody>
      </p:sp>
      <p:pic>
        <p:nvPicPr>
          <p:cNvPr id="68" name="Image 1" descr="preencoded.png">    </p:cNvPr>
          <p:cNvPicPr>
            <a:picLocks noChangeAspect="1"/>
          </p:cNvPicPr>
          <p:nvPr/>
        </p:nvPicPr>
        <p:blipFill>
          <a:blip r:embed="rId3"/>
          <a:stretch>
            <a:fillRect/>
          </a:stretch>
        </p:blipFill>
        <p:spPr>
          <a:xfrm>
            <a:off x="3402449" y="11111032"/>
            <a:ext cx="3912751" cy="396835"/>
          </a:xfrm>
          <a:prstGeom prst="rect">
            <a:avLst/>
          </a:prstGeom>
        </p:spPr>
      </p:pic>
      <p:sp>
        <p:nvSpPr>
          <p:cNvPr id="69" name="Text 65"/>
          <p:cNvSpPr/>
          <p:nvPr/>
        </p:nvSpPr>
        <p:spPr>
          <a:xfrm>
            <a:off x="3501628" y="11557397"/>
            <a:ext cx="2489835" cy="155019"/>
          </a:xfrm>
          <a:prstGeom prst="rect">
            <a:avLst/>
          </a:prstGeom>
          <a:noFill/>
          <a:ln/>
        </p:spPr>
        <p:txBody>
          <a:bodyPr wrap="none" lIns="0" tIns="0" rIns="0" bIns="0" rtlCol="0" anchor="t"/>
          <a:lstStyle/>
          <a:p>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Define el problema en términos de negocio</a:t>
            </a:r>
            <a:endParaRPr lang="en-US" sz="950" dirty="0"/>
          </a:p>
        </p:txBody>
      </p:sp>
      <p:sp>
        <p:nvSpPr>
          <p:cNvPr id="70" name="Text 66"/>
          <p:cNvSpPr/>
          <p:nvPr/>
        </p:nvSpPr>
        <p:spPr>
          <a:xfrm>
            <a:off x="3501628" y="11742182"/>
            <a:ext cx="3714393" cy="237887"/>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Antes de pensar en algoritmos, cuantifica el coste actual del problema y el valor de resolverlo.</a:t>
            </a:r>
            <a:endParaRPr lang="en-US" sz="750" dirty="0"/>
          </a:p>
        </p:txBody>
      </p:sp>
      <p:pic>
        <p:nvPicPr>
          <p:cNvPr id="71" name="Image 2" descr="preencoded.png">    </p:cNvPr>
          <p:cNvPicPr>
            <a:picLocks noChangeAspect="1"/>
          </p:cNvPicPr>
          <p:nvPr/>
        </p:nvPicPr>
        <p:blipFill>
          <a:blip r:embed="rId4"/>
          <a:stretch>
            <a:fillRect/>
          </a:stretch>
        </p:blipFill>
        <p:spPr>
          <a:xfrm>
            <a:off x="7315200" y="11111032"/>
            <a:ext cx="3912751" cy="396835"/>
          </a:xfrm>
          <a:prstGeom prst="rect">
            <a:avLst/>
          </a:prstGeom>
        </p:spPr>
      </p:pic>
      <p:sp>
        <p:nvSpPr>
          <p:cNvPr id="72" name="Text 67"/>
          <p:cNvSpPr/>
          <p:nvPr/>
        </p:nvSpPr>
        <p:spPr>
          <a:xfrm>
            <a:off x="7414379" y="11557397"/>
            <a:ext cx="1821418" cy="155019"/>
          </a:xfrm>
          <a:prstGeom prst="rect">
            <a:avLst/>
          </a:prstGeom>
          <a:noFill/>
          <a:ln/>
        </p:spPr>
        <p:txBody>
          <a:bodyPr wrap="none" lIns="0" tIns="0" rIns="0" bIns="0" rtlCol="0" anchor="t"/>
          <a:lstStyle/>
          <a:p>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Pilota pequeño, aprende rápido</a:t>
            </a:r>
            <a:endParaRPr lang="en-US" sz="950" dirty="0"/>
          </a:p>
        </p:txBody>
      </p:sp>
      <p:sp>
        <p:nvSpPr>
          <p:cNvPr id="73" name="Text 68"/>
          <p:cNvSpPr/>
          <p:nvPr/>
        </p:nvSpPr>
        <p:spPr>
          <a:xfrm>
            <a:off x="7414379" y="11742182"/>
            <a:ext cx="3714393" cy="237887"/>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Un piloto en 4–8 semanas sobre un caso acotado genera aprendizaje real y credibilidad interna.</a:t>
            </a:r>
            <a:endParaRPr lang="en-US" sz="750" dirty="0"/>
          </a:p>
        </p:txBody>
      </p:sp>
      <p:pic>
        <p:nvPicPr>
          <p:cNvPr id="74" name="Image 3" descr="preencoded.png">    </p:cNvPr>
          <p:cNvPicPr>
            <a:picLocks noChangeAspect="1"/>
          </p:cNvPicPr>
          <p:nvPr/>
        </p:nvPicPr>
        <p:blipFill>
          <a:blip r:embed="rId5"/>
          <a:stretch>
            <a:fillRect/>
          </a:stretch>
        </p:blipFill>
        <p:spPr>
          <a:xfrm>
            <a:off x="3402449" y="12079248"/>
            <a:ext cx="3912751" cy="396835"/>
          </a:xfrm>
          <a:prstGeom prst="rect">
            <a:avLst/>
          </a:prstGeom>
        </p:spPr>
      </p:pic>
      <p:sp>
        <p:nvSpPr>
          <p:cNvPr id="75" name="Text 69"/>
          <p:cNvSpPr/>
          <p:nvPr/>
        </p:nvSpPr>
        <p:spPr>
          <a:xfrm>
            <a:off x="3501628" y="12525613"/>
            <a:ext cx="2308027" cy="155019"/>
          </a:xfrm>
          <a:prstGeom prst="rect">
            <a:avLst/>
          </a:prstGeom>
          <a:noFill/>
          <a:ln/>
        </p:spPr>
        <p:txBody>
          <a:bodyPr wrap="none" lIns="0" tIns="0" rIns="0" bIns="0" rtlCol="0" anchor="t"/>
          <a:lstStyle/>
          <a:p>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Mide impacto en negocio, no en modelo</a:t>
            </a:r>
            <a:endParaRPr lang="en-US" sz="950" dirty="0"/>
          </a:p>
        </p:txBody>
      </p:sp>
      <p:sp>
        <p:nvSpPr>
          <p:cNvPr id="76" name="Text 70"/>
          <p:cNvSpPr/>
          <p:nvPr/>
        </p:nvSpPr>
        <p:spPr>
          <a:xfrm>
            <a:off x="3501628" y="12710398"/>
            <a:ext cx="3714393" cy="237887"/>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El accuracy del modelo importa menos que la reducción de costes, el aumento de ingresos o la mejora de experiencia.</a:t>
            </a:r>
            <a:endParaRPr lang="en-US" sz="750" dirty="0"/>
          </a:p>
        </p:txBody>
      </p:sp>
      <p:pic>
        <p:nvPicPr>
          <p:cNvPr id="77" name="Image 4" descr="preencoded.png">    </p:cNvPr>
          <p:cNvPicPr>
            <a:picLocks noChangeAspect="1"/>
          </p:cNvPicPr>
          <p:nvPr/>
        </p:nvPicPr>
        <p:blipFill>
          <a:blip r:embed="rId6"/>
          <a:stretch>
            <a:fillRect/>
          </a:stretch>
        </p:blipFill>
        <p:spPr>
          <a:xfrm>
            <a:off x="7315200" y="12079248"/>
            <a:ext cx="3912751" cy="396835"/>
          </a:xfrm>
          <a:prstGeom prst="rect">
            <a:avLst/>
          </a:prstGeom>
        </p:spPr>
      </p:pic>
      <p:sp>
        <p:nvSpPr>
          <p:cNvPr id="78" name="Text 71"/>
          <p:cNvSpPr/>
          <p:nvPr/>
        </p:nvSpPr>
        <p:spPr>
          <a:xfrm>
            <a:off x="7414379" y="12525613"/>
            <a:ext cx="2168962" cy="155019"/>
          </a:xfrm>
          <a:prstGeom prst="rect">
            <a:avLst/>
          </a:prstGeom>
          <a:noFill/>
          <a:ln/>
        </p:spPr>
        <p:txBody>
          <a:bodyPr wrap="none" lIns="0" tIns="0" rIns="0" bIns="0" rtlCol="0" anchor="t"/>
          <a:lstStyle/>
          <a:p>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Diseña para la adopción desde el día 1</a:t>
            </a:r>
            <a:endParaRPr lang="en-US" sz="950" dirty="0"/>
          </a:p>
        </p:txBody>
      </p:sp>
      <p:sp>
        <p:nvSpPr>
          <p:cNvPr id="79" name="Text 72"/>
          <p:cNvSpPr/>
          <p:nvPr/>
        </p:nvSpPr>
        <p:spPr>
          <a:xfrm>
            <a:off x="7414379" y="12710398"/>
            <a:ext cx="3714393" cy="237887"/>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Involucra a los usuarios finales desde el diseño. La IA que no se usa no genera valor, independientemente de su calidad técnica.</a:t>
            </a:r>
            <a:endParaRPr lang="en-US" sz="750" dirty="0"/>
          </a:p>
        </p:txBody>
      </p:sp>
      <p:sp>
        <p:nvSpPr>
          <p:cNvPr id="80" name="Shape 73"/>
          <p:cNvSpPr/>
          <p:nvPr/>
        </p:nvSpPr>
        <p:spPr>
          <a:xfrm>
            <a:off x="3402449" y="13103185"/>
            <a:ext cx="7825502" cy="406360"/>
          </a:xfrm>
          <a:prstGeom prst="roundRect">
            <a:avLst>
              <a:gd name="adj" fmla="val 21979"/>
            </a:avLst>
          </a:prstGeom>
          <a:solidFill>
            <a:srgbClr val="B5DAFC"/>
          </a:solidFill>
          <a:ln/>
        </p:spPr>
      </p:sp>
      <p:pic>
        <p:nvPicPr>
          <p:cNvPr id="81" name="Image 5" descr="preencoded.png">    </p:cNvPr>
          <p:cNvPicPr>
            <a:picLocks noChangeAspect="1"/>
          </p:cNvPicPr>
          <p:nvPr/>
        </p:nvPicPr>
        <p:blipFill>
          <a:blip r:embed="rId7"/>
          <a:stretch>
            <a:fillRect/>
          </a:stretch>
        </p:blipFill>
        <p:spPr>
          <a:xfrm>
            <a:off x="3501628" y="13231773"/>
            <a:ext cx="123944" cy="99179"/>
          </a:xfrm>
          <a:prstGeom prst="rect">
            <a:avLst/>
          </a:prstGeom>
        </p:spPr>
      </p:pic>
      <p:sp>
        <p:nvSpPr>
          <p:cNvPr id="82" name="Text 74"/>
          <p:cNvSpPr/>
          <p:nvPr/>
        </p:nvSpPr>
        <p:spPr>
          <a:xfrm>
            <a:off x="3724751" y="13177480"/>
            <a:ext cx="7404021" cy="237887"/>
          </a:xfrm>
          <a:prstGeom prst="rect">
            <a:avLst/>
          </a:prstGeom>
          <a:noFill/>
          <a:ln/>
        </p:spPr>
        <p:txBody>
          <a:bodyPr wrap="square" lIns="0" tIns="0" rIns="0" bIns="0" rtlCol="0" anchor="t"/>
          <a:lstStyle/>
          <a:p>
            <a:pPr algn="l" indent="0" marL="0">
              <a:lnSpc>
                <a:spcPts val="900"/>
              </a:lnSpc>
              <a:buNone/>
            </a:pPr>
            <a:r>
              <a:rPr lang="en-US" sz="750" dirty="0">
                <a:solidFill>
                  <a:srgbClr val="000000"/>
                </a:solidFill>
                <a:latin typeface="Instrument Sans Medium" pitchFamily="34" charset="0"/>
                <a:ea typeface="Instrument Sans Medium" pitchFamily="34" charset="-122"/>
                <a:cs typeface="Instrument Sans Medium" pitchFamily="34" charset="-120"/>
              </a:rPr>
              <a:t>💡</a:t>
            </a:r>
            <a:pPr algn="l" indent="0" marL="0">
              <a:lnSpc>
                <a:spcPts val="900"/>
              </a:lnSpc>
              <a:buNone/>
            </a:pPr>
            <a:r>
              <a:rPr lang="en-US" sz="750" dirty="0">
                <a:solidFill>
                  <a:srgbClr val="000000"/>
                </a:solidFill>
                <a:latin typeface="Instrument Sans Medium" pitchFamily="34" charset="0"/>
                <a:ea typeface="Instrument Sans Medium" pitchFamily="34" charset="-122"/>
                <a:cs typeface="Instrument Sans Medium" pitchFamily="34" charset="-120"/>
              </a:rPr>
              <a:t> </a:t>
            </a:r>
            <a:pPr algn="l" indent="0" marL="0">
              <a:lnSpc>
                <a:spcPts val="900"/>
              </a:lnSpc>
              <a:buNone/>
            </a:pPr>
            <a:r>
              <a:rPr lang="en-US" sz="750" b="1" dirty="0">
                <a:solidFill>
                  <a:srgbClr val="000000"/>
                </a:solidFill>
                <a:latin typeface="Instrument Sans Medium" pitchFamily="34" charset="0"/>
                <a:ea typeface="Instrument Sans Medium" pitchFamily="34" charset="-122"/>
                <a:cs typeface="Instrument Sans Medium" pitchFamily="34" charset="-120"/>
              </a:rPr>
              <a:t>Lección maestra de la industria:</a:t>
            </a:r>
            <a:pPr algn="l" indent="0" marL="0">
              <a:lnSpc>
                <a:spcPts val="900"/>
              </a:lnSpc>
              <a:buNone/>
            </a:pPr>
            <a:r>
              <a:rPr lang="en-US" sz="750" dirty="0">
                <a:solidFill>
                  <a:srgbClr val="000000"/>
                </a:solidFill>
                <a:latin typeface="Instrument Sans Medium" pitchFamily="34" charset="0"/>
                <a:ea typeface="Instrument Sans Medium" pitchFamily="34" charset="-122"/>
                <a:cs typeface="Instrument Sans Medium" pitchFamily="34" charset="-120"/>
              </a:rPr>
              <a:t> Los proyectos de IA fallidos suelen tener en común no haber resuelto un problema real con datos reales y usuarios reales. </a:t>
            </a:r>
            <a:pPr algn="l" indent="0" marL="0">
              <a:lnSpc>
                <a:spcPts val="900"/>
              </a:lnSpc>
              <a:buNone/>
            </a:pPr>
            <a:r>
              <a:rPr lang="en-US" sz="750" b="1" dirty="0">
                <a:solidFill>
                  <a:srgbClr val="000000"/>
                </a:solidFill>
                <a:latin typeface="Instrument Sans Medium" pitchFamily="34" charset="0"/>
                <a:ea typeface="Instrument Sans Medium" pitchFamily="34" charset="-122"/>
                <a:cs typeface="Instrument Sans Medium" pitchFamily="34" charset="-120"/>
              </a:rPr>
              <a:t>El éxito no se construye con el modelo más avanzado, sino con el más adecuado al contexto, integrado en el proceso y adoptado por las personas.</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402449" y="310634"/>
            <a:ext cx="79296" cy="79296"/>
          </a:xfrm>
          <a:prstGeom prst="rect">
            <a:avLst/>
          </a:prstGeom>
        </p:spPr>
      </p:pic>
      <p:sp>
        <p:nvSpPr>
          <p:cNvPr id="3" name="Text 0"/>
          <p:cNvSpPr/>
          <p:nvPr/>
        </p:nvSpPr>
        <p:spPr>
          <a:xfrm>
            <a:off x="3521393" y="302657"/>
            <a:ext cx="540068" cy="95250"/>
          </a:xfrm>
          <a:prstGeom prst="rect">
            <a:avLst/>
          </a:prstGeom>
          <a:noFill/>
          <a:ln/>
        </p:spPr>
        <p:txBody>
          <a:bodyPr wrap="none" lIns="0" tIns="0" rIns="0" bIns="0" rtlCol="0" anchor="t"/>
          <a:lstStyle/>
          <a:p>
            <a:pPr algn="l" indent="0" marL="0">
              <a:lnSpc>
                <a:spcPts val="750"/>
              </a:lnSpc>
              <a:buNone/>
            </a:pPr>
            <a:r>
              <a:rPr lang="en-US" sz="600" dirty="0">
                <a:solidFill>
                  <a:srgbClr val="84C1FA"/>
                </a:solidFill>
                <a:latin typeface="Instrument Sans Medium" pitchFamily="34" charset="0"/>
                <a:ea typeface="Instrument Sans Medium" pitchFamily="34" charset="-122"/>
                <a:cs typeface="Instrument Sans Medium" pitchFamily="34" charset="-120"/>
              </a:rPr>
              <a:t>APARTADO 1.5</a:t>
            </a:r>
            <a:endParaRPr lang="en-US" sz="600" dirty="0"/>
          </a:p>
        </p:txBody>
      </p:sp>
      <p:sp>
        <p:nvSpPr>
          <p:cNvPr id="4" name="Text 1"/>
          <p:cNvSpPr/>
          <p:nvPr/>
        </p:nvSpPr>
        <p:spPr>
          <a:xfrm>
            <a:off x="3402449" y="447437"/>
            <a:ext cx="6443782" cy="310158"/>
          </a:xfrm>
          <a:prstGeom prst="rect">
            <a:avLst/>
          </a:prstGeom>
          <a:noFill/>
          <a:ln/>
        </p:spPr>
        <p:txBody>
          <a:bodyPr wrap="none" lIns="0" tIns="0" rIns="0" bIns="0" rtlCol="0" anchor="t"/>
          <a:lstStyle/>
          <a:p>
            <a:pPr algn="l" indent="0" marL="0">
              <a:lnSpc>
                <a:spcPts val="2400"/>
              </a:lnSpc>
              <a:buNone/>
            </a:pPr>
            <a:r>
              <a:rPr lang="en-US" sz="1950" dirty="0">
                <a:solidFill>
                  <a:srgbClr val="091C53"/>
                </a:solidFill>
                <a:latin typeface="Instrument Sans Semi Bold" pitchFamily="34" charset="0"/>
                <a:ea typeface="Instrument Sans Semi Bold" pitchFamily="34" charset="-122"/>
                <a:cs typeface="Instrument Sans Semi Bold" pitchFamily="34" charset="-120"/>
              </a:rPr>
              <a:t>Estrategia de IA en la Empresa: Hoja de Ruta y Adopción</a:t>
            </a:r>
            <a:endParaRPr lang="en-US" sz="1950" dirty="0"/>
          </a:p>
        </p:txBody>
      </p:sp>
      <p:sp>
        <p:nvSpPr>
          <p:cNvPr id="5" name="Text 2"/>
          <p:cNvSpPr/>
          <p:nvPr/>
        </p:nvSpPr>
        <p:spPr>
          <a:xfrm>
            <a:off x="3402449" y="832009"/>
            <a:ext cx="7825502" cy="237887"/>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Diseñar una estrategia de IA sólida requiere un camino estructurado que vaya desde el diagnóstico de la situación actual hasta la medición del impacto real en el negocio. No se trata de tecnología: se trata de </a:t>
            </a:r>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transformación organizacional guiada por datos.</a:t>
            </a:r>
            <a:endParaRPr lang="en-US" sz="750" dirty="0"/>
          </a:p>
        </p:txBody>
      </p:sp>
      <p:sp>
        <p:nvSpPr>
          <p:cNvPr id="6" name="Text 3"/>
          <p:cNvSpPr/>
          <p:nvPr/>
        </p:nvSpPr>
        <p:spPr>
          <a:xfrm>
            <a:off x="3402449" y="1144310"/>
            <a:ext cx="4098369" cy="248007"/>
          </a:xfrm>
          <a:prstGeom prst="rect">
            <a:avLst/>
          </a:prstGeom>
          <a:noFill/>
          <a:ln/>
        </p:spPr>
        <p:txBody>
          <a:bodyPr wrap="none" lIns="0" tIns="0" rIns="0" bIns="0" rtlCol="0" anchor="t"/>
          <a:lstStyle/>
          <a:p>
            <a:pPr algn="l" indent="0" marL="0">
              <a:lnSpc>
                <a:spcPts val="1950"/>
              </a:lnSpc>
              <a:buNone/>
            </a:pPr>
            <a:r>
              <a:rPr lang="en-US" sz="1550" dirty="0">
                <a:solidFill>
                  <a:srgbClr val="091C53"/>
                </a:solidFill>
                <a:latin typeface="Instrument Sans Semi Bold" pitchFamily="34" charset="0"/>
                <a:ea typeface="Instrument Sans Semi Bold" pitchFamily="34" charset="-122"/>
                <a:cs typeface="Instrument Sans Semi Bold" pitchFamily="34" charset="-120"/>
              </a:rPr>
              <a:t>El camino estratégico: de la madurez al valor</a:t>
            </a:r>
            <a:endParaRPr lang="en-US" sz="1550" dirty="0"/>
          </a:p>
        </p:txBody>
      </p:sp>
      <p:pic>
        <p:nvPicPr>
          <p:cNvPr id="7" name="Image 1" descr="preencoded.png">    </p:cNvPr>
          <p:cNvPicPr>
            <a:picLocks noChangeAspect="1"/>
          </p:cNvPicPr>
          <p:nvPr/>
        </p:nvPicPr>
        <p:blipFill>
          <a:blip r:embed="rId3"/>
          <a:stretch>
            <a:fillRect/>
          </a:stretch>
        </p:blipFill>
        <p:spPr>
          <a:xfrm>
            <a:off x="3402449" y="1615559"/>
            <a:ext cx="3887986" cy="1143000"/>
          </a:xfrm>
          <a:prstGeom prst="rect">
            <a:avLst/>
          </a:prstGeom>
        </p:spPr>
      </p:pic>
      <p:sp>
        <p:nvSpPr>
          <p:cNvPr id="8" name="Text 4"/>
          <p:cNvSpPr/>
          <p:nvPr/>
        </p:nvSpPr>
        <p:spPr>
          <a:xfrm>
            <a:off x="3501628" y="1962745"/>
            <a:ext cx="1831181" cy="155019"/>
          </a:xfrm>
          <a:prstGeom prst="rect">
            <a:avLst/>
          </a:prstGeom>
          <a:noFill/>
          <a:ln/>
        </p:spPr>
        <p:txBody>
          <a:bodyPr wrap="none" lIns="0" tIns="0" rIns="0" bIns="0" rtlCol="0" anchor="t"/>
          <a:lstStyle/>
          <a:p>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1. Evaluación de madurez digital</a:t>
            </a:r>
            <a:endParaRPr lang="en-US" sz="950" dirty="0"/>
          </a:p>
        </p:txBody>
      </p:sp>
      <p:sp>
        <p:nvSpPr>
          <p:cNvPr id="9" name="Text 5"/>
          <p:cNvSpPr/>
          <p:nvPr/>
        </p:nvSpPr>
        <p:spPr>
          <a:xfrm>
            <a:off x="3501628" y="2147530"/>
            <a:ext cx="3689628" cy="356830"/>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Diagnóstico del punto de partida: infraestructura de datos, capacidades tecnológicas, talento disponible y cultura organizacional. Sin este mapa, cualquier estrategia construye sobre arena.</a:t>
            </a:r>
            <a:endParaRPr lang="en-US" sz="750" dirty="0"/>
          </a:p>
        </p:txBody>
      </p:sp>
      <p:pic>
        <p:nvPicPr>
          <p:cNvPr id="10" name="Image 2" descr="preencoded.png">    </p:cNvPr>
          <p:cNvPicPr>
            <a:picLocks noChangeAspect="1"/>
          </p:cNvPicPr>
          <p:nvPr/>
        </p:nvPicPr>
        <p:blipFill>
          <a:blip r:embed="rId4"/>
          <a:stretch>
            <a:fillRect/>
          </a:stretch>
        </p:blipFill>
        <p:spPr>
          <a:xfrm>
            <a:off x="7339965" y="1466731"/>
            <a:ext cx="3887986" cy="1143000"/>
          </a:xfrm>
          <a:prstGeom prst="rect">
            <a:avLst/>
          </a:prstGeom>
        </p:spPr>
      </p:pic>
      <p:sp>
        <p:nvSpPr>
          <p:cNvPr id="11" name="Text 6"/>
          <p:cNvSpPr/>
          <p:nvPr/>
        </p:nvSpPr>
        <p:spPr>
          <a:xfrm>
            <a:off x="7439144" y="1813917"/>
            <a:ext cx="1978819" cy="155019"/>
          </a:xfrm>
          <a:prstGeom prst="rect">
            <a:avLst/>
          </a:prstGeom>
          <a:noFill/>
          <a:ln/>
        </p:spPr>
        <p:txBody>
          <a:bodyPr wrap="none" lIns="0" tIns="0" rIns="0" bIns="0" rtlCol="0" anchor="t"/>
          <a:lstStyle/>
          <a:p>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2. Identificación de oportunidades</a:t>
            </a:r>
            <a:endParaRPr lang="en-US" sz="950" dirty="0"/>
          </a:p>
        </p:txBody>
      </p:sp>
      <p:sp>
        <p:nvSpPr>
          <p:cNvPr id="12" name="Text 7"/>
          <p:cNvSpPr/>
          <p:nvPr/>
        </p:nvSpPr>
        <p:spPr>
          <a:xfrm>
            <a:off x="7439144" y="1998702"/>
            <a:ext cx="3689628" cy="356830"/>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Mapeo de procesos con mayor potencial de impacto. Análisis dolor/beneficio por área: ventas, operaciones, RRHH, atención al cliente. Validación de disponibilidad y calidad de datos.</a:t>
            </a:r>
            <a:endParaRPr lang="en-US" sz="750" dirty="0"/>
          </a:p>
        </p:txBody>
      </p:sp>
      <p:pic>
        <p:nvPicPr>
          <p:cNvPr id="13" name="Image 3" descr="preencoded.png">    </p:cNvPr>
          <p:cNvPicPr>
            <a:picLocks noChangeAspect="1"/>
          </p:cNvPicPr>
          <p:nvPr/>
        </p:nvPicPr>
        <p:blipFill>
          <a:blip r:embed="rId5"/>
          <a:stretch>
            <a:fillRect/>
          </a:stretch>
        </p:blipFill>
        <p:spPr>
          <a:xfrm>
            <a:off x="3402449" y="2801898"/>
            <a:ext cx="3887986" cy="1143000"/>
          </a:xfrm>
          <a:prstGeom prst="rect">
            <a:avLst/>
          </a:prstGeom>
        </p:spPr>
      </p:pic>
      <p:sp>
        <p:nvSpPr>
          <p:cNvPr id="14" name="Text 8"/>
          <p:cNvSpPr/>
          <p:nvPr/>
        </p:nvSpPr>
        <p:spPr>
          <a:xfrm>
            <a:off x="3501628" y="3149084"/>
            <a:ext cx="1598533" cy="155019"/>
          </a:xfrm>
          <a:prstGeom prst="rect">
            <a:avLst/>
          </a:prstGeom>
          <a:noFill/>
          <a:ln/>
        </p:spPr>
        <p:txBody>
          <a:bodyPr wrap="none" lIns="0" tIns="0" rIns="0" bIns="0" rtlCol="0" anchor="t"/>
          <a:lstStyle/>
          <a:p>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3. Priorización de proyectos</a:t>
            </a:r>
            <a:endParaRPr lang="en-US" sz="950" dirty="0"/>
          </a:p>
        </p:txBody>
      </p:sp>
      <p:sp>
        <p:nvSpPr>
          <p:cNvPr id="15" name="Text 9"/>
          <p:cNvSpPr/>
          <p:nvPr/>
        </p:nvSpPr>
        <p:spPr>
          <a:xfrm>
            <a:off x="3501628" y="3333869"/>
            <a:ext cx="3689628" cy="356830"/>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Matriz Impacto × Viabilidad que incorpora riesgo, coste de adopción y tiempo al valor. Selección de </a:t>
            </a:r>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quick wins</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para generar tracción y </a:t>
            </a:r>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apuestas estratégicas</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de medio plazo.</a:t>
            </a:r>
            <a:endParaRPr lang="en-US" sz="750" dirty="0"/>
          </a:p>
        </p:txBody>
      </p:sp>
      <p:pic>
        <p:nvPicPr>
          <p:cNvPr id="16" name="Image 4" descr="preencoded.png">    </p:cNvPr>
          <p:cNvPicPr>
            <a:picLocks noChangeAspect="1"/>
          </p:cNvPicPr>
          <p:nvPr/>
        </p:nvPicPr>
        <p:blipFill>
          <a:blip r:embed="rId6"/>
          <a:stretch>
            <a:fillRect/>
          </a:stretch>
        </p:blipFill>
        <p:spPr>
          <a:xfrm>
            <a:off x="7339965" y="2653070"/>
            <a:ext cx="3887986" cy="1143000"/>
          </a:xfrm>
          <a:prstGeom prst="rect">
            <a:avLst/>
          </a:prstGeom>
        </p:spPr>
      </p:pic>
      <p:sp>
        <p:nvSpPr>
          <p:cNvPr id="17" name="Text 10"/>
          <p:cNvSpPr/>
          <p:nvPr/>
        </p:nvSpPr>
        <p:spPr>
          <a:xfrm>
            <a:off x="7439144" y="3000256"/>
            <a:ext cx="1841540" cy="155019"/>
          </a:xfrm>
          <a:prstGeom prst="rect">
            <a:avLst/>
          </a:prstGeom>
          <a:noFill/>
          <a:ln/>
        </p:spPr>
        <p:txBody>
          <a:bodyPr wrap="none" lIns="0" tIns="0" rIns="0" bIns="0" rtlCol="0" anchor="t"/>
          <a:lstStyle/>
          <a:p>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4. Roadmap de implementación</a:t>
            </a:r>
            <a:endParaRPr lang="en-US" sz="950" dirty="0"/>
          </a:p>
        </p:txBody>
      </p:sp>
      <p:sp>
        <p:nvSpPr>
          <p:cNvPr id="18" name="Text 11"/>
          <p:cNvSpPr/>
          <p:nvPr/>
        </p:nvSpPr>
        <p:spPr>
          <a:xfrm>
            <a:off x="7439144" y="3185041"/>
            <a:ext cx="3689628" cy="356830"/>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Planificación en horizontes: </a:t>
            </a:r>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90 días</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(piloto controlado), </a:t>
            </a:r>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6 meses</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(evaluación y ajuste), </a:t>
            </a:r>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12–24 meses</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(escalado y expansión). Hitos claros, responsables definidos y puntos de revisión.</a:t>
            </a:r>
            <a:endParaRPr lang="en-US" sz="750" dirty="0"/>
          </a:p>
        </p:txBody>
      </p:sp>
      <p:pic>
        <p:nvPicPr>
          <p:cNvPr id="19" name="Image 5" descr="preencoded.png">    </p:cNvPr>
          <p:cNvPicPr>
            <a:picLocks noChangeAspect="1"/>
          </p:cNvPicPr>
          <p:nvPr/>
        </p:nvPicPr>
        <p:blipFill>
          <a:blip r:embed="rId7"/>
          <a:stretch>
            <a:fillRect/>
          </a:stretch>
        </p:blipFill>
        <p:spPr>
          <a:xfrm>
            <a:off x="3402449" y="3988237"/>
            <a:ext cx="3887986" cy="1143000"/>
          </a:xfrm>
          <a:prstGeom prst="rect">
            <a:avLst/>
          </a:prstGeom>
        </p:spPr>
      </p:pic>
      <p:sp>
        <p:nvSpPr>
          <p:cNvPr id="20" name="Text 12"/>
          <p:cNvSpPr/>
          <p:nvPr/>
        </p:nvSpPr>
        <p:spPr>
          <a:xfrm>
            <a:off x="3501628" y="4335423"/>
            <a:ext cx="2058233" cy="155019"/>
          </a:xfrm>
          <a:prstGeom prst="rect">
            <a:avLst/>
          </a:prstGeom>
          <a:noFill/>
          <a:ln/>
        </p:spPr>
        <p:txBody>
          <a:bodyPr wrap="none" lIns="0" tIns="0" rIns="0" bIns="0" rtlCol="0" anchor="t"/>
          <a:lstStyle/>
          <a:p>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5. Gobernanza y gestión del cambio</a:t>
            </a:r>
            <a:endParaRPr lang="en-US" sz="950" dirty="0"/>
          </a:p>
        </p:txBody>
      </p:sp>
      <p:sp>
        <p:nvSpPr>
          <p:cNvPr id="21" name="Text 13"/>
          <p:cNvSpPr/>
          <p:nvPr/>
        </p:nvSpPr>
        <p:spPr>
          <a:xfrm>
            <a:off x="3501628" y="4520208"/>
            <a:ext cx="3689628" cy="356830"/>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Definición de roles: negocio, datos, IT, legal y seguridad. Políticas de uso ético, privacidad (GDPR) y trazabilidad. Plan de comunicación y formación para reducir la resistencia organizacional.</a:t>
            </a:r>
            <a:endParaRPr lang="en-US" sz="750" dirty="0"/>
          </a:p>
        </p:txBody>
      </p:sp>
      <p:pic>
        <p:nvPicPr>
          <p:cNvPr id="22" name="Image 6" descr="preencoded.png">    </p:cNvPr>
          <p:cNvPicPr>
            <a:picLocks noChangeAspect="1"/>
          </p:cNvPicPr>
          <p:nvPr/>
        </p:nvPicPr>
        <p:blipFill>
          <a:blip r:embed="rId8"/>
          <a:stretch>
            <a:fillRect/>
          </a:stretch>
        </p:blipFill>
        <p:spPr>
          <a:xfrm>
            <a:off x="7339965" y="3839408"/>
            <a:ext cx="3887986" cy="1143000"/>
          </a:xfrm>
          <a:prstGeom prst="rect">
            <a:avLst/>
          </a:prstGeom>
        </p:spPr>
      </p:pic>
      <p:sp>
        <p:nvSpPr>
          <p:cNvPr id="23" name="Text 14"/>
          <p:cNvSpPr/>
          <p:nvPr/>
        </p:nvSpPr>
        <p:spPr>
          <a:xfrm>
            <a:off x="7439144" y="4186595"/>
            <a:ext cx="1606510" cy="155019"/>
          </a:xfrm>
          <a:prstGeom prst="rect">
            <a:avLst/>
          </a:prstGeom>
          <a:noFill/>
          <a:ln/>
        </p:spPr>
        <p:txBody>
          <a:bodyPr wrap="none" lIns="0" tIns="0" rIns="0" bIns="0" rtlCol="0" anchor="t"/>
          <a:lstStyle/>
          <a:p>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6. Métricas, KPIs e inversión</a:t>
            </a:r>
            <a:endParaRPr lang="en-US" sz="950" dirty="0"/>
          </a:p>
        </p:txBody>
      </p:sp>
      <p:sp>
        <p:nvSpPr>
          <p:cNvPr id="24" name="Text 15"/>
          <p:cNvSpPr/>
          <p:nvPr/>
        </p:nvSpPr>
        <p:spPr>
          <a:xfrm>
            <a:off x="7439144" y="4371380"/>
            <a:ext cx="3689628" cy="356830"/>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KPIs de negocio (ingresos, costes, NPS) + KPIs operativos (precisión, latencia, uptime). Modelo de inversión: coste total de ownership, ROI esperado y criterios de go/no-go por fase.</a:t>
            </a:r>
            <a:endParaRPr lang="en-US" sz="750" dirty="0"/>
          </a:p>
        </p:txBody>
      </p:sp>
      <p:sp>
        <p:nvSpPr>
          <p:cNvPr id="25" name="Shape 16"/>
          <p:cNvSpPr/>
          <p:nvPr/>
        </p:nvSpPr>
        <p:spPr>
          <a:xfrm>
            <a:off x="3402449" y="5081513"/>
            <a:ext cx="7825502" cy="20003"/>
          </a:xfrm>
          <a:prstGeom prst="rect">
            <a:avLst/>
          </a:prstGeom>
          <a:solidFill>
            <a:srgbClr val="1E3063">
              <a:alpha val="50000"/>
            </a:srgbClr>
          </a:solidFill>
          <a:ln/>
        </p:spPr>
      </p:sp>
      <p:sp>
        <p:nvSpPr>
          <p:cNvPr id="26" name="Text 17"/>
          <p:cNvSpPr/>
          <p:nvPr/>
        </p:nvSpPr>
        <p:spPr>
          <a:xfrm>
            <a:off x="3402449" y="5175885"/>
            <a:ext cx="3203138" cy="248007"/>
          </a:xfrm>
          <a:prstGeom prst="rect">
            <a:avLst/>
          </a:prstGeom>
          <a:noFill/>
          <a:ln/>
        </p:spPr>
        <p:txBody>
          <a:bodyPr wrap="none" lIns="0" tIns="0" rIns="0" bIns="0" rtlCol="0" anchor="t"/>
          <a:lstStyle/>
          <a:p>
            <a:pPr algn="l" indent="0" marL="0">
              <a:lnSpc>
                <a:spcPts val="1950"/>
              </a:lnSpc>
              <a:buNone/>
            </a:pPr>
            <a:r>
              <a:rPr lang="en-US" sz="1550" dirty="0">
                <a:solidFill>
                  <a:srgbClr val="091C53"/>
                </a:solidFill>
                <a:latin typeface="Instrument Sans Semi Bold" pitchFamily="34" charset="0"/>
                <a:ea typeface="Instrument Sans Semi Bold" pitchFamily="34" charset="-122"/>
                <a:cs typeface="Instrument Sans Semi Bold" pitchFamily="34" charset="-120"/>
              </a:rPr>
              <a:t>Dimensiones clave de la estrategia</a:t>
            </a:r>
            <a:endParaRPr lang="en-US" sz="1550" dirty="0"/>
          </a:p>
        </p:txBody>
      </p:sp>
      <p:sp>
        <p:nvSpPr>
          <p:cNvPr id="27" name="Shape 18"/>
          <p:cNvSpPr/>
          <p:nvPr/>
        </p:nvSpPr>
        <p:spPr>
          <a:xfrm>
            <a:off x="3402449" y="5498306"/>
            <a:ext cx="3887986" cy="897017"/>
          </a:xfrm>
          <a:prstGeom prst="roundRect">
            <a:avLst>
              <a:gd name="adj" fmla="val 8155"/>
            </a:avLst>
          </a:prstGeom>
          <a:solidFill>
            <a:srgbClr val="FFFFFF"/>
          </a:solidFill>
          <a:ln w="15240">
            <a:solidFill>
              <a:srgbClr val="B4CCE3"/>
            </a:solidFill>
            <a:prstDash val="solid"/>
          </a:ln>
        </p:spPr>
      </p:sp>
      <p:sp>
        <p:nvSpPr>
          <p:cNvPr id="28" name="Shape 19"/>
          <p:cNvSpPr/>
          <p:nvPr/>
        </p:nvSpPr>
        <p:spPr>
          <a:xfrm>
            <a:off x="3387209" y="5498306"/>
            <a:ext cx="60960" cy="897017"/>
          </a:xfrm>
          <a:prstGeom prst="roundRect">
            <a:avLst>
              <a:gd name="adj" fmla="val 146512"/>
            </a:avLst>
          </a:prstGeom>
          <a:solidFill>
            <a:srgbClr val="84C1FA"/>
          </a:solidFill>
          <a:ln/>
        </p:spPr>
      </p:sp>
      <p:sp>
        <p:nvSpPr>
          <p:cNvPr id="29" name="Text 20"/>
          <p:cNvSpPr/>
          <p:nvPr/>
        </p:nvSpPr>
        <p:spPr>
          <a:xfrm>
            <a:off x="3562588" y="5612725"/>
            <a:ext cx="1908096" cy="162639"/>
          </a:xfrm>
          <a:prstGeom prst="rect">
            <a:avLst/>
          </a:prstGeom>
          <a:noFill/>
          <a:ln/>
        </p:spPr>
        <p:txBody>
          <a:bodyPr wrap="none" lIns="0" tIns="0" rIns="0" bIns="0" rtlCol="0" anchor="t"/>
          <a:lstStyle/>
          <a:p>
            <a:pPr algn="l" indent="0" marL="0">
              <a:lnSpc>
                <a:spcPts val="1200"/>
              </a:lnSpc>
              <a:buNone/>
            </a:pPr>
            <a:r>
              <a:rPr lang="en-US" sz="950" dirty="0">
                <a:solidFill>
                  <a:srgbClr val="000000"/>
                </a:solidFill>
                <a:latin typeface="Instrument Sans Semi Bold" pitchFamily="34" charset="0"/>
                <a:ea typeface="Instrument Sans Semi Bold" pitchFamily="34" charset="-122"/>
                <a:cs typeface="Instrument Sans Semi Bold" pitchFamily="34" charset="-120"/>
              </a:rPr>
              <a:t>📊</a:t>
            </a:r>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 Evaluación de madurez digital</a:t>
            </a:r>
            <a:endParaRPr lang="en-US" sz="950" dirty="0"/>
          </a:p>
        </p:txBody>
      </p:sp>
      <p:sp>
        <p:nvSpPr>
          <p:cNvPr id="30" name="Text 21"/>
          <p:cNvSpPr/>
          <p:nvPr/>
        </p:nvSpPr>
        <p:spPr>
          <a:xfrm>
            <a:off x="3562588" y="5805130"/>
            <a:ext cx="3613428" cy="356830"/>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Modelos como el </a:t>
            </a:r>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AI Maturity Model</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de Gartner o el </a:t>
            </a:r>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DAMA-DMBOK</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permiten situar a la organización en un nivel (0–5) y definir brechas prioritarias en datos, procesos y personas antes de invertir en IA.</a:t>
            </a:r>
            <a:endParaRPr lang="en-US" sz="750" dirty="0"/>
          </a:p>
        </p:txBody>
      </p:sp>
      <p:sp>
        <p:nvSpPr>
          <p:cNvPr id="31" name="Shape 22"/>
          <p:cNvSpPr/>
          <p:nvPr/>
        </p:nvSpPr>
        <p:spPr>
          <a:xfrm>
            <a:off x="7339965" y="5498306"/>
            <a:ext cx="3887986" cy="897017"/>
          </a:xfrm>
          <a:prstGeom prst="roundRect">
            <a:avLst>
              <a:gd name="adj" fmla="val 8155"/>
            </a:avLst>
          </a:prstGeom>
          <a:solidFill>
            <a:srgbClr val="FFFFFF"/>
          </a:solidFill>
          <a:ln w="15240">
            <a:solidFill>
              <a:srgbClr val="B4CCE3"/>
            </a:solidFill>
            <a:prstDash val="solid"/>
          </a:ln>
        </p:spPr>
      </p:sp>
      <p:sp>
        <p:nvSpPr>
          <p:cNvPr id="32" name="Shape 23"/>
          <p:cNvSpPr/>
          <p:nvPr/>
        </p:nvSpPr>
        <p:spPr>
          <a:xfrm>
            <a:off x="7324725" y="5498306"/>
            <a:ext cx="60960" cy="897017"/>
          </a:xfrm>
          <a:prstGeom prst="roundRect">
            <a:avLst>
              <a:gd name="adj" fmla="val 146512"/>
            </a:avLst>
          </a:prstGeom>
          <a:solidFill>
            <a:srgbClr val="84C1FA"/>
          </a:solidFill>
          <a:ln/>
        </p:spPr>
      </p:sp>
      <p:sp>
        <p:nvSpPr>
          <p:cNvPr id="33" name="Text 24"/>
          <p:cNvSpPr/>
          <p:nvPr/>
        </p:nvSpPr>
        <p:spPr>
          <a:xfrm>
            <a:off x="7500104" y="5612725"/>
            <a:ext cx="1894046" cy="162639"/>
          </a:xfrm>
          <a:prstGeom prst="rect">
            <a:avLst/>
          </a:prstGeom>
          <a:noFill/>
          <a:ln/>
        </p:spPr>
        <p:txBody>
          <a:bodyPr wrap="none" lIns="0" tIns="0" rIns="0" bIns="0" rtlCol="0" anchor="t"/>
          <a:lstStyle/>
          <a:p>
            <a:pPr algn="l" indent="0" marL="0">
              <a:lnSpc>
                <a:spcPts val="1200"/>
              </a:lnSpc>
              <a:buNone/>
            </a:pPr>
            <a:r>
              <a:rPr lang="en-US" sz="950" dirty="0">
                <a:solidFill>
                  <a:srgbClr val="000000"/>
                </a:solidFill>
                <a:latin typeface="Instrument Sans Semi Bold" pitchFamily="34" charset="0"/>
                <a:ea typeface="Instrument Sans Semi Bold" pitchFamily="34" charset="-122"/>
                <a:cs typeface="Instrument Sans Semi Bold" pitchFamily="34" charset="-120"/>
              </a:rPr>
              <a:t>🗺️</a:t>
            </a:r>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 Roadmap realista y adaptable</a:t>
            </a:r>
            <a:endParaRPr lang="en-US" sz="950" dirty="0"/>
          </a:p>
        </p:txBody>
      </p:sp>
      <p:sp>
        <p:nvSpPr>
          <p:cNvPr id="34" name="Text 25"/>
          <p:cNvSpPr/>
          <p:nvPr/>
        </p:nvSpPr>
        <p:spPr>
          <a:xfrm>
            <a:off x="7500104" y="5805130"/>
            <a:ext cx="3613428" cy="475774"/>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Un buen roadmap no es un calendario rígido, sino un </a:t>
            </a:r>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marco de decisión iterativo</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Cada piloto genera aprendizaje que retroalimenta las siguientes iniciativas. La flexibilidad ante resultados inesperados es una ventaja, no una debilidad.</a:t>
            </a:r>
            <a:endParaRPr lang="en-US" sz="750" dirty="0"/>
          </a:p>
        </p:txBody>
      </p:sp>
      <p:sp>
        <p:nvSpPr>
          <p:cNvPr id="35" name="Shape 26"/>
          <p:cNvSpPr/>
          <p:nvPr/>
        </p:nvSpPr>
        <p:spPr>
          <a:xfrm>
            <a:off x="3402449" y="6444853"/>
            <a:ext cx="3887986" cy="778073"/>
          </a:xfrm>
          <a:prstGeom prst="roundRect">
            <a:avLst>
              <a:gd name="adj" fmla="val 9402"/>
            </a:avLst>
          </a:prstGeom>
          <a:solidFill>
            <a:srgbClr val="FFFFFF"/>
          </a:solidFill>
          <a:ln w="15240">
            <a:solidFill>
              <a:srgbClr val="B4CCE3"/>
            </a:solidFill>
            <a:prstDash val="solid"/>
          </a:ln>
        </p:spPr>
      </p:sp>
      <p:sp>
        <p:nvSpPr>
          <p:cNvPr id="36" name="Shape 27"/>
          <p:cNvSpPr/>
          <p:nvPr/>
        </p:nvSpPr>
        <p:spPr>
          <a:xfrm>
            <a:off x="3387209" y="6444853"/>
            <a:ext cx="60960" cy="778073"/>
          </a:xfrm>
          <a:prstGeom prst="roundRect">
            <a:avLst>
              <a:gd name="adj" fmla="val 146512"/>
            </a:avLst>
          </a:prstGeom>
          <a:solidFill>
            <a:srgbClr val="84C1FA"/>
          </a:solidFill>
          <a:ln/>
        </p:spPr>
      </p:sp>
      <p:sp>
        <p:nvSpPr>
          <p:cNvPr id="37" name="Text 28"/>
          <p:cNvSpPr/>
          <p:nvPr/>
        </p:nvSpPr>
        <p:spPr>
          <a:xfrm>
            <a:off x="3562588" y="6559272"/>
            <a:ext cx="1561148" cy="162639"/>
          </a:xfrm>
          <a:prstGeom prst="rect">
            <a:avLst/>
          </a:prstGeom>
          <a:noFill/>
          <a:ln/>
        </p:spPr>
        <p:txBody>
          <a:bodyPr wrap="none" lIns="0" tIns="0" rIns="0" bIns="0" rtlCol="0" anchor="t"/>
          <a:lstStyle/>
          <a:p>
            <a:pPr algn="l" indent="0" marL="0">
              <a:lnSpc>
                <a:spcPts val="1200"/>
              </a:lnSpc>
              <a:buNone/>
            </a:pPr>
            <a:r>
              <a:rPr lang="en-US" sz="950" dirty="0">
                <a:solidFill>
                  <a:srgbClr val="000000"/>
                </a:solidFill>
                <a:latin typeface="Instrument Sans Semi Bold" pitchFamily="34" charset="0"/>
                <a:ea typeface="Instrument Sans Semi Bold" pitchFamily="34" charset="-122"/>
                <a:cs typeface="Instrument Sans Semi Bold" pitchFamily="34" charset="-120"/>
              </a:rPr>
              <a:t>💰</a:t>
            </a:r>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 Inversión y presupuesto</a:t>
            </a:r>
            <a:endParaRPr lang="en-US" sz="950" dirty="0"/>
          </a:p>
        </p:txBody>
      </p:sp>
      <p:sp>
        <p:nvSpPr>
          <p:cNvPr id="38" name="Text 29"/>
          <p:cNvSpPr/>
          <p:nvPr/>
        </p:nvSpPr>
        <p:spPr>
          <a:xfrm>
            <a:off x="3562588" y="6751677"/>
            <a:ext cx="3613428" cy="356830"/>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El coste real de un proyecto de IA incluye: datos, infraestructura, talento, integración, mantenimiento y gestión del cambio. </a:t>
            </a:r>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Regla práctica:</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el 40–60% del presupuesto debe ir a datos y adopción, no al modelo en sí.</a:t>
            </a:r>
            <a:endParaRPr lang="en-US" sz="750" dirty="0"/>
          </a:p>
        </p:txBody>
      </p:sp>
      <p:sp>
        <p:nvSpPr>
          <p:cNvPr id="39" name="Shape 30"/>
          <p:cNvSpPr/>
          <p:nvPr/>
        </p:nvSpPr>
        <p:spPr>
          <a:xfrm>
            <a:off x="7339965" y="6444853"/>
            <a:ext cx="3887986" cy="778073"/>
          </a:xfrm>
          <a:prstGeom prst="roundRect">
            <a:avLst>
              <a:gd name="adj" fmla="val 9402"/>
            </a:avLst>
          </a:prstGeom>
          <a:solidFill>
            <a:srgbClr val="FFFFFF"/>
          </a:solidFill>
          <a:ln w="15240">
            <a:solidFill>
              <a:srgbClr val="B4CCE3"/>
            </a:solidFill>
            <a:prstDash val="solid"/>
          </a:ln>
        </p:spPr>
      </p:sp>
      <p:sp>
        <p:nvSpPr>
          <p:cNvPr id="40" name="Shape 31"/>
          <p:cNvSpPr/>
          <p:nvPr/>
        </p:nvSpPr>
        <p:spPr>
          <a:xfrm>
            <a:off x="7324725" y="6444853"/>
            <a:ext cx="60960" cy="778073"/>
          </a:xfrm>
          <a:prstGeom prst="roundRect">
            <a:avLst>
              <a:gd name="adj" fmla="val 146512"/>
            </a:avLst>
          </a:prstGeom>
          <a:solidFill>
            <a:srgbClr val="84C1FA"/>
          </a:solidFill>
          <a:ln/>
        </p:spPr>
      </p:sp>
      <p:sp>
        <p:nvSpPr>
          <p:cNvPr id="41" name="Text 32"/>
          <p:cNvSpPr/>
          <p:nvPr/>
        </p:nvSpPr>
        <p:spPr>
          <a:xfrm>
            <a:off x="7500104" y="6559272"/>
            <a:ext cx="2493288" cy="162639"/>
          </a:xfrm>
          <a:prstGeom prst="rect">
            <a:avLst/>
          </a:prstGeom>
          <a:noFill/>
          <a:ln/>
        </p:spPr>
        <p:txBody>
          <a:bodyPr wrap="none" lIns="0" tIns="0" rIns="0" bIns="0" rtlCol="0" anchor="t"/>
          <a:lstStyle/>
          <a:p>
            <a:pPr algn="l" indent="0" marL="0">
              <a:lnSpc>
                <a:spcPts val="1200"/>
              </a:lnSpc>
              <a:buNone/>
            </a:pPr>
            <a:r>
              <a:rPr lang="en-US" sz="950" dirty="0">
                <a:solidFill>
                  <a:srgbClr val="000000"/>
                </a:solidFill>
                <a:latin typeface="Instrument Sans Semi Bold" pitchFamily="34" charset="0"/>
                <a:ea typeface="Instrument Sans Semi Bold" pitchFamily="34" charset="-122"/>
                <a:cs typeface="Instrument Sans Semi Bold" pitchFamily="34" charset="-120"/>
              </a:rPr>
              <a:t>🏛️</a:t>
            </a:r>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 Gobernanza como palanca de confianza</a:t>
            </a:r>
            <a:endParaRPr lang="en-US" sz="950" dirty="0"/>
          </a:p>
        </p:txBody>
      </p:sp>
      <p:sp>
        <p:nvSpPr>
          <p:cNvPr id="42" name="Text 33"/>
          <p:cNvSpPr/>
          <p:nvPr/>
        </p:nvSpPr>
        <p:spPr>
          <a:xfrm>
            <a:off x="7500104" y="6751677"/>
            <a:ext cx="3613428" cy="356830"/>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Las organizaciones que establecen comités de ética, políticas claras de uso y mecanismos de auditoría consiguen mayor velocidad de adopción y menor exposición regulatoria. La gobernanza no frena la IA: la hace sostenible.</a:t>
            </a:r>
            <a:endParaRPr lang="en-US" sz="750" dirty="0"/>
          </a:p>
        </p:txBody>
      </p:sp>
      <p:sp>
        <p:nvSpPr>
          <p:cNvPr id="43" name="Shape 34"/>
          <p:cNvSpPr/>
          <p:nvPr/>
        </p:nvSpPr>
        <p:spPr>
          <a:xfrm>
            <a:off x="3402449" y="7328222"/>
            <a:ext cx="7825502" cy="20003"/>
          </a:xfrm>
          <a:prstGeom prst="rect">
            <a:avLst/>
          </a:prstGeom>
          <a:solidFill>
            <a:srgbClr val="1E3063">
              <a:alpha val="50000"/>
            </a:srgbClr>
          </a:solidFill>
          <a:ln/>
        </p:spPr>
      </p:sp>
      <p:sp>
        <p:nvSpPr>
          <p:cNvPr id="44" name="Text 35"/>
          <p:cNvSpPr/>
          <p:nvPr/>
        </p:nvSpPr>
        <p:spPr>
          <a:xfrm>
            <a:off x="3402449" y="7422594"/>
            <a:ext cx="3252311" cy="248007"/>
          </a:xfrm>
          <a:prstGeom prst="rect">
            <a:avLst/>
          </a:prstGeom>
          <a:noFill/>
          <a:ln/>
        </p:spPr>
        <p:txBody>
          <a:bodyPr wrap="none" lIns="0" tIns="0" rIns="0" bIns="0" rtlCol="0" anchor="t"/>
          <a:lstStyle/>
          <a:p>
            <a:pPr algn="l" indent="0" marL="0">
              <a:lnSpc>
                <a:spcPts val="1950"/>
              </a:lnSpc>
              <a:buNone/>
            </a:pPr>
            <a:r>
              <a:rPr lang="en-US" sz="1550" dirty="0">
                <a:solidFill>
                  <a:srgbClr val="091C53"/>
                </a:solidFill>
                <a:latin typeface="Instrument Sans Semi Bold" pitchFamily="34" charset="0"/>
                <a:ea typeface="Instrument Sans Semi Bold" pitchFamily="34" charset="-122"/>
                <a:cs typeface="Instrument Sans Semi Bold" pitchFamily="34" charset="-120"/>
              </a:rPr>
              <a:t>Marco de priorización de proyectos</a:t>
            </a:r>
            <a:endParaRPr lang="en-US" sz="1550" dirty="0"/>
          </a:p>
        </p:txBody>
      </p:sp>
      <p:sp>
        <p:nvSpPr>
          <p:cNvPr id="45" name="Text 36"/>
          <p:cNvSpPr/>
          <p:nvPr/>
        </p:nvSpPr>
        <p:spPr>
          <a:xfrm>
            <a:off x="3402449" y="7794546"/>
            <a:ext cx="1507331" cy="185976"/>
          </a:xfrm>
          <a:prstGeom prst="rect">
            <a:avLst/>
          </a:prstGeom>
          <a:noFill/>
          <a:ln/>
        </p:spPr>
        <p:txBody>
          <a:bodyPr wrap="none" lIns="0" tIns="0" rIns="0" bIns="0" rtlCol="0" anchor="t"/>
          <a:lstStyle/>
          <a:p>
            <a:pPr algn="l" indent="0" marL="0">
              <a:lnSpc>
                <a:spcPts val="1450"/>
              </a:lnSpc>
              <a:buNone/>
            </a:pPr>
            <a:r>
              <a:rPr lang="en-US" sz="1150" dirty="0">
                <a:solidFill>
                  <a:srgbClr val="091C53"/>
                </a:solidFill>
                <a:latin typeface="Instrument Sans Semi Bold" pitchFamily="34" charset="0"/>
                <a:ea typeface="Instrument Sans Semi Bold" pitchFamily="34" charset="-122"/>
                <a:cs typeface="Instrument Sans Semi Bold" pitchFamily="34" charset="-120"/>
              </a:rPr>
              <a:t>Criterios de selección</a:t>
            </a:r>
            <a:endParaRPr lang="en-US" sz="1150" dirty="0"/>
          </a:p>
        </p:txBody>
      </p:sp>
      <p:sp>
        <p:nvSpPr>
          <p:cNvPr id="46" name="Text 37"/>
          <p:cNvSpPr/>
          <p:nvPr/>
        </p:nvSpPr>
        <p:spPr>
          <a:xfrm>
            <a:off x="3402449" y="8036243"/>
            <a:ext cx="99179" cy="123944"/>
          </a:xfrm>
          <a:prstGeom prst="rect">
            <a:avLst/>
          </a:prstGeom>
          <a:noFill/>
          <a:ln/>
        </p:spPr>
        <p:txBody>
          <a:bodyPr wrap="none" lIns="0" tIns="0" rIns="0" bIns="0" rtlCol="0" anchor="t"/>
          <a:lstStyle/>
          <a:p>
            <a:pPr algn="l" indent="0" marL="0">
              <a:lnSpc>
                <a:spcPts val="900"/>
              </a:lnSpc>
              <a:buNone/>
            </a:pPr>
            <a:r>
              <a:rPr lang="en-US" sz="750" dirty="0">
                <a:solidFill>
                  <a:srgbClr val="1E3063"/>
                </a:solidFill>
                <a:latin typeface="Instrument Sans Light" pitchFamily="34" charset="0"/>
                <a:ea typeface="Instrument Sans Light" pitchFamily="34" charset="-122"/>
                <a:cs typeface="Instrument Sans Light" pitchFamily="34" charset="-120"/>
              </a:rPr>
              <a:t>01</a:t>
            </a:r>
            <a:endParaRPr lang="en-US" sz="750" dirty="0"/>
          </a:p>
        </p:txBody>
      </p:sp>
      <p:sp>
        <p:nvSpPr>
          <p:cNvPr id="47" name="Shape 38"/>
          <p:cNvSpPr/>
          <p:nvPr/>
        </p:nvSpPr>
        <p:spPr>
          <a:xfrm>
            <a:off x="3402449" y="8189476"/>
            <a:ext cx="3791783" cy="15240"/>
          </a:xfrm>
          <a:prstGeom prst="rect">
            <a:avLst/>
          </a:prstGeom>
          <a:solidFill>
            <a:srgbClr val="84C1FA"/>
          </a:solidFill>
          <a:ln/>
        </p:spPr>
      </p:sp>
      <p:sp>
        <p:nvSpPr>
          <p:cNvPr id="48" name="Text 39"/>
          <p:cNvSpPr/>
          <p:nvPr/>
        </p:nvSpPr>
        <p:spPr>
          <a:xfrm>
            <a:off x="3402449" y="8269486"/>
            <a:ext cx="1240393" cy="155019"/>
          </a:xfrm>
          <a:prstGeom prst="rect">
            <a:avLst/>
          </a:prstGeom>
          <a:noFill/>
          <a:ln/>
        </p:spPr>
        <p:txBody>
          <a:bodyPr wrap="none" lIns="0" tIns="0" rIns="0" bIns="0" rtlCol="0" anchor="t"/>
          <a:lstStyle/>
          <a:p>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Impacto en negocio</a:t>
            </a:r>
            <a:endParaRPr lang="en-US" sz="950" dirty="0"/>
          </a:p>
        </p:txBody>
      </p:sp>
      <p:sp>
        <p:nvSpPr>
          <p:cNvPr id="49" name="Text 40"/>
          <p:cNvSpPr/>
          <p:nvPr/>
        </p:nvSpPr>
        <p:spPr>
          <a:xfrm>
            <a:off x="3402449" y="8474035"/>
            <a:ext cx="3791783" cy="237887"/>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¿Cuánto valor genera resolver este problema? Cuantifica en € o en tiempo ahorrado.</a:t>
            </a:r>
            <a:endParaRPr lang="en-US" sz="750" dirty="0"/>
          </a:p>
        </p:txBody>
      </p:sp>
      <p:sp>
        <p:nvSpPr>
          <p:cNvPr id="50" name="Text 41"/>
          <p:cNvSpPr/>
          <p:nvPr/>
        </p:nvSpPr>
        <p:spPr>
          <a:xfrm>
            <a:off x="3402449" y="8835866"/>
            <a:ext cx="99179" cy="123944"/>
          </a:xfrm>
          <a:prstGeom prst="rect">
            <a:avLst/>
          </a:prstGeom>
          <a:noFill/>
          <a:ln/>
        </p:spPr>
        <p:txBody>
          <a:bodyPr wrap="none" lIns="0" tIns="0" rIns="0" bIns="0" rtlCol="0" anchor="t"/>
          <a:lstStyle/>
          <a:p>
            <a:pPr algn="l" indent="0" marL="0">
              <a:lnSpc>
                <a:spcPts val="900"/>
              </a:lnSpc>
              <a:buNone/>
            </a:pPr>
            <a:r>
              <a:rPr lang="en-US" sz="750" dirty="0">
                <a:solidFill>
                  <a:srgbClr val="1E3063"/>
                </a:solidFill>
                <a:latin typeface="Instrument Sans Light" pitchFamily="34" charset="0"/>
                <a:ea typeface="Instrument Sans Light" pitchFamily="34" charset="-122"/>
                <a:cs typeface="Instrument Sans Light" pitchFamily="34" charset="-120"/>
              </a:rPr>
              <a:t>02</a:t>
            </a:r>
            <a:endParaRPr lang="en-US" sz="750" dirty="0"/>
          </a:p>
        </p:txBody>
      </p:sp>
      <p:sp>
        <p:nvSpPr>
          <p:cNvPr id="51" name="Shape 42"/>
          <p:cNvSpPr/>
          <p:nvPr/>
        </p:nvSpPr>
        <p:spPr>
          <a:xfrm>
            <a:off x="3402449" y="8989100"/>
            <a:ext cx="3791783" cy="15240"/>
          </a:xfrm>
          <a:prstGeom prst="rect">
            <a:avLst/>
          </a:prstGeom>
          <a:solidFill>
            <a:srgbClr val="84C1FA"/>
          </a:solidFill>
          <a:ln/>
        </p:spPr>
      </p:sp>
      <p:sp>
        <p:nvSpPr>
          <p:cNvPr id="52" name="Text 43"/>
          <p:cNvSpPr/>
          <p:nvPr/>
        </p:nvSpPr>
        <p:spPr>
          <a:xfrm>
            <a:off x="3402449" y="9069110"/>
            <a:ext cx="1240393" cy="155019"/>
          </a:xfrm>
          <a:prstGeom prst="rect">
            <a:avLst/>
          </a:prstGeom>
          <a:noFill/>
          <a:ln/>
        </p:spPr>
        <p:txBody>
          <a:bodyPr wrap="none" lIns="0" tIns="0" rIns="0" bIns="0" rtlCol="0" anchor="t"/>
          <a:lstStyle/>
          <a:p>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Viabilidad técnica</a:t>
            </a:r>
            <a:endParaRPr lang="en-US" sz="950" dirty="0"/>
          </a:p>
        </p:txBody>
      </p:sp>
      <p:sp>
        <p:nvSpPr>
          <p:cNvPr id="53" name="Text 44"/>
          <p:cNvSpPr/>
          <p:nvPr/>
        </p:nvSpPr>
        <p:spPr>
          <a:xfrm>
            <a:off x="3402449" y="9273659"/>
            <a:ext cx="3791783" cy="237887"/>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¿Hay datos disponibles y de calidad? ¿Existe la capacidad interna o externa para ejecutarlo?</a:t>
            </a:r>
            <a:endParaRPr lang="en-US" sz="750" dirty="0"/>
          </a:p>
        </p:txBody>
      </p:sp>
      <p:sp>
        <p:nvSpPr>
          <p:cNvPr id="54" name="Text 45"/>
          <p:cNvSpPr/>
          <p:nvPr/>
        </p:nvSpPr>
        <p:spPr>
          <a:xfrm>
            <a:off x="3402449" y="9635490"/>
            <a:ext cx="99179" cy="123944"/>
          </a:xfrm>
          <a:prstGeom prst="rect">
            <a:avLst/>
          </a:prstGeom>
          <a:noFill/>
          <a:ln/>
        </p:spPr>
        <p:txBody>
          <a:bodyPr wrap="none" lIns="0" tIns="0" rIns="0" bIns="0" rtlCol="0" anchor="t"/>
          <a:lstStyle/>
          <a:p>
            <a:pPr algn="l" indent="0" marL="0">
              <a:lnSpc>
                <a:spcPts val="900"/>
              </a:lnSpc>
              <a:buNone/>
            </a:pPr>
            <a:r>
              <a:rPr lang="en-US" sz="750" dirty="0">
                <a:solidFill>
                  <a:srgbClr val="1E3063"/>
                </a:solidFill>
                <a:latin typeface="Instrument Sans Light" pitchFamily="34" charset="0"/>
                <a:ea typeface="Instrument Sans Light" pitchFamily="34" charset="-122"/>
                <a:cs typeface="Instrument Sans Light" pitchFamily="34" charset="-120"/>
              </a:rPr>
              <a:t>03</a:t>
            </a:r>
            <a:endParaRPr lang="en-US" sz="750" dirty="0"/>
          </a:p>
        </p:txBody>
      </p:sp>
      <p:sp>
        <p:nvSpPr>
          <p:cNvPr id="55" name="Shape 46"/>
          <p:cNvSpPr/>
          <p:nvPr/>
        </p:nvSpPr>
        <p:spPr>
          <a:xfrm>
            <a:off x="3402449" y="9788723"/>
            <a:ext cx="3791783" cy="15240"/>
          </a:xfrm>
          <a:prstGeom prst="rect">
            <a:avLst/>
          </a:prstGeom>
          <a:solidFill>
            <a:srgbClr val="84C1FA"/>
          </a:solidFill>
          <a:ln/>
        </p:spPr>
      </p:sp>
      <p:sp>
        <p:nvSpPr>
          <p:cNvPr id="56" name="Text 47"/>
          <p:cNvSpPr/>
          <p:nvPr/>
        </p:nvSpPr>
        <p:spPr>
          <a:xfrm>
            <a:off x="3402449" y="9868733"/>
            <a:ext cx="1240393" cy="155019"/>
          </a:xfrm>
          <a:prstGeom prst="rect">
            <a:avLst/>
          </a:prstGeom>
          <a:noFill/>
          <a:ln/>
        </p:spPr>
        <p:txBody>
          <a:bodyPr wrap="none" lIns="0" tIns="0" rIns="0" bIns="0" rtlCol="0" anchor="t"/>
          <a:lstStyle/>
          <a:p>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Velocidad al valor</a:t>
            </a:r>
            <a:endParaRPr lang="en-US" sz="950" dirty="0"/>
          </a:p>
        </p:txBody>
      </p:sp>
      <p:sp>
        <p:nvSpPr>
          <p:cNvPr id="57" name="Text 48"/>
          <p:cNvSpPr/>
          <p:nvPr/>
        </p:nvSpPr>
        <p:spPr>
          <a:xfrm>
            <a:off x="3402449" y="10073283"/>
            <a:ext cx="3791783" cy="237887"/>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¿Se puede obtener un resultado demostrable en menos de 90 días? Los proyectos cortos generan confianza.</a:t>
            </a:r>
            <a:endParaRPr lang="en-US" sz="750" dirty="0"/>
          </a:p>
        </p:txBody>
      </p:sp>
      <p:sp>
        <p:nvSpPr>
          <p:cNvPr id="58" name="Text 49"/>
          <p:cNvSpPr/>
          <p:nvPr/>
        </p:nvSpPr>
        <p:spPr>
          <a:xfrm>
            <a:off x="3402449" y="10435114"/>
            <a:ext cx="99179" cy="123944"/>
          </a:xfrm>
          <a:prstGeom prst="rect">
            <a:avLst/>
          </a:prstGeom>
          <a:noFill/>
          <a:ln/>
        </p:spPr>
        <p:txBody>
          <a:bodyPr wrap="none" lIns="0" tIns="0" rIns="0" bIns="0" rtlCol="0" anchor="t"/>
          <a:lstStyle/>
          <a:p>
            <a:pPr algn="l" indent="0" marL="0">
              <a:lnSpc>
                <a:spcPts val="900"/>
              </a:lnSpc>
              <a:buNone/>
            </a:pPr>
            <a:r>
              <a:rPr lang="en-US" sz="750" dirty="0">
                <a:solidFill>
                  <a:srgbClr val="1E3063"/>
                </a:solidFill>
                <a:latin typeface="Instrument Sans Light" pitchFamily="34" charset="0"/>
                <a:ea typeface="Instrument Sans Light" pitchFamily="34" charset="-122"/>
                <a:cs typeface="Instrument Sans Light" pitchFamily="34" charset="-120"/>
              </a:rPr>
              <a:t>04</a:t>
            </a:r>
            <a:endParaRPr lang="en-US" sz="750" dirty="0"/>
          </a:p>
        </p:txBody>
      </p:sp>
      <p:sp>
        <p:nvSpPr>
          <p:cNvPr id="59" name="Shape 50"/>
          <p:cNvSpPr/>
          <p:nvPr/>
        </p:nvSpPr>
        <p:spPr>
          <a:xfrm>
            <a:off x="3402449" y="10588347"/>
            <a:ext cx="3791783" cy="15240"/>
          </a:xfrm>
          <a:prstGeom prst="rect">
            <a:avLst/>
          </a:prstGeom>
          <a:solidFill>
            <a:srgbClr val="84C1FA"/>
          </a:solidFill>
          <a:ln/>
        </p:spPr>
      </p:sp>
      <p:sp>
        <p:nvSpPr>
          <p:cNvPr id="60" name="Text 51"/>
          <p:cNvSpPr/>
          <p:nvPr/>
        </p:nvSpPr>
        <p:spPr>
          <a:xfrm>
            <a:off x="3402449" y="10668357"/>
            <a:ext cx="1240393" cy="155019"/>
          </a:xfrm>
          <a:prstGeom prst="rect">
            <a:avLst/>
          </a:prstGeom>
          <a:noFill/>
          <a:ln/>
        </p:spPr>
        <p:txBody>
          <a:bodyPr wrap="none" lIns="0" tIns="0" rIns="0" bIns="0" rtlCol="0" anchor="t"/>
          <a:lstStyle/>
          <a:p>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Riesgo y adopción</a:t>
            </a:r>
            <a:endParaRPr lang="en-US" sz="950" dirty="0"/>
          </a:p>
        </p:txBody>
      </p:sp>
      <p:sp>
        <p:nvSpPr>
          <p:cNvPr id="61" name="Text 52"/>
          <p:cNvSpPr/>
          <p:nvPr/>
        </p:nvSpPr>
        <p:spPr>
          <a:xfrm>
            <a:off x="3402449" y="10872907"/>
            <a:ext cx="3791783" cy="118943"/>
          </a:xfrm>
          <a:prstGeom prst="rect">
            <a:avLst/>
          </a:prstGeom>
          <a:noFill/>
          <a:ln/>
        </p:spPr>
        <p:txBody>
          <a:bodyPr wrap="non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¿Cuál es la exposición regulatoria? ¿Los usuarios finales están dispuestos a usarlo?</a:t>
            </a:r>
            <a:endParaRPr lang="en-US" sz="750" dirty="0"/>
          </a:p>
        </p:txBody>
      </p:sp>
      <p:sp>
        <p:nvSpPr>
          <p:cNvPr id="62" name="Text 53"/>
          <p:cNvSpPr/>
          <p:nvPr/>
        </p:nvSpPr>
        <p:spPr>
          <a:xfrm>
            <a:off x="7443788" y="7794546"/>
            <a:ext cx="1993940" cy="185976"/>
          </a:xfrm>
          <a:prstGeom prst="rect">
            <a:avLst/>
          </a:prstGeom>
          <a:noFill/>
          <a:ln/>
        </p:spPr>
        <p:txBody>
          <a:bodyPr wrap="none" lIns="0" tIns="0" rIns="0" bIns="0" rtlCol="0" anchor="t"/>
          <a:lstStyle/>
          <a:p>
            <a:pPr algn="l" indent="0" marL="0">
              <a:lnSpc>
                <a:spcPts val="1450"/>
              </a:lnSpc>
              <a:buNone/>
            </a:pPr>
            <a:r>
              <a:rPr lang="en-US" sz="1150" dirty="0">
                <a:solidFill>
                  <a:srgbClr val="091C53"/>
                </a:solidFill>
                <a:latin typeface="Instrument Sans Semi Bold" pitchFamily="34" charset="0"/>
                <a:ea typeface="Instrument Sans Semi Bold" pitchFamily="34" charset="-122"/>
                <a:cs typeface="Instrument Sans Semi Bold" pitchFamily="34" charset="-120"/>
              </a:rPr>
              <a:t>KPIs recomendados por fase</a:t>
            </a:r>
            <a:endParaRPr lang="en-US" sz="1150" dirty="0"/>
          </a:p>
        </p:txBody>
      </p:sp>
      <p:sp>
        <p:nvSpPr>
          <p:cNvPr id="63" name="Shape 54"/>
          <p:cNvSpPr/>
          <p:nvPr/>
        </p:nvSpPr>
        <p:spPr>
          <a:xfrm>
            <a:off x="7443788" y="8036243"/>
            <a:ext cx="1871067" cy="790218"/>
          </a:xfrm>
          <a:prstGeom prst="roundRect">
            <a:avLst>
              <a:gd name="adj" fmla="val 11302"/>
            </a:avLst>
          </a:prstGeom>
          <a:solidFill>
            <a:srgbClr val="FFFFFF"/>
          </a:solidFill>
          <a:ln w="15240">
            <a:solidFill>
              <a:srgbClr val="B4CCE3"/>
            </a:solidFill>
            <a:prstDash val="solid"/>
          </a:ln>
        </p:spPr>
      </p:sp>
      <p:sp>
        <p:nvSpPr>
          <p:cNvPr id="64" name="Text 55"/>
          <p:cNvSpPr/>
          <p:nvPr/>
        </p:nvSpPr>
        <p:spPr>
          <a:xfrm>
            <a:off x="7558207" y="8150662"/>
            <a:ext cx="1240393" cy="155019"/>
          </a:xfrm>
          <a:prstGeom prst="rect">
            <a:avLst/>
          </a:prstGeom>
          <a:noFill/>
          <a:ln/>
        </p:spPr>
        <p:txBody>
          <a:bodyPr wrap="none" lIns="0" tIns="0" rIns="0" bIns="0" rtlCol="0" anchor="t"/>
          <a:lstStyle/>
          <a:p>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Fase piloto</a:t>
            </a:r>
            <a:endParaRPr lang="en-US" sz="950" dirty="0"/>
          </a:p>
        </p:txBody>
      </p:sp>
      <p:sp>
        <p:nvSpPr>
          <p:cNvPr id="65" name="Text 56"/>
          <p:cNvSpPr/>
          <p:nvPr/>
        </p:nvSpPr>
        <p:spPr>
          <a:xfrm>
            <a:off x="7558207" y="8355211"/>
            <a:ext cx="1642229" cy="356830"/>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Precisión del modelo, tiempo de ciclo, tasa de adopción interna, feedback cualitativo de usuarios.</a:t>
            </a:r>
            <a:endParaRPr lang="en-US" sz="750" dirty="0"/>
          </a:p>
        </p:txBody>
      </p:sp>
      <p:sp>
        <p:nvSpPr>
          <p:cNvPr id="66" name="Shape 57"/>
          <p:cNvSpPr/>
          <p:nvPr/>
        </p:nvSpPr>
        <p:spPr>
          <a:xfrm>
            <a:off x="9364385" y="8036243"/>
            <a:ext cx="1871186" cy="790218"/>
          </a:xfrm>
          <a:prstGeom prst="roundRect">
            <a:avLst>
              <a:gd name="adj" fmla="val 11302"/>
            </a:avLst>
          </a:prstGeom>
          <a:solidFill>
            <a:srgbClr val="FFFFFF"/>
          </a:solidFill>
          <a:ln w="15240">
            <a:solidFill>
              <a:srgbClr val="B4CCE3"/>
            </a:solidFill>
            <a:prstDash val="solid"/>
          </a:ln>
        </p:spPr>
      </p:sp>
      <p:sp>
        <p:nvSpPr>
          <p:cNvPr id="67" name="Text 58"/>
          <p:cNvSpPr/>
          <p:nvPr/>
        </p:nvSpPr>
        <p:spPr>
          <a:xfrm>
            <a:off x="9478804" y="8150662"/>
            <a:ext cx="1240393" cy="155019"/>
          </a:xfrm>
          <a:prstGeom prst="rect">
            <a:avLst/>
          </a:prstGeom>
          <a:noFill/>
          <a:ln/>
        </p:spPr>
        <p:txBody>
          <a:bodyPr wrap="none" lIns="0" tIns="0" rIns="0" bIns="0" rtlCol="0" anchor="t"/>
          <a:lstStyle/>
          <a:p>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Fase de escalado</a:t>
            </a:r>
            <a:endParaRPr lang="en-US" sz="950" dirty="0"/>
          </a:p>
        </p:txBody>
      </p:sp>
      <p:sp>
        <p:nvSpPr>
          <p:cNvPr id="68" name="Text 59"/>
          <p:cNvSpPr/>
          <p:nvPr/>
        </p:nvSpPr>
        <p:spPr>
          <a:xfrm>
            <a:off x="9478804" y="8355211"/>
            <a:ext cx="1642348" cy="356830"/>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ROI acumulado, reducción de costes operativos, NPS de usuarios, incidencias por data drift.</a:t>
            </a:r>
            <a:endParaRPr lang="en-US" sz="750" dirty="0"/>
          </a:p>
        </p:txBody>
      </p:sp>
      <p:sp>
        <p:nvSpPr>
          <p:cNvPr id="69" name="Shape 60"/>
          <p:cNvSpPr/>
          <p:nvPr/>
        </p:nvSpPr>
        <p:spPr>
          <a:xfrm>
            <a:off x="7443788" y="8875990"/>
            <a:ext cx="3791783" cy="671274"/>
          </a:xfrm>
          <a:prstGeom prst="roundRect">
            <a:avLst>
              <a:gd name="adj" fmla="val 13305"/>
            </a:avLst>
          </a:prstGeom>
          <a:solidFill>
            <a:srgbClr val="FFFFFF"/>
          </a:solidFill>
          <a:ln w="15240">
            <a:solidFill>
              <a:srgbClr val="B4CCE3"/>
            </a:solidFill>
            <a:prstDash val="solid"/>
          </a:ln>
        </p:spPr>
      </p:sp>
      <p:sp>
        <p:nvSpPr>
          <p:cNvPr id="70" name="Text 61"/>
          <p:cNvSpPr/>
          <p:nvPr/>
        </p:nvSpPr>
        <p:spPr>
          <a:xfrm>
            <a:off x="7558207" y="8990409"/>
            <a:ext cx="1240393" cy="155019"/>
          </a:xfrm>
          <a:prstGeom prst="rect">
            <a:avLst/>
          </a:prstGeom>
          <a:noFill/>
          <a:ln/>
        </p:spPr>
        <p:txBody>
          <a:bodyPr wrap="none" lIns="0" tIns="0" rIns="0" bIns="0" rtlCol="0" anchor="t"/>
          <a:lstStyle/>
          <a:p>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Fase de madurez</a:t>
            </a:r>
            <a:endParaRPr lang="en-US" sz="950" dirty="0"/>
          </a:p>
        </p:txBody>
      </p:sp>
      <p:sp>
        <p:nvSpPr>
          <p:cNvPr id="71" name="Text 62"/>
          <p:cNvSpPr/>
          <p:nvPr/>
        </p:nvSpPr>
        <p:spPr>
          <a:xfrm>
            <a:off x="7558207" y="9194959"/>
            <a:ext cx="3562945" cy="237887"/>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de procesos automatizados, tiempo medio de reentrenamiento, cobertura de gobernanza, valor generado vs. inversión total.</a:t>
            </a:r>
            <a:endParaRPr lang="en-US" sz="750" dirty="0"/>
          </a:p>
        </p:txBody>
      </p:sp>
      <p:sp>
        <p:nvSpPr>
          <p:cNvPr id="72" name="Shape 63"/>
          <p:cNvSpPr/>
          <p:nvPr/>
        </p:nvSpPr>
        <p:spPr>
          <a:xfrm>
            <a:off x="3402449" y="11177707"/>
            <a:ext cx="7825502" cy="406360"/>
          </a:xfrm>
          <a:prstGeom prst="roundRect">
            <a:avLst>
              <a:gd name="adj" fmla="val 21979"/>
            </a:avLst>
          </a:prstGeom>
          <a:solidFill>
            <a:srgbClr val="B5DAFC"/>
          </a:solidFill>
          <a:ln/>
        </p:spPr>
      </p:sp>
      <p:pic>
        <p:nvPicPr>
          <p:cNvPr id="73" name="Image 7" descr="preencoded.png">    </p:cNvPr>
          <p:cNvPicPr>
            <a:picLocks noChangeAspect="1"/>
          </p:cNvPicPr>
          <p:nvPr/>
        </p:nvPicPr>
        <p:blipFill>
          <a:blip r:embed="rId9"/>
          <a:stretch>
            <a:fillRect/>
          </a:stretch>
        </p:blipFill>
        <p:spPr>
          <a:xfrm>
            <a:off x="3501628" y="11306294"/>
            <a:ext cx="123944" cy="99179"/>
          </a:xfrm>
          <a:prstGeom prst="rect">
            <a:avLst/>
          </a:prstGeom>
        </p:spPr>
      </p:pic>
      <p:sp>
        <p:nvSpPr>
          <p:cNvPr id="74" name="Text 64"/>
          <p:cNvSpPr/>
          <p:nvPr/>
        </p:nvSpPr>
        <p:spPr>
          <a:xfrm>
            <a:off x="3724751" y="11252002"/>
            <a:ext cx="7404021" cy="237887"/>
          </a:xfrm>
          <a:prstGeom prst="rect">
            <a:avLst/>
          </a:prstGeom>
          <a:noFill/>
          <a:ln/>
        </p:spPr>
        <p:txBody>
          <a:bodyPr wrap="square" lIns="0" tIns="0" rIns="0" bIns="0" rtlCol="0" anchor="t"/>
          <a:lstStyle/>
          <a:p>
            <a:pPr algn="l" indent="0" marL="0">
              <a:lnSpc>
                <a:spcPts val="900"/>
              </a:lnSpc>
              <a:buNone/>
            </a:pPr>
            <a:r>
              <a:rPr lang="en-US" sz="750" dirty="0">
                <a:solidFill>
                  <a:srgbClr val="000000"/>
                </a:solidFill>
                <a:latin typeface="Instrument Sans Medium" pitchFamily="34" charset="0"/>
                <a:ea typeface="Instrument Sans Medium" pitchFamily="34" charset="-122"/>
                <a:cs typeface="Instrument Sans Medium" pitchFamily="34" charset="-120"/>
              </a:rPr>
              <a:t>💡</a:t>
            </a:r>
            <a:pPr algn="l" indent="0" marL="0">
              <a:lnSpc>
                <a:spcPts val="900"/>
              </a:lnSpc>
              <a:buNone/>
            </a:pPr>
            <a:r>
              <a:rPr lang="en-US" sz="750" dirty="0">
                <a:solidFill>
                  <a:srgbClr val="000000"/>
                </a:solidFill>
                <a:latin typeface="Instrument Sans Medium" pitchFamily="34" charset="0"/>
                <a:ea typeface="Instrument Sans Medium" pitchFamily="34" charset="-122"/>
                <a:cs typeface="Instrument Sans Medium" pitchFamily="34" charset="-120"/>
              </a:rPr>
              <a:t> </a:t>
            </a:r>
            <a:pPr algn="l" indent="0" marL="0">
              <a:lnSpc>
                <a:spcPts val="900"/>
              </a:lnSpc>
              <a:buNone/>
            </a:pPr>
            <a:r>
              <a:rPr lang="en-US" sz="750" b="1" dirty="0">
                <a:solidFill>
                  <a:srgbClr val="000000"/>
                </a:solidFill>
                <a:latin typeface="Instrument Sans Medium" pitchFamily="34" charset="0"/>
                <a:ea typeface="Instrument Sans Medium" pitchFamily="34" charset="-122"/>
                <a:cs typeface="Instrument Sans Medium" pitchFamily="34" charset="-120"/>
              </a:rPr>
              <a:t>Principio estratégico clave:</a:t>
            </a:r>
            <a:pPr algn="l" indent="0" marL="0">
              <a:lnSpc>
                <a:spcPts val="900"/>
              </a:lnSpc>
              <a:buNone/>
            </a:pPr>
            <a:r>
              <a:rPr lang="en-US" sz="750" dirty="0">
                <a:solidFill>
                  <a:srgbClr val="000000"/>
                </a:solidFill>
                <a:latin typeface="Instrument Sans Medium" pitchFamily="34" charset="0"/>
                <a:ea typeface="Instrument Sans Medium" pitchFamily="34" charset="-122"/>
                <a:cs typeface="Instrument Sans Medium" pitchFamily="34" charset="-120"/>
              </a:rPr>
              <a:t> La estrategia de IA no se diseña una sola vez. Es un proceso vivo que evoluciona con cada piloto, cada dato nuevo y cada cambio del entorno. </a:t>
            </a:r>
            <a:pPr algn="l" indent="0" marL="0">
              <a:lnSpc>
                <a:spcPts val="900"/>
              </a:lnSpc>
              <a:buNone/>
            </a:pPr>
            <a:r>
              <a:rPr lang="en-US" sz="750" b="1" dirty="0">
                <a:solidFill>
                  <a:srgbClr val="000000"/>
                </a:solidFill>
                <a:latin typeface="Instrument Sans Medium" pitchFamily="34" charset="0"/>
                <a:ea typeface="Instrument Sans Medium" pitchFamily="34" charset="-122"/>
                <a:cs typeface="Instrument Sans Medium" pitchFamily="34" charset="-120"/>
              </a:rPr>
              <a:t>Las organizaciones que más avanzan son las que aprenden más rápido, no las que planifican más lejos.</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402449" y="1091208"/>
            <a:ext cx="79296" cy="79296"/>
          </a:xfrm>
          <a:prstGeom prst="rect">
            <a:avLst/>
          </a:prstGeom>
        </p:spPr>
      </p:pic>
      <p:sp>
        <p:nvSpPr>
          <p:cNvPr id="3" name="Text 0"/>
          <p:cNvSpPr/>
          <p:nvPr/>
        </p:nvSpPr>
        <p:spPr>
          <a:xfrm>
            <a:off x="3521393" y="1083231"/>
            <a:ext cx="541139" cy="95250"/>
          </a:xfrm>
          <a:prstGeom prst="rect">
            <a:avLst/>
          </a:prstGeom>
          <a:noFill/>
          <a:ln/>
        </p:spPr>
        <p:txBody>
          <a:bodyPr wrap="none" lIns="0" tIns="0" rIns="0" bIns="0" rtlCol="0" anchor="t"/>
          <a:lstStyle/>
          <a:p>
            <a:pPr algn="l" indent="0" marL="0">
              <a:lnSpc>
                <a:spcPts val="750"/>
              </a:lnSpc>
              <a:buNone/>
            </a:pPr>
            <a:r>
              <a:rPr lang="en-US" sz="600" dirty="0">
                <a:solidFill>
                  <a:srgbClr val="84C1FA"/>
                </a:solidFill>
                <a:latin typeface="Instrument Sans Medium" pitchFamily="34" charset="0"/>
                <a:ea typeface="Instrument Sans Medium" pitchFamily="34" charset="-122"/>
                <a:cs typeface="Instrument Sans Medium" pitchFamily="34" charset="-120"/>
              </a:rPr>
              <a:t>APARTADO 1.6</a:t>
            </a:r>
            <a:endParaRPr lang="en-US" sz="600" dirty="0"/>
          </a:p>
        </p:txBody>
      </p:sp>
      <p:sp>
        <p:nvSpPr>
          <p:cNvPr id="4" name="Text 1"/>
          <p:cNvSpPr/>
          <p:nvPr/>
        </p:nvSpPr>
        <p:spPr>
          <a:xfrm>
            <a:off x="3402449" y="1228011"/>
            <a:ext cx="6488430" cy="310158"/>
          </a:xfrm>
          <a:prstGeom prst="rect">
            <a:avLst/>
          </a:prstGeom>
          <a:noFill/>
          <a:ln/>
        </p:spPr>
        <p:txBody>
          <a:bodyPr wrap="none" lIns="0" tIns="0" rIns="0" bIns="0" rtlCol="0" anchor="t"/>
          <a:lstStyle/>
          <a:p>
            <a:pPr algn="l" indent="0" marL="0">
              <a:lnSpc>
                <a:spcPts val="2400"/>
              </a:lnSpc>
              <a:buNone/>
            </a:pPr>
            <a:r>
              <a:rPr lang="en-US" sz="1950" dirty="0">
                <a:solidFill>
                  <a:srgbClr val="091C53"/>
                </a:solidFill>
                <a:latin typeface="Instrument Sans Semi Bold" pitchFamily="34" charset="0"/>
                <a:ea typeface="Instrument Sans Semi Bold" pitchFamily="34" charset="-122"/>
                <a:cs typeface="Instrument Sans Semi Bold" pitchFamily="34" charset="-120"/>
              </a:rPr>
              <a:t>Debate sobre Futuro e Impacto Socioeconómico de la IA</a:t>
            </a:r>
            <a:endParaRPr lang="en-US" sz="1950" dirty="0"/>
          </a:p>
        </p:txBody>
      </p:sp>
      <p:sp>
        <p:nvSpPr>
          <p:cNvPr id="5" name="Text 2"/>
          <p:cNvSpPr/>
          <p:nvPr/>
        </p:nvSpPr>
        <p:spPr>
          <a:xfrm>
            <a:off x="3402449" y="1612583"/>
            <a:ext cx="7825502" cy="356830"/>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La inteligencia artificial no es solo una cuestión tecnológica: es un </a:t>
            </a:r>
            <a:pPr algn="l" indent="0" marL="0">
              <a:lnSpc>
                <a:spcPts val="900"/>
              </a:lnSpc>
              <a:buNone/>
            </a:pPr>
            <a:r>
              <a:rPr lang="en-US" sz="750" b="1" dirty="0">
                <a:solidFill>
                  <a:srgbClr val="1E3063"/>
                </a:solidFill>
                <a:latin typeface="Instrument Sans Medium" pitchFamily="34" charset="0"/>
                <a:ea typeface="Instrument Sans Medium" pitchFamily="34" charset="-122"/>
                <a:cs typeface="Instrument Sans Medium" pitchFamily="34" charset="-120"/>
              </a:rPr>
              <a:t>fenómeno socioeconómico de primer orden</a:t>
            </a:r>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 que transforma el empleo, la distribución de poder, los derechos individuales y el modelo de sociedad. Debatir con rigor sobre su impacto exige evidencia, pluralidad de perspectivas y propuestas concretas de acción responsable.</a:t>
            </a:r>
            <a:endParaRPr lang="en-US" sz="750" dirty="0"/>
          </a:p>
        </p:txBody>
      </p:sp>
      <p:sp>
        <p:nvSpPr>
          <p:cNvPr id="6" name="Text 3"/>
          <p:cNvSpPr/>
          <p:nvPr/>
        </p:nvSpPr>
        <p:spPr>
          <a:xfrm>
            <a:off x="3402449" y="2043827"/>
            <a:ext cx="1984653" cy="248007"/>
          </a:xfrm>
          <a:prstGeom prst="rect">
            <a:avLst/>
          </a:prstGeom>
          <a:noFill/>
          <a:ln/>
        </p:spPr>
        <p:txBody>
          <a:bodyPr wrap="none" lIns="0" tIns="0" rIns="0" bIns="0" rtlCol="0" anchor="t"/>
          <a:lstStyle/>
          <a:p>
            <a:pPr algn="l" indent="0" marL="0">
              <a:lnSpc>
                <a:spcPts val="1950"/>
              </a:lnSpc>
              <a:buNone/>
            </a:pPr>
            <a:r>
              <a:rPr lang="en-US" sz="1550" dirty="0">
                <a:solidFill>
                  <a:srgbClr val="091C53"/>
                </a:solidFill>
                <a:latin typeface="Instrument Sans Semi Bold" pitchFamily="34" charset="0"/>
                <a:ea typeface="Instrument Sans Semi Bold" pitchFamily="34" charset="-122"/>
                <a:cs typeface="Instrument Sans Semi Bold" pitchFamily="34" charset="-120"/>
              </a:rPr>
              <a:t>Ejes del debate</a:t>
            </a:r>
            <a:endParaRPr lang="en-US" sz="1550" dirty="0"/>
          </a:p>
        </p:txBody>
      </p:sp>
      <p:sp>
        <p:nvSpPr>
          <p:cNvPr id="7" name="Shape 4"/>
          <p:cNvSpPr/>
          <p:nvPr/>
        </p:nvSpPr>
        <p:spPr>
          <a:xfrm>
            <a:off x="3402449" y="2366248"/>
            <a:ext cx="7825502" cy="2219920"/>
          </a:xfrm>
          <a:prstGeom prst="roundRect">
            <a:avLst>
              <a:gd name="adj" fmla="val 4023"/>
            </a:avLst>
          </a:prstGeom>
          <a:solidFill>
            <a:srgbClr val="CEE6FD"/>
          </a:solidFill>
          <a:ln/>
        </p:spPr>
      </p:sp>
      <p:sp>
        <p:nvSpPr>
          <p:cNvPr id="8" name="Shape 5"/>
          <p:cNvSpPr/>
          <p:nvPr/>
        </p:nvSpPr>
        <p:spPr>
          <a:xfrm>
            <a:off x="3402449" y="2366248"/>
            <a:ext cx="3912751" cy="739973"/>
          </a:xfrm>
          <a:prstGeom prst="roundRect">
            <a:avLst>
              <a:gd name="adj" fmla="val 12070"/>
            </a:avLst>
          </a:prstGeom>
          <a:solidFill>
            <a:srgbClr val="CEE6FD"/>
          </a:solidFill>
          <a:ln/>
        </p:spPr>
      </p:sp>
      <p:sp>
        <p:nvSpPr>
          <p:cNvPr id="9" name="Text 6"/>
          <p:cNvSpPr/>
          <p:nvPr/>
        </p:nvSpPr>
        <p:spPr>
          <a:xfrm>
            <a:off x="3501628" y="2465427"/>
            <a:ext cx="1246942" cy="155019"/>
          </a:xfrm>
          <a:prstGeom prst="rect">
            <a:avLst/>
          </a:prstGeom>
          <a:noFill/>
          <a:ln/>
        </p:spPr>
        <p:txBody>
          <a:bodyPr wrap="none" lIns="0" tIns="0" rIns="0" bIns="0" rtlCol="0" anchor="t"/>
          <a:lstStyle/>
          <a:p>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Impacto en el empleo</a:t>
            </a:r>
            <a:endParaRPr lang="en-US" sz="950" dirty="0"/>
          </a:p>
        </p:txBody>
      </p:sp>
      <p:sp>
        <p:nvSpPr>
          <p:cNvPr id="10" name="Text 7"/>
          <p:cNvSpPr/>
          <p:nvPr/>
        </p:nvSpPr>
        <p:spPr>
          <a:xfrm>
            <a:off x="3501628" y="2650212"/>
            <a:ext cx="3714393" cy="237887"/>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La IA automatiza tareas rutinarias y cognitivas. ¿Destruye empleo neto o lo transforma? Análisis por sector, perfil y nivel de cualificación.</a:t>
            </a:r>
            <a:endParaRPr lang="en-US" sz="750" dirty="0"/>
          </a:p>
        </p:txBody>
      </p:sp>
      <p:sp>
        <p:nvSpPr>
          <p:cNvPr id="11" name="Shape 8"/>
          <p:cNvSpPr/>
          <p:nvPr/>
        </p:nvSpPr>
        <p:spPr>
          <a:xfrm>
            <a:off x="7315200" y="2366248"/>
            <a:ext cx="3912751" cy="739973"/>
          </a:xfrm>
          <a:prstGeom prst="rect">
            <a:avLst/>
          </a:prstGeom>
          <a:solidFill>
            <a:srgbClr val="CEE6FD"/>
          </a:solidFill>
          <a:ln/>
        </p:spPr>
      </p:sp>
      <p:sp>
        <p:nvSpPr>
          <p:cNvPr id="12" name="Shape 9"/>
          <p:cNvSpPr/>
          <p:nvPr/>
        </p:nvSpPr>
        <p:spPr>
          <a:xfrm>
            <a:off x="7315200" y="2366248"/>
            <a:ext cx="15240" cy="739973"/>
          </a:xfrm>
          <a:prstGeom prst="roundRect">
            <a:avLst>
              <a:gd name="adj" fmla="val 586046"/>
            </a:avLst>
          </a:prstGeom>
          <a:solidFill>
            <a:srgbClr val="B4CCE3"/>
          </a:solidFill>
          <a:ln/>
        </p:spPr>
      </p:sp>
      <p:sp>
        <p:nvSpPr>
          <p:cNvPr id="13" name="Text 10"/>
          <p:cNvSpPr/>
          <p:nvPr/>
        </p:nvSpPr>
        <p:spPr>
          <a:xfrm>
            <a:off x="7414379" y="2465427"/>
            <a:ext cx="1787247" cy="155019"/>
          </a:xfrm>
          <a:prstGeom prst="rect">
            <a:avLst/>
          </a:prstGeom>
          <a:noFill/>
          <a:ln/>
        </p:spPr>
        <p:txBody>
          <a:bodyPr wrap="none" lIns="0" tIns="0" rIns="0" bIns="0" rtlCol="0" anchor="t"/>
          <a:lstStyle/>
          <a:p>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Cambios en el mercado laboral</a:t>
            </a:r>
            <a:endParaRPr lang="en-US" sz="950" dirty="0"/>
          </a:p>
        </p:txBody>
      </p:sp>
      <p:sp>
        <p:nvSpPr>
          <p:cNvPr id="14" name="Text 11"/>
          <p:cNvSpPr/>
          <p:nvPr/>
        </p:nvSpPr>
        <p:spPr>
          <a:xfrm>
            <a:off x="7414379" y="2650212"/>
            <a:ext cx="3714393" cy="356830"/>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Nuevos roles emergen mientras otros desaparecen. Polarización salarial, demanda de habilidades digitales y retos para la formación continua y la reconversión profesional.</a:t>
            </a:r>
            <a:endParaRPr lang="en-US" sz="750" dirty="0"/>
          </a:p>
        </p:txBody>
      </p:sp>
      <p:sp>
        <p:nvSpPr>
          <p:cNvPr id="15" name="Shape 12"/>
          <p:cNvSpPr/>
          <p:nvPr/>
        </p:nvSpPr>
        <p:spPr>
          <a:xfrm>
            <a:off x="3402449" y="3106222"/>
            <a:ext cx="3912751" cy="739973"/>
          </a:xfrm>
          <a:prstGeom prst="rect">
            <a:avLst/>
          </a:prstGeom>
          <a:solidFill>
            <a:srgbClr val="CEE6FD"/>
          </a:solidFill>
          <a:ln/>
        </p:spPr>
      </p:sp>
      <p:sp>
        <p:nvSpPr>
          <p:cNvPr id="16" name="Shape 13"/>
          <p:cNvSpPr/>
          <p:nvPr/>
        </p:nvSpPr>
        <p:spPr>
          <a:xfrm>
            <a:off x="3402449" y="3106222"/>
            <a:ext cx="3912751" cy="15240"/>
          </a:xfrm>
          <a:prstGeom prst="roundRect">
            <a:avLst>
              <a:gd name="adj" fmla="val 586046"/>
            </a:avLst>
          </a:prstGeom>
          <a:solidFill>
            <a:srgbClr val="B4CCE3"/>
          </a:solidFill>
          <a:ln/>
        </p:spPr>
      </p:sp>
      <p:sp>
        <p:nvSpPr>
          <p:cNvPr id="17" name="Text 14"/>
          <p:cNvSpPr/>
          <p:nvPr/>
        </p:nvSpPr>
        <p:spPr>
          <a:xfrm>
            <a:off x="3501628" y="3205401"/>
            <a:ext cx="1473756" cy="155019"/>
          </a:xfrm>
          <a:prstGeom prst="rect">
            <a:avLst/>
          </a:prstGeom>
          <a:noFill/>
          <a:ln/>
        </p:spPr>
        <p:txBody>
          <a:bodyPr wrap="none" lIns="0" tIns="0" rIns="0" bIns="0" rtlCol="0" anchor="t"/>
          <a:lstStyle/>
          <a:p>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Riesgos éticos y de sesgo</a:t>
            </a:r>
            <a:endParaRPr lang="en-US" sz="950" dirty="0"/>
          </a:p>
        </p:txBody>
      </p:sp>
      <p:sp>
        <p:nvSpPr>
          <p:cNvPr id="18" name="Text 15"/>
          <p:cNvSpPr/>
          <p:nvPr/>
        </p:nvSpPr>
        <p:spPr>
          <a:xfrm>
            <a:off x="3501628" y="3390186"/>
            <a:ext cx="3714393" cy="356830"/>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Los modelos de IA replican y amplifican sesgos de los datos de entrenamiento. Discriminación algorítmica en contratación, crédito, justicia o salud: causas, consecuencias y controles.</a:t>
            </a:r>
            <a:endParaRPr lang="en-US" sz="750" dirty="0"/>
          </a:p>
        </p:txBody>
      </p:sp>
      <p:sp>
        <p:nvSpPr>
          <p:cNvPr id="19" name="Shape 16"/>
          <p:cNvSpPr/>
          <p:nvPr/>
        </p:nvSpPr>
        <p:spPr>
          <a:xfrm>
            <a:off x="7315200" y="3106222"/>
            <a:ext cx="3912751" cy="739973"/>
          </a:xfrm>
          <a:prstGeom prst="rect">
            <a:avLst/>
          </a:prstGeom>
          <a:solidFill>
            <a:srgbClr val="CEE6FD"/>
          </a:solidFill>
          <a:ln/>
        </p:spPr>
      </p:sp>
      <p:sp>
        <p:nvSpPr>
          <p:cNvPr id="20" name="Shape 17"/>
          <p:cNvSpPr/>
          <p:nvPr/>
        </p:nvSpPr>
        <p:spPr>
          <a:xfrm>
            <a:off x="7315200" y="3106222"/>
            <a:ext cx="15240" cy="739973"/>
          </a:xfrm>
          <a:prstGeom prst="roundRect">
            <a:avLst>
              <a:gd name="adj" fmla="val 586046"/>
            </a:avLst>
          </a:prstGeom>
          <a:solidFill>
            <a:srgbClr val="B4CCE3"/>
          </a:solidFill>
          <a:ln/>
        </p:spPr>
      </p:sp>
      <p:sp>
        <p:nvSpPr>
          <p:cNvPr id="21" name="Shape 18"/>
          <p:cNvSpPr/>
          <p:nvPr/>
        </p:nvSpPr>
        <p:spPr>
          <a:xfrm>
            <a:off x="7315200" y="3106222"/>
            <a:ext cx="3912751" cy="15240"/>
          </a:xfrm>
          <a:prstGeom prst="roundRect">
            <a:avLst>
              <a:gd name="adj" fmla="val 586046"/>
            </a:avLst>
          </a:prstGeom>
          <a:solidFill>
            <a:srgbClr val="B4CCE3"/>
          </a:solidFill>
          <a:ln/>
        </p:spPr>
      </p:sp>
      <p:sp>
        <p:nvSpPr>
          <p:cNvPr id="22" name="Text 19"/>
          <p:cNvSpPr/>
          <p:nvPr/>
        </p:nvSpPr>
        <p:spPr>
          <a:xfrm>
            <a:off x="7414379" y="3205401"/>
            <a:ext cx="1838563" cy="155019"/>
          </a:xfrm>
          <a:prstGeom prst="rect">
            <a:avLst/>
          </a:prstGeom>
          <a:noFill/>
          <a:ln/>
        </p:spPr>
        <p:txBody>
          <a:bodyPr wrap="none" lIns="0" tIns="0" rIns="0" bIns="0" rtlCol="0" anchor="t"/>
          <a:lstStyle/>
          <a:p>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Privacidad y seguridad de datos</a:t>
            </a:r>
            <a:endParaRPr lang="en-US" sz="950" dirty="0"/>
          </a:p>
        </p:txBody>
      </p:sp>
      <p:sp>
        <p:nvSpPr>
          <p:cNvPr id="23" name="Text 20"/>
          <p:cNvSpPr/>
          <p:nvPr/>
        </p:nvSpPr>
        <p:spPr>
          <a:xfrm>
            <a:off x="7414379" y="3390186"/>
            <a:ext cx="3714393" cy="356830"/>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La IA opera sobre datos masivos, muchos de ellos personales o sensibles. Vigilancia, perfilado, ciberataques y uso indebido de información: derechos individuales frente a intereses corporativos.</a:t>
            </a:r>
            <a:endParaRPr lang="en-US" sz="750" dirty="0"/>
          </a:p>
        </p:txBody>
      </p:sp>
      <p:sp>
        <p:nvSpPr>
          <p:cNvPr id="24" name="Shape 21"/>
          <p:cNvSpPr/>
          <p:nvPr/>
        </p:nvSpPr>
        <p:spPr>
          <a:xfrm>
            <a:off x="3402449" y="3846195"/>
            <a:ext cx="3912751" cy="739973"/>
          </a:xfrm>
          <a:prstGeom prst="rect">
            <a:avLst/>
          </a:prstGeom>
          <a:solidFill>
            <a:srgbClr val="CEE6FD"/>
          </a:solidFill>
          <a:ln/>
        </p:spPr>
      </p:sp>
      <p:sp>
        <p:nvSpPr>
          <p:cNvPr id="25" name="Shape 22"/>
          <p:cNvSpPr/>
          <p:nvPr/>
        </p:nvSpPr>
        <p:spPr>
          <a:xfrm>
            <a:off x="3402449" y="3846195"/>
            <a:ext cx="3912751" cy="15240"/>
          </a:xfrm>
          <a:prstGeom prst="roundRect">
            <a:avLst>
              <a:gd name="adj" fmla="val 586046"/>
            </a:avLst>
          </a:prstGeom>
          <a:solidFill>
            <a:srgbClr val="B4CCE3"/>
          </a:solidFill>
          <a:ln/>
        </p:spPr>
      </p:sp>
      <p:sp>
        <p:nvSpPr>
          <p:cNvPr id="26" name="Text 23"/>
          <p:cNvSpPr/>
          <p:nvPr/>
        </p:nvSpPr>
        <p:spPr>
          <a:xfrm>
            <a:off x="3501628" y="3945374"/>
            <a:ext cx="2203490" cy="155019"/>
          </a:xfrm>
          <a:prstGeom prst="rect">
            <a:avLst/>
          </a:prstGeom>
          <a:noFill/>
          <a:ln/>
        </p:spPr>
        <p:txBody>
          <a:bodyPr wrap="none" lIns="0" tIns="0" rIns="0" bIns="0" rtlCol="0" anchor="t"/>
          <a:lstStyle/>
          <a:p>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Regulación y cumplimiento normativo</a:t>
            </a:r>
            <a:endParaRPr lang="en-US" sz="950" dirty="0"/>
          </a:p>
        </p:txBody>
      </p:sp>
      <p:sp>
        <p:nvSpPr>
          <p:cNvPr id="27" name="Text 24"/>
          <p:cNvSpPr/>
          <p:nvPr/>
        </p:nvSpPr>
        <p:spPr>
          <a:xfrm>
            <a:off x="3501628" y="4130159"/>
            <a:ext cx="3714393" cy="356830"/>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El AI Act europeo, el GDPR y marcos sectoriales definen obligaciones crecientes. Las empresas deben anticipar la regulación, no solo reaccionar a ella. Ventana de oportunidad para el liderazgo responsable.</a:t>
            </a:r>
            <a:endParaRPr lang="en-US" sz="750" dirty="0"/>
          </a:p>
        </p:txBody>
      </p:sp>
      <p:sp>
        <p:nvSpPr>
          <p:cNvPr id="28" name="Shape 25"/>
          <p:cNvSpPr/>
          <p:nvPr/>
        </p:nvSpPr>
        <p:spPr>
          <a:xfrm>
            <a:off x="7315200" y="3846195"/>
            <a:ext cx="3912751" cy="739973"/>
          </a:xfrm>
          <a:prstGeom prst="rect">
            <a:avLst/>
          </a:prstGeom>
          <a:solidFill>
            <a:srgbClr val="CEE6FD"/>
          </a:solidFill>
          <a:ln/>
        </p:spPr>
      </p:sp>
      <p:sp>
        <p:nvSpPr>
          <p:cNvPr id="29" name="Shape 26"/>
          <p:cNvSpPr/>
          <p:nvPr/>
        </p:nvSpPr>
        <p:spPr>
          <a:xfrm>
            <a:off x="7315200" y="3846195"/>
            <a:ext cx="15240" cy="739973"/>
          </a:xfrm>
          <a:prstGeom prst="roundRect">
            <a:avLst>
              <a:gd name="adj" fmla="val 586046"/>
            </a:avLst>
          </a:prstGeom>
          <a:solidFill>
            <a:srgbClr val="B4CCE3"/>
          </a:solidFill>
          <a:ln/>
        </p:spPr>
      </p:sp>
      <p:sp>
        <p:nvSpPr>
          <p:cNvPr id="30" name="Shape 27"/>
          <p:cNvSpPr/>
          <p:nvPr/>
        </p:nvSpPr>
        <p:spPr>
          <a:xfrm>
            <a:off x="7315200" y="3846195"/>
            <a:ext cx="3912751" cy="15240"/>
          </a:xfrm>
          <a:prstGeom prst="roundRect">
            <a:avLst>
              <a:gd name="adj" fmla="val 586046"/>
            </a:avLst>
          </a:prstGeom>
          <a:solidFill>
            <a:srgbClr val="B4CCE3"/>
          </a:solidFill>
          <a:ln/>
        </p:spPr>
      </p:sp>
      <p:sp>
        <p:nvSpPr>
          <p:cNvPr id="31" name="Text 28"/>
          <p:cNvSpPr/>
          <p:nvPr/>
        </p:nvSpPr>
        <p:spPr>
          <a:xfrm>
            <a:off x="7414379" y="3945374"/>
            <a:ext cx="1682472" cy="155019"/>
          </a:xfrm>
          <a:prstGeom prst="rect">
            <a:avLst/>
          </a:prstGeom>
          <a:noFill/>
          <a:ln/>
        </p:spPr>
        <p:txBody>
          <a:bodyPr wrap="none" lIns="0" tIns="0" rIns="0" bIns="0" rtlCol="0" anchor="t"/>
          <a:lstStyle/>
          <a:p>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Responsabilidad empresarial</a:t>
            </a:r>
            <a:endParaRPr lang="en-US" sz="950" dirty="0"/>
          </a:p>
        </p:txBody>
      </p:sp>
      <p:sp>
        <p:nvSpPr>
          <p:cNvPr id="32" name="Text 29"/>
          <p:cNvSpPr/>
          <p:nvPr/>
        </p:nvSpPr>
        <p:spPr>
          <a:xfrm>
            <a:off x="7414379" y="4130159"/>
            <a:ext cx="3714393" cy="356830"/>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¿Quién responde cuando un sistema de IA causa daño? Cultura de accountability, trazabilidad de decisiones automatizadas y políticas internas de uso ético como ventaja reputacional y de negocio.</a:t>
            </a:r>
            <a:endParaRPr lang="en-US" sz="750" dirty="0"/>
          </a:p>
        </p:txBody>
      </p:sp>
      <p:sp>
        <p:nvSpPr>
          <p:cNvPr id="33" name="Shape 30"/>
          <p:cNvSpPr/>
          <p:nvPr/>
        </p:nvSpPr>
        <p:spPr>
          <a:xfrm>
            <a:off x="3402449" y="4691464"/>
            <a:ext cx="7825502" cy="20003"/>
          </a:xfrm>
          <a:prstGeom prst="rect">
            <a:avLst/>
          </a:prstGeom>
          <a:solidFill>
            <a:srgbClr val="1E3063">
              <a:alpha val="50000"/>
            </a:srgbClr>
          </a:solidFill>
          <a:ln/>
        </p:spPr>
      </p:sp>
      <p:sp>
        <p:nvSpPr>
          <p:cNvPr id="34" name="Text 31"/>
          <p:cNvSpPr/>
          <p:nvPr/>
        </p:nvSpPr>
        <p:spPr>
          <a:xfrm>
            <a:off x="3402449" y="4785836"/>
            <a:ext cx="2211943" cy="248007"/>
          </a:xfrm>
          <a:prstGeom prst="rect">
            <a:avLst/>
          </a:prstGeom>
          <a:noFill/>
          <a:ln/>
        </p:spPr>
        <p:txBody>
          <a:bodyPr wrap="none" lIns="0" tIns="0" rIns="0" bIns="0" rtlCol="0" anchor="t"/>
          <a:lstStyle/>
          <a:p>
            <a:pPr algn="l" indent="0" marL="0">
              <a:lnSpc>
                <a:spcPts val="1950"/>
              </a:lnSpc>
              <a:buNone/>
            </a:pPr>
            <a:r>
              <a:rPr lang="en-US" sz="1550" dirty="0">
                <a:solidFill>
                  <a:srgbClr val="091C53"/>
                </a:solidFill>
                <a:latin typeface="Instrument Sans Semi Bold" pitchFamily="34" charset="0"/>
                <a:ea typeface="Instrument Sans Semi Bold" pitchFamily="34" charset="-122"/>
                <a:cs typeface="Instrument Sans Semi Bold" pitchFamily="34" charset="-120"/>
              </a:rPr>
              <a:t>Perspectivas en tensión</a:t>
            </a:r>
            <a:endParaRPr lang="en-US" sz="1550" dirty="0"/>
          </a:p>
        </p:txBody>
      </p:sp>
      <p:sp>
        <p:nvSpPr>
          <p:cNvPr id="35" name="Shape 32"/>
          <p:cNvSpPr/>
          <p:nvPr/>
        </p:nvSpPr>
        <p:spPr>
          <a:xfrm>
            <a:off x="3402449" y="5108258"/>
            <a:ext cx="3887986" cy="778073"/>
          </a:xfrm>
          <a:prstGeom prst="roundRect">
            <a:avLst>
              <a:gd name="adj" fmla="val 9402"/>
            </a:avLst>
          </a:prstGeom>
          <a:solidFill>
            <a:srgbClr val="FFFFFF"/>
          </a:solidFill>
          <a:ln w="15240">
            <a:solidFill>
              <a:srgbClr val="B4CCE3"/>
            </a:solidFill>
            <a:prstDash val="solid"/>
          </a:ln>
        </p:spPr>
      </p:sp>
      <p:sp>
        <p:nvSpPr>
          <p:cNvPr id="36" name="Shape 33"/>
          <p:cNvSpPr/>
          <p:nvPr/>
        </p:nvSpPr>
        <p:spPr>
          <a:xfrm>
            <a:off x="3387209" y="5108258"/>
            <a:ext cx="60960" cy="778073"/>
          </a:xfrm>
          <a:prstGeom prst="roundRect">
            <a:avLst>
              <a:gd name="adj" fmla="val 146512"/>
            </a:avLst>
          </a:prstGeom>
          <a:solidFill>
            <a:srgbClr val="84C1FA"/>
          </a:solidFill>
          <a:ln/>
        </p:spPr>
      </p:sp>
      <p:sp>
        <p:nvSpPr>
          <p:cNvPr id="37" name="Text 34"/>
          <p:cNvSpPr/>
          <p:nvPr/>
        </p:nvSpPr>
        <p:spPr>
          <a:xfrm>
            <a:off x="3562588" y="5222677"/>
            <a:ext cx="1240393" cy="162639"/>
          </a:xfrm>
          <a:prstGeom prst="rect">
            <a:avLst/>
          </a:prstGeom>
          <a:noFill/>
          <a:ln/>
        </p:spPr>
        <p:txBody>
          <a:bodyPr wrap="none" lIns="0" tIns="0" rIns="0" bIns="0" rtlCol="0" anchor="t"/>
          <a:lstStyle/>
          <a:p>
            <a:pPr algn="l" indent="0" marL="0">
              <a:lnSpc>
                <a:spcPts val="1200"/>
              </a:lnSpc>
              <a:buNone/>
            </a:pPr>
            <a:r>
              <a:rPr lang="en-US" sz="950" dirty="0">
                <a:solidFill>
                  <a:srgbClr val="000000"/>
                </a:solidFill>
                <a:latin typeface="Instrument Sans Semi Bold" pitchFamily="34" charset="0"/>
                <a:ea typeface="Instrument Sans Semi Bold" pitchFamily="34" charset="-122"/>
                <a:cs typeface="Instrument Sans Semi Bold" pitchFamily="34" charset="-120"/>
              </a:rPr>
              <a:t>🏢</a:t>
            </a:r>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 Empresa</a:t>
            </a:r>
            <a:endParaRPr lang="en-US" sz="950" dirty="0"/>
          </a:p>
        </p:txBody>
      </p:sp>
      <p:sp>
        <p:nvSpPr>
          <p:cNvPr id="38" name="Text 35"/>
          <p:cNvSpPr/>
          <p:nvPr/>
        </p:nvSpPr>
        <p:spPr>
          <a:xfrm>
            <a:off x="3562588" y="5415082"/>
            <a:ext cx="3613428" cy="356830"/>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Eficiencia, competitividad y reducción de costes como motores de adopción. Tensión entre velocidad de implantación y gestión responsable del impacto en personas y procesos.</a:t>
            </a:r>
            <a:endParaRPr lang="en-US" sz="750" dirty="0"/>
          </a:p>
        </p:txBody>
      </p:sp>
      <p:sp>
        <p:nvSpPr>
          <p:cNvPr id="39" name="Shape 36"/>
          <p:cNvSpPr/>
          <p:nvPr/>
        </p:nvSpPr>
        <p:spPr>
          <a:xfrm>
            <a:off x="7339965" y="5108258"/>
            <a:ext cx="3887986" cy="778073"/>
          </a:xfrm>
          <a:prstGeom prst="roundRect">
            <a:avLst>
              <a:gd name="adj" fmla="val 9402"/>
            </a:avLst>
          </a:prstGeom>
          <a:solidFill>
            <a:srgbClr val="FFFFFF"/>
          </a:solidFill>
          <a:ln w="15240">
            <a:solidFill>
              <a:srgbClr val="B4CCE3"/>
            </a:solidFill>
            <a:prstDash val="solid"/>
          </a:ln>
        </p:spPr>
      </p:sp>
      <p:sp>
        <p:nvSpPr>
          <p:cNvPr id="40" name="Shape 37"/>
          <p:cNvSpPr/>
          <p:nvPr/>
        </p:nvSpPr>
        <p:spPr>
          <a:xfrm>
            <a:off x="7324725" y="5108258"/>
            <a:ext cx="60960" cy="778073"/>
          </a:xfrm>
          <a:prstGeom prst="roundRect">
            <a:avLst>
              <a:gd name="adj" fmla="val 146512"/>
            </a:avLst>
          </a:prstGeom>
          <a:solidFill>
            <a:srgbClr val="84C1FA"/>
          </a:solidFill>
          <a:ln/>
        </p:spPr>
      </p:sp>
      <p:sp>
        <p:nvSpPr>
          <p:cNvPr id="41" name="Text 38"/>
          <p:cNvSpPr/>
          <p:nvPr/>
        </p:nvSpPr>
        <p:spPr>
          <a:xfrm>
            <a:off x="7500104" y="5222677"/>
            <a:ext cx="1240393" cy="162639"/>
          </a:xfrm>
          <a:prstGeom prst="rect">
            <a:avLst/>
          </a:prstGeom>
          <a:noFill/>
          <a:ln/>
        </p:spPr>
        <p:txBody>
          <a:bodyPr wrap="none" lIns="0" tIns="0" rIns="0" bIns="0" rtlCol="0" anchor="t"/>
          <a:lstStyle/>
          <a:p>
            <a:pPr algn="l" indent="0" marL="0">
              <a:lnSpc>
                <a:spcPts val="1200"/>
              </a:lnSpc>
              <a:buNone/>
            </a:pPr>
            <a:r>
              <a:rPr lang="en-US" sz="950" dirty="0">
                <a:solidFill>
                  <a:srgbClr val="000000"/>
                </a:solidFill>
                <a:latin typeface="Instrument Sans Semi Bold" pitchFamily="34" charset="0"/>
                <a:ea typeface="Instrument Sans Semi Bold" pitchFamily="34" charset="-122"/>
                <a:cs typeface="Instrument Sans Semi Bold" pitchFamily="34" charset="-120"/>
              </a:rPr>
              <a:t>👷</a:t>
            </a:r>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 Trabajadores</a:t>
            </a:r>
            <a:endParaRPr lang="en-US" sz="950" dirty="0"/>
          </a:p>
        </p:txBody>
      </p:sp>
      <p:sp>
        <p:nvSpPr>
          <p:cNvPr id="42" name="Text 39"/>
          <p:cNvSpPr/>
          <p:nvPr/>
        </p:nvSpPr>
        <p:spPr>
          <a:xfrm>
            <a:off x="7500104" y="5415082"/>
            <a:ext cx="3613428" cy="356830"/>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Incertidumbre sobre la estabilidad del empleo, demanda de formación y reclamo de participación en los beneficios de la automatización. La IA como herramienta de apoyo o como amenaza según el contexto.</a:t>
            </a:r>
            <a:endParaRPr lang="en-US" sz="750" dirty="0"/>
          </a:p>
        </p:txBody>
      </p:sp>
      <p:sp>
        <p:nvSpPr>
          <p:cNvPr id="43" name="Shape 40"/>
          <p:cNvSpPr/>
          <p:nvPr/>
        </p:nvSpPr>
        <p:spPr>
          <a:xfrm>
            <a:off x="3402449" y="5935861"/>
            <a:ext cx="3887986" cy="778073"/>
          </a:xfrm>
          <a:prstGeom prst="roundRect">
            <a:avLst>
              <a:gd name="adj" fmla="val 9402"/>
            </a:avLst>
          </a:prstGeom>
          <a:solidFill>
            <a:srgbClr val="FFFFFF"/>
          </a:solidFill>
          <a:ln w="15240">
            <a:solidFill>
              <a:srgbClr val="B4CCE3"/>
            </a:solidFill>
            <a:prstDash val="solid"/>
          </a:ln>
        </p:spPr>
      </p:sp>
      <p:sp>
        <p:nvSpPr>
          <p:cNvPr id="44" name="Shape 41"/>
          <p:cNvSpPr/>
          <p:nvPr/>
        </p:nvSpPr>
        <p:spPr>
          <a:xfrm>
            <a:off x="3387209" y="5935861"/>
            <a:ext cx="60960" cy="778073"/>
          </a:xfrm>
          <a:prstGeom prst="roundRect">
            <a:avLst>
              <a:gd name="adj" fmla="val 146512"/>
            </a:avLst>
          </a:prstGeom>
          <a:solidFill>
            <a:srgbClr val="84C1FA"/>
          </a:solidFill>
          <a:ln/>
        </p:spPr>
      </p:sp>
      <p:sp>
        <p:nvSpPr>
          <p:cNvPr id="45" name="Text 42"/>
          <p:cNvSpPr/>
          <p:nvPr/>
        </p:nvSpPr>
        <p:spPr>
          <a:xfrm>
            <a:off x="3562588" y="6050280"/>
            <a:ext cx="1240393" cy="162639"/>
          </a:xfrm>
          <a:prstGeom prst="rect">
            <a:avLst/>
          </a:prstGeom>
          <a:noFill/>
          <a:ln/>
        </p:spPr>
        <p:txBody>
          <a:bodyPr wrap="none" lIns="0" tIns="0" rIns="0" bIns="0" rtlCol="0" anchor="t"/>
          <a:lstStyle/>
          <a:p>
            <a:pPr algn="l" indent="0" marL="0">
              <a:lnSpc>
                <a:spcPts val="1200"/>
              </a:lnSpc>
              <a:buNone/>
            </a:pPr>
            <a:r>
              <a:rPr lang="en-US" sz="950" dirty="0">
                <a:solidFill>
                  <a:srgbClr val="000000"/>
                </a:solidFill>
                <a:latin typeface="Instrument Sans Semi Bold" pitchFamily="34" charset="0"/>
                <a:ea typeface="Instrument Sans Semi Bold" pitchFamily="34" charset="-122"/>
                <a:cs typeface="Instrument Sans Semi Bold" pitchFamily="34" charset="-120"/>
              </a:rPr>
              <a:t>🌍</a:t>
            </a:r>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 Sociedad</a:t>
            </a:r>
            <a:endParaRPr lang="en-US" sz="950" dirty="0"/>
          </a:p>
        </p:txBody>
      </p:sp>
      <p:sp>
        <p:nvSpPr>
          <p:cNvPr id="46" name="Text 43"/>
          <p:cNvSpPr/>
          <p:nvPr/>
        </p:nvSpPr>
        <p:spPr>
          <a:xfrm>
            <a:off x="3562588" y="6242685"/>
            <a:ext cx="3613428" cy="356830"/>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Concentración de poder en pocas corporaciones, brecha digital entre países y colectivos, y riesgo de desinformación a escala. La IA puede reducir desigualdades o ampliarlas según cómo se gobierne.</a:t>
            </a:r>
            <a:endParaRPr lang="en-US" sz="750" dirty="0"/>
          </a:p>
        </p:txBody>
      </p:sp>
      <p:sp>
        <p:nvSpPr>
          <p:cNvPr id="47" name="Shape 44"/>
          <p:cNvSpPr/>
          <p:nvPr/>
        </p:nvSpPr>
        <p:spPr>
          <a:xfrm>
            <a:off x="7339965" y="5935861"/>
            <a:ext cx="3887986" cy="778073"/>
          </a:xfrm>
          <a:prstGeom prst="roundRect">
            <a:avLst>
              <a:gd name="adj" fmla="val 9402"/>
            </a:avLst>
          </a:prstGeom>
          <a:solidFill>
            <a:srgbClr val="FFFFFF"/>
          </a:solidFill>
          <a:ln w="15240">
            <a:solidFill>
              <a:srgbClr val="B4CCE3"/>
            </a:solidFill>
            <a:prstDash val="solid"/>
          </a:ln>
        </p:spPr>
      </p:sp>
      <p:sp>
        <p:nvSpPr>
          <p:cNvPr id="48" name="Shape 45"/>
          <p:cNvSpPr/>
          <p:nvPr/>
        </p:nvSpPr>
        <p:spPr>
          <a:xfrm>
            <a:off x="7324725" y="5935861"/>
            <a:ext cx="60960" cy="778073"/>
          </a:xfrm>
          <a:prstGeom prst="roundRect">
            <a:avLst>
              <a:gd name="adj" fmla="val 146512"/>
            </a:avLst>
          </a:prstGeom>
          <a:solidFill>
            <a:srgbClr val="84C1FA"/>
          </a:solidFill>
          <a:ln/>
        </p:spPr>
      </p:sp>
      <p:sp>
        <p:nvSpPr>
          <p:cNvPr id="49" name="Text 46"/>
          <p:cNvSpPr/>
          <p:nvPr/>
        </p:nvSpPr>
        <p:spPr>
          <a:xfrm>
            <a:off x="7500104" y="6050280"/>
            <a:ext cx="1584008" cy="162639"/>
          </a:xfrm>
          <a:prstGeom prst="rect">
            <a:avLst/>
          </a:prstGeom>
          <a:noFill/>
          <a:ln/>
        </p:spPr>
        <p:txBody>
          <a:bodyPr wrap="none" lIns="0" tIns="0" rIns="0" bIns="0" rtlCol="0" anchor="t"/>
          <a:lstStyle/>
          <a:p>
            <a:pPr algn="l" indent="0" marL="0">
              <a:lnSpc>
                <a:spcPts val="1200"/>
              </a:lnSpc>
              <a:buNone/>
            </a:pPr>
            <a:r>
              <a:rPr lang="en-US" sz="950" dirty="0">
                <a:solidFill>
                  <a:srgbClr val="000000"/>
                </a:solidFill>
                <a:latin typeface="Instrument Sans Semi Bold" pitchFamily="34" charset="0"/>
                <a:ea typeface="Instrument Sans Semi Bold" pitchFamily="34" charset="-122"/>
                <a:cs typeface="Instrument Sans Semi Bold" pitchFamily="34" charset="-120"/>
              </a:rPr>
              <a:t>♻️</a:t>
            </a:r>
            <a:pPr algn="l" indent="0" marL="0">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 Futuro sostenible con IA</a:t>
            </a:r>
            <a:endParaRPr lang="en-US" sz="950" dirty="0"/>
          </a:p>
        </p:txBody>
      </p:sp>
      <p:sp>
        <p:nvSpPr>
          <p:cNvPr id="50" name="Text 47"/>
          <p:cNvSpPr/>
          <p:nvPr/>
        </p:nvSpPr>
        <p:spPr>
          <a:xfrm>
            <a:off x="7500104" y="6242685"/>
            <a:ext cx="3613428" cy="356830"/>
          </a:xfrm>
          <a:prstGeom prst="rect">
            <a:avLst/>
          </a:prstGeom>
          <a:noFill/>
          <a:ln/>
        </p:spPr>
        <p:txBody>
          <a:bodyPr wrap="square" lIns="0" tIns="0" rIns="0" bIns="0" rtlCol="0" anchor="t"/>
          <a:lstStyle/>
          <a:p>
            <a:pPr algn="l" indent="0" marL="0">
              <a:lnSpc>
                <a:spcPts val="9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Una IA sostenible combina eficiencia económica, equidad social y respeto medioambiental. Las organizaciones que integran estos tres ejes en su estrategia construyen ventaja a largo plazo y legitimidad social.</a:t>
            </a:r>
            <a:endParaRPr lang="en-US" sz="750" dirty="0"/>
          </a:p>
        </p:txBody>
      </p:sp>
      <p:sp>
        <p:nvSpPr>
          <p:cNvPr id="51" name="Shape 48"/>
          <p:cNvSpPr/>
          <p:nvPr/>
        </p:nvSpPr>
        <p:spPr>
          <a:xfrm>
            <a:off x="3402449" y="6769656"/>
            <a:ext cx="7825502" cy="406360"/>
          </a:xfrm>
          <a:prstGeom prst="roundRect">
            <a:avLst>
              <a:gd name="adj" fmla="val 21979"/>
            </a:avLst>
          </a:prstGeom>
          <a:solidFill>
            <a:srgbClr val="B5DAFC"/>
          </a:solidFill>
          <a:ln/>
        </p:spPr>
      </p:sp>
      <p:pic>
        <p:nvPicPr>
          <p:cNvPr id="52" name="Image 1" descr="preencoded.png">    </p:cNvPr>
          <p:cNvPicPr>
            <a:picLocks noChangeAspect="1"/>
          </p:cNvPicPr>
          <p:nvPr/>
        </p:nvPicPr>
        <p:blipFill>
          <a:blip r:embed="rId3"/>
          <a:stretch>
            <a:fillRect/>
          </a:stretch>
        </p:blipFill>
        <p:spPr>
          <a:xfrm>
            <a:off x="3501628" y="6898243"/>
            <a:ext cx="123944" cy="99179"/>
          </a:xfrm>
          <a:prstGeom prst="rect">
            <a:avLst/>
          </a:prstGeom>
        </p:spPr>
      </p:pic>
      <p:sp>
        <p:nvSpPr>
          <p:cNvPr id="53" name="Text 49"/>
          <p:cNvSpPr/>
          <p:nvPr/>
        </p:nvSpPr>
        <p:spPr>
          <a:xfrm>
            <a:off x="3724751" y="6843951"/>
            <a:ext cx="7404021" cy="237887"/>
          </a:xfrm>
          <a:prstGeom prst="rect">
            <a:avLst/>
          </a:prstGeom>
          <a:noFill/>
          <a:ln/>
        </p:spPr>
        <p:txBody>
          <a:bodyPr wrap="square" lIns="0" tIns="0" rIns="0" bIns="0" rtlCol="0" anchor="t"/>
          <a:lstStyle/>
          <a:p>
            <a:pPr algn="l" indent="0" marL="0">
              <a:lnSpc>
                <a:spcPts val="900"/>
              </a:lnSpc>
              <a:buNone/>
            </a:pPr>
            <a:r>
              <a:rPr lang="en-US" sz="750" dirty="0">
                <a:solidFill>
                  <a:srgbClr val="000000"/>
                </a:solidFill>
                <a:latin typeface="Instrument Sans Medium" pitchFamily="34" charset="0"/>
                <a:ea typeface="Instrument Sans Medium" pitchFamily="34" charset="-122"/>
                <a:cs typeface="Instrument Sans Medium" pitchFamily="34" charset="-120"/>
              </a:rPr>
              <a:t>💡</a:t>
            </a:r>
            <a:pPr algn="l" indent="0" marL="0">
              <a:lnSpc>
                <a:spcPts val="900"/>
              </a:lnSpc>
              <a:buNone/>
            </a:pPr>
            <a:r>
              <a:rPr lang="en-US" sz="750" dirty="0">
                <a:solidFill>
                  <a:srgbClr val="000000"/>
                </a:solidFill>
                <a:latin typeface="Instrument Sans Medium" pitchFamily="34" charset="0"/>
                <a:ea typeface="Instrument Sans Medium" pitchFamily="34" charset="-122"/>
                <a:cs typeface="Instrument Sans Medium" pitchFamily="34" charset="-120"/>
              </a:rPr>
              <a:t> </a:t>
            </a:r>
            <a:pPr algn="l" indent="0" marL="0">
              <a:lnSpc>
                <a:spcPts val="900"/>
              </a:lnSpc>
              <a:buNone/>
            </a:pPr>
            <a:r>
              <a:rPr lang="en-US" sz="750" b="1" dirty="0">
                <a:solidFill>
                  <a:srgbClr val="000000"/>
                </a:solidFill>
                <a:latin typeface="Instrument Sans Medium" pitchFamily="34" charset="0"/>
                <a:ea typeface="Instrument Sans Medium" pitchFamily="34" charset="-122"/>
                <a:cs typeface="Instrument Sans Medium" pitchFamily="34" charset="-120"/>
              </a:rPr>
              <a:t>Reflexión clave:</a:t>
            </a:r>
            <a:pPr algn="l" indent="0" marL="0">
              <a:lnSpc>
                <a:spcPts val="900"/>
              </a:lnSpc>
              <a:buNone/>
            </a:pPr>
            <a:r>
              <a:rPr lang="en-US" sz="750" dirty="0">
                <a:solidFill>
                  <a:srgbClr val="000000"/>
                </a:solidFill>
                <a:latin typeface="Instrument Sans Medium" pitchFamily="34" charset="0"/>
                <a:ea typeface="Instrument Sans Medium" pitchFamily="34" charset="-122"/>
                <a:cs typeface="Instrument Sans Medium" pitchFamily="34" charset="-120"/>
              </a:rPr>
              <a:t> No existe una única respuesta correcta sobre el impacto de la IA. Lo que distingue al profesional preparado no es tener la posición "correcta", sino </a:t>
            </a:r>
            <a:pPr algn="l" indent="0" marL="0">
              <a:lnSpc>
                <a:spcPts val="900"/>
              </a:lnSpc>
              <a:buNone/>
            </a:pPr>
            <a:r>
              <a:rPr lang="en-US" sz="750" b="1" dirty="0">
                <a:solidFill>
                  <a:srgbClr val="000000"/>
                </a:solidFill>
                <a:latin typeface="Instrument Sans Medium" pitchFamily="34" charset="0"/>
                <a:ea typeface="Instrument Sans Medium" pitchFamily="34" charset="-122"/>
                <a:cs typeface="Instrument Sans Medium" pitchFamily="34" charset="-120"/>
              </a:rPr>
              <a:t>saber argumentarla con evidencia, escuchar perspectivas contrarias y proponer soluciones concretas y viables</a:t>
            </a:r>
            <a:pPr algn="l" indent="0" marL="0">
              <a:lnSpc>
                <a:spcPts val="900"/>
              </a:lnSpc>
              <a:buNone/>
            </a:pPr>
            <a:r>
              <a:rPr lang="en-US" sz="750" dirty="0">
                <a:solidFill>
                  <a:srgbClr val="000000"/>
                </a:solidFill>
                <a:latin typeface="Instrument Sans Medium" pitchFamily="34" charset="0"/>
                <a:ea typeface="Instrument Sans Medium" pitchFamily="34" charset="-122"/>
                <a:cs typeface="Instrument Sans Medium" pitchFamily="34" charset="-120"/>
              </a:rPr>
              <a:t> en su propio entorno.</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721638" y="630555"/>
            <a:ext cx="2386965" cy="328493"/>
          </a:xfrm>
          <a:prstGeom prst="roundRect">
            <a:avLst>
              <a:gd name="adj" fmla="val 39547"/>
            </a:avLst>
          </a:prstGeom>
          <a:solidFill>
            <a:srgbClr val="CEE6FD"/>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29866" y="722590"/>
            <a:ext cx="144304" cy="144304"/>
          </a:xfrm>
          <a:prstGeom prst="rect">
            <a:avLst/>
          </a:prstGeom>
        </p:spPr>
      </p:pic>
      <p:sp>
        <p:nvSpPr>
          <p:cNvPr id="4" name="Text 1"/>
          <p:cNvSpPr/>
          <p:nvPr/>
        </p:nvSpPr>
        <p:spPr>
          <a:xfrm>
            <a:off x="1046321" y="684609"/>
            <a:ext cx="1954054" cy="220385"/>
          </a:xfrm>
          <a:prstGeom prst="rect">
            <a:avLst/>
          </a:prstGeom>
          <a:noFill/>
          <a:ln/>
        </p:spPr>
        <p:txBody>
          <a:bodyPr wrap="none" lIns="0" tIns="0" rIns="0" bIns="0" rtlCol="0" anchor="t"/>
          <a:lstStyle/>
          <a:p>
            <a:pPr algn="l" indent="0" marL="0">
              <a:lnSpc>
                <a:spcPts val="1700"/>
              </a:lnSpc>
              <a:buNone/>
            </a:pPr>
            <a:r>
              <a:rPr lang="en-US" sz="1100" dirty="0">
                <a:solidFill>
                  <a:srgbClr val="1E3063"/>
                </a:solidFill>
                <a:latin typeface="Instrument Sans Medium" pitchFamily="34" charset="0"/>
                <a:ea typeface="Instrument Sans Medium" pitchFamily="34" charset="-122"/>
                <a:cs typeface="Instrument Sans Medium" pitchFamily="34" charset="-120"/>
              </a:rPr>
              <a:t>CONTENIDOS DEL MÓDULO</a:t>
            </a:r>
            <a:endParaRPr lang="en-US" sz="1100" dirty="0"/>
          </a:p>
        </p:txBody>
      </p:sp>
      <p:sp>
        <p:nvSpPr>
          <p:cNvPr id="5" name="Text 2"/>
          <p:cNvSpPr/>
          <p:nvPr/>
        </p:nvSpPr>
        <p:spPr>
          <a:xfrm>
            <a:off x="721638" y="1024652"/>
            <a:ext cx="9517261" cy="563880"/>
          </a:xfrm>
          <a:prstGeom prst="rect">
            <a:avLst/>
          </a:prstGeom>
          <a:noFill/>
          <a:ln/>
        </p:spPr>
        <p:txBody>
          <a:bodyPr wrap="none" lIns="0" tIns="0" rIns="0" bIns="0" rtlCol="0" anchor="t"/>
          <a:lstStyle/>
          <a:p>
            <a:pPr algn="l" indent="0" marL="0">
              <a:lnSpc>
                <a:spcPts val="4400"/>
              </a:lnSpc>
              <a:buNone/>
            </a:pPr>
            <a:r>
              <a:rPr lang="en-US" sz="3550" dirty="0">
                <a:solidFill>
                  <a:srgbClr val="091C53"/>
                </a:solidFill>
                <a:latin typeface="Instrument Sans Semi Bold" pitchFamily="34" charset="0"/>
                <a:ea typeface="Instrument Sans Semi Bold" pitchFamily="34" charset="-122"/>
                <a:cs typeface="Instrument Sans Semi Bold" pitchFamily="34" charset="-120"/>
              </a:rPr>
              <a:t>Módulo 1: Inteligencia Artificial en la Empresa</a:t>
            </a:r>
            <a:endParaRPr lang="en-US" sz="3550" dirty="0"/>
          </a:p>
        </p:txBody>
      </p:sp>
      <p:sp>
        <p:nvSpPr>
          <p:cNvPr id="6" name="Text 3"/>
          <p:cNvSpPr/>
          <p:nvPr/>
        </p:nvSpPr>
        <p:spPr>
          <a:xfrm>
            <a:off x="721638" y="1834515"/>
            <a:ext cx="13187124" cy="550783"/>
          </a:xfrm>
          <a:prstGeom prst="rect">
            <a:avLst/>
          </a:prstGeom>
          <a:noFill/>
          <a:ln/>
        </p:spPr>
        <p:txBody>
          <a:bodyPr wrap="square" lIns="0" tIns="0" rIns="0" bIns="0" rtlCol="0" anchor="t"/>
          <a:lstStyle/>
          <a:p>
            <a:pPr algn="l" indent="0" marL="0">
              <a:lnSpc>
                <a:spcPts val="2150"/>
              </a:lnSpc>
              <a:buNone/>
            </a:pPr>
            <a:r>
              <a:rPr lang="en-US" sz="1400" dirty="0">
                <a:solidFill>
                  <a:srgbClr val="1E3063"/>
                </a:solidFill>
                <a:latin typeface="Instrument Sans Medium" pitchFamily="34" charset="0"/>
                <a:ea typeface="Instrument Sans Medium" pitchFamily="34" charset="-122"/>
                <a:cs typeface="Instrument Sans Medium" pitchFamily="34" charset="-120"/>
              </a:rPr>
              <a:t>El Módulo 1 proporciona una visión completa de la IA aplicada al entorno empresarial, desde sus fundamentos conceptuales hasta la elaboración de una estrategia propia y el análisis crítico de su impacto socioeconómico.</a:t>
            </a:r>
            <a:endParaRPr lang="en-US" sz="1400" dirty="0"/>
          </a:p>
        </p:txBody>
      </p:sp>
      <p:sp>
        <p:nvSpPr>
          <p:cNvPr id="7" name="Shape 4"/>
          <p:cNvSpPr/>
          <p:nvPr/>
        </p:nvSpPr>
        <p:spPr>
          <a:xfrm>
            <a:off x="721638" y="2569726"/>
            <a:ext cx="6511528" cy="1567101"/>
          </a:xfrm>
          <a:prstGeom prst="roundRect">
            <a:avLst>
              <a:gd name="adj" fmla="val 10362"/>
            </a:avLst>
          </a:prstGeom>
          <a:solidFill>
            <a:srgbClr val="CEE6FD"/>
          </a:solidFill>
          <a:ln/>
        </p:spPr>
      </p:sp>
      <p:sp>
        <p:nvSpPr>
          <p:cNvPr id="8" name="Text 5"/>
          <p:cNvSpPr/>
          <p:nvPr/>
        </p:nvSpPr>
        <p:spPr>
          <a:xfrm>
            <a:off x="902018" y="2750106"/>
            <a:ext cx="2527459" cy="281821"/>
          </a:xfrm>
          <a:prstGeom prst="rect">
            <a:avLst/>
          </a:prstGeom>
          <a:noFill/>
          <a:ln/>
        </p:spPr>
        <p:txBody>
          <a:bodyPr wrap="none" lIns="0" tIns="0" rIns="0" bIns="0" rtlCol="0" anchor="t"/>
          <a:lstStyle/>
          <a:p>
            <a:pPr algn="l" indent="0" marL="0">
              <a:lnSpc>
                <a:spcPts val="2200"/>
              </a:lnSpc>
              <a:buNone/>
            </a:pPr>
            <a:r>
              <a:rPr lang="en-US" sz="1750" dirty="0">
                <a:solidFill>
                  <a:srgbClr val="1E3063"/>
                </a:solidFill>
                <a:latin typeface="Instrument Sans Semi Bold" pitchFamily="34" charset="0"/>
                <a:ea typeface="Instrument Sans Semi Bold" pitchFamily="34" charset="-122"/>
                <a:cs typeface="Instrument Sans Semi Bold" pitchFamily="34" charset="-120"/>
              </a:rPr>
              <a:t>1.1 Fundamentos de la IA</a:t>
            </a:r>
            <a:endParaRPr lang="en-US" sz="1750" dirty="0"/>
          </a:p>
        </p:txBody>
      </p:sp>
      <p:sp>
        <p:nvSpPr>
          <p:cNvPr id="9" name="Text 6"/>
          <p:cNvSpPr/>
          <p:nvPr/>
        </p:nvSpPr>
        <p:spPr>
          <a:xfrm>
            <a:off x="902018" y="3130272"/>
            <a:ext cx="6150769" cy="826175"/>
          </a:xfrm>
          <a:prstGeom prst="rect">
            <a:avLst/>
          </a:prstGeom>
          <a:noFill/>
          <a:ln/>
        </p:spPr>
        <p:txBody>
          <a:bodyPr wrap="square" lIns="0" tIns="0" rIns="0" bIns="0" rtlCol="0" anchor="t"/>
          <a:lstStyle/>
          <a:p>
            <a:pPr algn="l" indent="0" marL="0">
              <a:lnSpc>
                <a:spcPts val="2150"/>
              </a:lnSpc>
              <a:buNone/>
            </a:pPr>
            <a:r>
              <a:rPr lang="en-US" sz="1400" dirty="0">
                <a:solidFill>
                  <a:srgbClr val="1E3063"/>
                </a:solidFill>
                <a:latin typeface="Instrument Sans Medium" pitchFamily="34" charset="0"/>
                <a:ea typeface="Instrument Sans Medium" pitchFamily="34" charset="-122"/>
                <a:cs typeface="Instrument Sans Medium" pitchFamily="34" charset="-120"/>
              </a:rPr>
              <a:t>Qué es la IA, cómo funciona y cuáles son sus principales tecnologías: machine learning, deep learning, procesamiento del lenguaje natural y visión por computador.</a:t>
            </a:r>
            <a:endParaRPr lang="en-US" sz="1400" dirty="0"/>
          </a:p>
        </p:txBody>
      </p:sp>
      <p:sp>
        <p:nvSpPr>
          <p:cNvPr id="10" name="Shape 7"/>
          <p:cNvSpPr/>
          <p:nvPr/>
        </p:nvSpPr>
        <p:spPr>
          <a:xfrm>
            <a:off x="7397115" y="2569726"/>
            <a:ext cx="6511647" cy="1567101"/>
          </a:xfrm>
          <a:prstGeom prst="roundRect">
            <a:avLst>
              <a:gd name="adj" fmla="val 10362"/>
            </a:avLst>
          </a:prstGeom>
          <a:solidFill>
            <a:srgbClr val="CEE6FD"/>
          </a:solidFill>
          <a:ln/>
        </p:spPr>
      </p:sp>
      <p:sp>
        <p:nvSpPr>
          <p:cNvPr id="11" name="Text 8"/>
          <p:cNvSpPr/>
          <p:nvPr/>
        </p:nvSpPr>
        <p:spPr>
          <a:xfrm>
            <a:off x="7577495" y="2750106"/>
            <a:ext cx="4201478" cy="281821"/>
          </a:xfrm>
          <a:prstGeom prst="rect">
            <a:avLst/>
          </a:prstGeom>
          <a:noFill/>
          <a:ln/>
        </p:spPr>
        <p:txBody>
          <a:bodyPr wrap="none" lIns="0" tIns="0" rIns="0" bIns="0" rtlCol="0" anchor="t"/>
          <a:lstStyle/>
          <a:p>
            <a:pPr algn="l" indent="0" marL="0">
              <a:lnSpc>
                <a:spcPts val="2200"/>
              </a:lnSpc>
              <a:buNone/>
            </a:pPr>
            <a:r>
              <a:rPr lang="en-US" sz="1750" dirty="0">
                <a:solidFill>
                  <a:srgbClr val="1E3063"/>
                </a:solidFill>
                <a:latin typeface="Instrument Sans Semi Bold" pitchFamily="34" charset="0"/>
                <a:ea typeface="Instrument Sans Semi Bold" pitchFamily="34" charset="-122"/>
                <a:cs typeface="Instrument Sans Semi Bold" pitchFamily="34" charset="-120"/>
              </a:rPr>
              <a:t>1.2 Evolución y Tendencias Tecnológicas</a:t>
            </a:r>
            <a:endParaRPr lang="en-US" sz="1750" dirty="0"/>
          </a:p>
        </p:txBody>
      </p:sp>
      <p:sp>
        <p:nvSpPr>
          <p:cNvPr id="12" name="Text 9"/>
          <p:cNvSpPr/>
          <p:nvPr/>
        </p:nvSpPr>
        <p:spPr>
          <a:xfrm>
            <a:off x="7577495" y="3130272"/>
            <a:ext cx="6150888" cy="826175"/>
          </a:xfrm>
          <a:prstGeom prst="rect">
            <a:avLst/>
          </a:prstGeom>
          <a:noFill/>
          <a:ln/>
        </p:spPr>
        <p:txBody>
          <a:bodyPr wrap="square" lIns="0" tIns="0" rIns="0" bIns="0" rtlCol="0" anchor="t"/>
          <a:lstStyle/>
          <a:p>
            <a:pPr algn="l" indent="0" marL="0">
              <a:lnSpc>
                <a:spcPts val="2150"/>
              </a:lnSpc>
              <a:buNone/>
            </a:pPr>
            <a:r>
              <a:rPr lang="en-US" sz="1400" dirty="0">
                <a:solidFill>
                  <a:srgbClr val="1E3063"/>
                </a:solidFill>
                <a:latin typeface="Instrument Sans Medium" pitchFamily="34" charset="0"/>
                <a:ea typeface="Instrument Sans Medium" pitchFamily="34" charset="-122"/>
                <a:cs typeface="Instrument Sans Medium" pitchFamily="34" charset="-120"/>
              </a:rPr>
              <a:t>Recorrido histórico de la IA y análisis de las tendencias actuales: IA generativa, modelos fundacionales, automatización y el horizonte tecnológico próximo.</a:t>
            </a:r>
            <a:endParaRPr lang="en-US" sz="1400" dirty="0"/>
          </a:p>
        </p:txBody>
      </p:sp>
      <p:sp>
        <p:nvSpPr>
          <p:cNvPr id="13" name="Shape 10"/>
          <p:cNvSpPr/>
          <p:nvPr/>
        </p:nvSpPr>
        <p:spPr>
          <a:xfrm>
            <a:off x="721638" y="4300776"/>
            <a:ext cx="6511528" cy="1567101"/>
          </a:xfrm>
          <a:prstGeom prst="roundRect">
            <a:avLst>
              <a:gd name="adj" fmla="val 10362"/>
            </a:avLst>
          </a:prstGeom>
          <a:solidFill>
            <a:srgbClr val="CEE6FD"/>
          </a:solidFill>
          <a:ln/>
        </p:spPr>
      </p:sp>
      <p:sp>
        <p:nvSpPr>
          <p:cNvPr id="14" name="Text 11"/>
          <p:cNvSpPr/>
          <p:nvPr/>
        </p:nvSpPr>
        <p:spPr>
          <a:xfrm>
            <a:off x="902018" y="4481155"/>
            <a:ext cx="2715101" cy="281821"/>
          </a:xfrm>
          <a:prstGeom prst="rect">
            <a:avLst/>
          </a:prstGeom>
          <a:noFill/>
          <a:ln/>
        </p:spPr>
        <p:txBody>
          <a:bodyPr wrap="none" lIns="0" tIns="0" rIns="0" bIns="0" rtlCol="0" anchor="t"/>
          <a:lstStyle/>
          <a:p>
            <a:pPr algn="l" indent="0" marL="0">
              <a:lnSpc>
                <a:spcPts val="2200"/>
              </a:lnSpc>
              <a:buNone/>
            </a:pPr>
            <a:r>
              <a:rPr lang="en-US" sz="1750" dirty="0">
                <a:solidFill>
                  <a:srgbClr val="1E3063"/>
                </a:solidFill>
                <a:latin typeface="Instrument Sans Semi Bold" pitchFamily="34" charset="0"/>
                <a:ea typeface="Instrument Sans Semi Bold" pitchFamily="34" charset="-122"/>
                <a:cs typeface="Instrument Sans Semi Bold" pitchFamily="34" charset="-120"/>
              </a:rPr>
              <a:t>1.3 Impacto en la Empresa</a:t>
            </a:r>
            <a:endParaRPr lang="en-US" sz="1750" dirty="0"/>
          </a:p>
        </p:txBody>
      </p:sp>
      <p:sp>
        <p:nvSpPr>
          <p:cNvPr id="15" name="Text 12"/>
          <p:cNvSpPr/>
          <p:nvPr/>
        </p:nvSpPr>
        <p:spPr>
          <a:xfrm>
            <a:off x="902018" y="4861322"/>
            <a:ext cx="6150769" cy="550783"/>
          </a:xfrm>
          <a:prstGeom prst="rect">
            <a:avLst/>
          </a:prstGeom>
          <a:noFill/>
          <a:ln/>
        </p:spPr>
        <p:txBody>
          <a:bodyPr wrap="square" lIns="0" tIns="0" rIns="0" bIns="0" rtlCol="0" anchor="t"/>
          <a:lstStyle/>
          <a:p>
            <a:pPr algn="l" indent="0" marL="0">
              <a:lnSpc>
                <a:spcPts val="2150"/>
              </a:lnSpc>
              <a:buNone/>
            </a:pPr>
            <a:r>
              <a:rPr lang="en-US" sz="1400" dirty="0">
                <a:solidFill>
                  <a:srgbClr val="1E3063"/>
                </a:solidFill>
                <a:latin typeface="Instrument Sans Medium" pitchFamily="34" charset="0"/>
                <a:ea typeface="Instrument Sans Medium" pitchFamily="34" charset="-122"/>
                <a:cs typeface="Instrument Sans Medium" pitchFamily="34" charset="-120"/>
              </a:rPr>
              <a:t>Cómo transforma la IA los procesos, modelos de negocio, la toma de decisiones y la competitividad en distintos sectores e industrias.</a:t>
            </a:r>
            <a:endParaRPr lang="en-US" sz="1400" dirty="0"/>
          </a:p>
        </p:txBody>
      </p:sp>
      <p:sp>
        <p:nvSpPr>
          <p:cNvPr id="16" name="Shape 13"/>
          <p:cNvSpPr/>
          <p:nvPr/>
        </p:nvSpPr>
        <p:spPr>
          <a:xfrm>
            <a:off x="7397115" y="4300776"/>
            <a:ext cx="6511647" cy="1567101"/>
          </a:xfrm>
          <a:prstGeom prst="roundRect">
            <a:avLst>
              <a:gd name="adj" fmla="val 10362"/>
            </a:avLst>
          </a:prstGeom>
          <a:solidFill>
            <a:srgbClr val="CEE6FD"/>
          </a:solidFill>
          <a:ln/>
        </p:spPr>
      </p:sp>
      <p:sp>
        <p:nvSpPr>
          <p:cNvPr id="17" name="Text 14"/>
          <p:cNvSpPr/>
          <p:nvPr/>
        </p:nvSpPr>
        <p:spPr>
          <a:xfrm>
            <a:off x="7577495" y="4481155"/>
            <a:ext cx="2907744" cy="281821"/>
          </a:xfrm>
          <a:prstGeom prst="rect">
            <a:avLst/>
          </a:prstGeom>
          <a:noFill/>
          <a:ln/>
        </p:spPr>
        <p:txBody>
          <a:bodyPr wrap="none" lIns="0" tIns="0" rIns="0" bIns="0" rtlCol="0" anchor="t"/>
          <a:lstStyle/>
          <a:p>
            <a:pPr algn="l" indent="0" marL="0">
              <a:lnSpc>
                <a:spcPts val="2200"/>
              </a:lnSpc>
              <a:buNone/>
            </a:pPr>
            <a:r>
              <a:rPr lang="en-US" sz="1750" dirty="0">
                <a:solidFill>
                  <a:srgbClr val="1E3063"/>
                </a:solidFill>
                <a:latin typeface="Instrument Sans Semi Bold" pitchFamily="34" charset="0"/>
                <a:ea typeface="Instrument Sans Semi Bold" pitchFamily="34" charset="-122"/>
                <a:cs typeface="Instrument Sans Semi Bold" pitchFamily="34" charset="-120"/>
              </a:rPr>
              <a:t>1.4 Casos de Éxito y Fracaso</a:t>
            </a:r>
            <a:endParaRPr lang="en-US" sz="1750" dirty="0"/>
          </a:p>
        </p:txBody>
      </p:sp>
      <p:sp>
        <p:nvSpPr>
          <p:cNvPr id="18" name="Text 15"/>
          <p:cNvSpPr/>
          <p:nvPr/>
        </p:nvSpPr>
        <p:spPr>
          <a:xfrm>
            <a:off x="7577495" y="4861322"/>
            <a:ext cx="6150888" cy="826175"/>
          </a:xfrm>
          <a:prstGeom prst="rect">
            <a:avLst/>
          </a:prstGeom>
          <a:noFill/>
          <a:ln/>
        </p:spPr>
        <p:txBody>
          <a:bodyPr wrap="square" lIns="0" tIns="0" rIns="0" bIns="0" rtlCol="0" anchor="t"/>
          <a:lstStyle/>
          <a:p>
            <a:pPr algn="l" indent="0" marL="0">
              <a:lnSpc>
                <a:spcPts val="2150"/>
              </a:lnSpc>
              <a:buNone/>
            </a:pPr>
            <a:r>
              <a:rPr lang="en-US" sz="1400" dirty="0">
                <a:solidFill>
                  <a:srgbClr val="1E3063"/>
                </a:solidFill>
                <a:latin typeface="Instrument Sans Medium" pitchFamily="34" charset="0"/>
                <a:ea typeface="Instrument Sans Medium" pitchFamily="34" charset="-122"/>
                <a:cs typeface="Instrument Sans Medium" pitchFamily="34" charset="-120"/>
              </a:rPr>
              <a:t>Análisis de implementaciones reales: qué factores determinan el éxito, qué errores evitar y qué lecciones extraer de proyectos de IA en empresas reales.</a:t>
            </a:r>
            <a:endParaRPr lang="en-US" sz="1400" dirty="0"/>
          </a:p>
        </p:txBody>
      </p:sp>
      <p:sp>
        <p:nvSpPr>
          <p:cNvPr id="19" name="Shape 16"/>
          <p:cNvSpPr/>
          <p:nvPr/>
        </p:nvSpPr>
        <p:spPr>
          <a:xfrm>
            <a:off x="721638" y="6031825"/>
            <a:ext cx="6511528" cy="1567101"/>
          </a:xfrm>
          <a:prstGeom prst="roundRect">
            <a:avLst>
              <a:gd name="adj" fmla="val 10362"/>
            </a:avLst>
          </a:prstGeom>
          <a:solidFill>
            <a:srgbClr val="CEE6FD"/>
          </a:solidFill>
          <a:ln/>
        </p:spPr>
      </p:sp>
      <p:sp>
        <p:nvSpPr>
          <p:cNvPr id="20" name="Text 17"/>
          <p:cNvSpPr/>
          <p:nvPr/>
        </p:nvSpPr>
        <p:spPr>
          <a:xfrm>
            <a:off x="902018" y="6212205"/>
            <a:ext cx="2927152" cy="281821"/>
          </a:xfrm>
          <a:prstGeom prst="rect">
            <a:avLst/>
          </a:prstGeom>
          <a:noFill/>
          <a:ln/>
        </p:spPr>
        <p:txBody>
          <a:bodyPr wrap="none" lIns="0" tIns="0" rIns="0" bIns="0" rtlCol="0" anchor="t"/>
          <a:lstStyle/>
          <a:p>
            <a:pPr algn="l" indent="0" marL="0">
              <a:lnSpc>
                <a:spcPts val="2200"/>
              </a:lnSpc>
              <a:buNone/>
            </a:pPr>
            <a:r>
              <a:rPr lang="en-US" sz="1750" dirty="0">
                <a:solidFill>
                  <a:srgbClr val="1E3063"/>
                </a:solidFill>
                <a:latin typeface="Instrument Sans Semi Bold" pitchFamily="34" charset="0"/>
                <a:ea typeface="Instrument Sans Semi Bold" pitchFamily="34" charset="-122"/>
                <a:cs typeface="Instrument Sans Semi Bold" pitchFamily="34" charset="-120"/>
              </a:rPr>
              <a:t>1.5 Estrategia y Hoja de Ruta</a:t>
            </a:r>
            <a:endParaRPr lang="en-US" sz="1750" dirty="0"/>
          </a:p>
        </p:txBody>
      </p:sp>
      <p:sp>
        <p:nvSpPr>
          <p:cNvPr id="21" name="Text 18"/>
          <p:cNvSpPr/>
          <p:nvPr/>
        </p:nvSpPr>
        <p:spPr>
          <a:xfrm>
            <a:off x="902018" y="6592372"/>
            <a:ext cx="6150769" cy="826175"/>
          </a:xfrm>
          <a:prstGeom prst="rect">
            <a:avLst/>
          </a:prstGeom>
          <a:noFill/>
          <a:ln/>
        </p:spPr>
        <p:txBody>
          <a:bodyPr wrap="square" lIns="0" tIns="0" rIns="0" bIns="0" rtlCol="0" anchor="t"/>
          <a:lstStyle/>
          <a:p>
            <a:pPr algn="l" indent="0" marL="0">
              <a:lnSpc>
                <a:spcPts val="2150"/>
              </a:lnSpc>
              <a:buNone/>
            </a:pPr>
            <a:r>
              <a:rPr lang="en-US" sz="1400" dirty="0">
                <a:solidFill>
                  <a:srgbClr val="1E3063"/>
                </a:solidFill>
                <a:latin typeface="Instrument Sans Medium" pitchFamily="34" charset="0"/>
                <a:ea typeface="Instrument Sans Medium" pitchFamily="34" charset="-122"/>
                <a:cs typeface="Instrument Sans Medium" pitchFamily="34" charset="-120"/>
              </a:rPr>
              <a:t>Cómo diseñar una estrategia de adopción de IA: diagnóstico, priorización de casos de uso, gestión del cambio y definición de una hoja de ruta realista.</a:t>
            </a:r>
            <a:endParaRPr lang="en-US" sz="1400" dirty="0"/>
          </a:p>
        </p:txBody>
      </p:sp>
      <p:sp>
        <p:nvSpPr>
          <p:cNvPr id="22" name="Shape 19"/>
          <p:cNvSpPr/>
          <p:nvPr/>
        </p:nvSpPr>
        <p:spPr>
          <a:xfrm>
            <a:off x="7397115" y="6031825"/>
            <a:ext cx="6511647" cy="1567101"/>
          </a:xfrm>
          <a:prstGeom prst="roundRect">
            <a:avLst>
              <a:gd name="adj" fmla="val 10362"/>
            </a:avLst>
          </a:prstGeom>
          <a:solidFill>
            <a:srgbClr val="CEE6FD"/>
          </a:solidFill>
          <a:ln/>
        </p:spPr>
      </p:sp>
      <p:sp>
        <p:nvSpPr>
          <p:cNvPr id="23" name="Text 20"/>
          <p:cNvSpPr/>
          <p:nvPr/>
        </p:nvSpPr>
        <p:spPr>
          <a:xfrm>
            <a:off x="7577495" y="6212205"/>
            <a:ext cx="2910483" cy="281821"/>
          </a:xfrm>
          <a:prstGeom prst="rect">
            <a:avLst/>
          </a:prstGeom>
          <a:noFill/>
          <a:ln/>
        </p:spPr>
        <p:txBody>
          <a:bodyPr wrap="none" lIns="0" tIns="0" rIns="0" bIns="0" rtlCol="0" anchor="t"/>
          <a:lstStyle/>
          <a:p>
            <a:pPr algn="l" indent="0" marL="0">
              <a:lnSpc>
                <a:spcPts val="2200"/>
              </a:lnSpc>
              <a:buNone/>
            </a:pPr>
            <a:r>
              <a:rPr lang="en-US" sz="1750" dirty="0">
                <a:solidFill>
                  <a:srgbClr val="1E3063"/>
                </a:solidFill>
                <a:latin typeface="Instrument Sans Semi Bold" pitchFamily="34" charset="0"/>
                <a:ea typeface="Instrument Sans Semi Bold" pitchFamily="34" charset="-122"/>
                <a:cs typeface="Instrument Sans Semi Bold" pitchFamily="34" charset="-120"/>
              </a:rPr>
              <a:t>1.6 Debate Socioeconómico</a:t>
            </a:r>
            <a:endParaRPr lang="en-US" sz="1750" dirty="0"/>
          </a:p>
        </p:txBody>
      </p:sp>
      <p:sp>
        <p:nvSpPr>
          <p:cNvPr id="24" name="Text 21"/>
          <p:cNvSpPr/>
          <p:nvPr/>
        </p:nvSpPr>
        <p:spPr>
          <a:xfrm>
            <a:off x="7577495" y="6592372"/>
            <a:ext cx="6150888" cy="550783"/>
          </a:xfrm>
          <a:prstGeom prst="rect">
            <a:avLst/>
          </a:prstGeom>
          <a:noFill/>
          <a:ln/>
        </p:spPr>
        <p:txBody>
          <a:bodyPr wrap="square" lIns="0" tIns="0" rIns="0" bIns="0" rtlCol="0" anchor="t"/>
          <a:lstStyle/>
          <a:p>
            <a:pPr algn="l" indent="0" marL="0">
              <a:lnSpc>
                <a:spcPts val="2150"/>
              </a:lnSpc>
              <a:buNone/>
            </a:pPr>
            <a:r>
              <a:rPr lang="en-US" sz="1400" dirty="0">
                <a:solidFill>
                  <a:srgbClr val="1E3063"/>
                </a:solidFill>
                <a:latin typeface="Instrument Sans Medium" pitchFamily="34" charset="0"/>
                <a:ea typeface="Instrument Sans Medium" pitchFamily="34" charset="-122"/>
                <a:cs typeface="Instrument Sans Medium" pitchFamily="34" charset="-120"/>
              </a:rPr>
              <a:t>Reflexión crítica sobre el impacto de la IA en el empleo, la productividad, la ética empresarial y la regulación, integrando múltiples perspectivas.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2296716" y="350758"/>
            <a:ext cx="1987391" cy="209788"/>
          </a:xfrm>
          <a:prstGeom prst="roundRect">
            <a:avLst>
              <a:gd name="adj" fmla="val 43683"/>
            </a:avLst>
          </a:prstGeom>
          <a:solidFill>
            <a:srgbClr val="CEE6FD"/>
          </a:solidFill>
          <a:ln/>
        </p:spPr>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2373035" y="404693"/>
            <a:ext cx="101798" cy="101798"/>
          </a:xfrm>
          <a:prstGeom prst="rect">
            <a:avLst/>
          </a:prstGeom>
        </p:spPr>
      </p:pic>
      <p:sp>
        <p:nvSpPr>
          <p:cNvPr id="4" name="Text 1"/>
          <p:cNvSpPr/>
          <p:nvPr/>
        </p:nvSpPr>
        <p:spPr>
          <a:xfrm>
            <a:off x="2525673" y="388858"/>
            <a:ext cx="1682115" cy="133588"/>
          </a:xfrm>
          <a:prstGeom prst="rect">
            <a:avLst/>
          </a:prstGeom>
          <a:noFill/>
          <a:ln/>
        </p:spPr>
        <p:txBody>
          <a:bodyPr wrap="none" lIns="0" tIns="0" rIns="0" bIns="0" rtlCol="0" anchor="t"/>
          <a:lstStyle/>
          <a:p>
            <a:pPr algn="l" indent="0" marL="0">
              <a:lnSpc>
                <a:spcPts val="1050"/>
              </a:lnSpc>
              <a:buNone/>
            </a:pPr>
            <a:r>
              <a:rPr lang="en-US" sz="800" dirty="0">
                <a:solidFill>
                  <a:srgbClr val="1E3063"/>
                </a:solidFill>
                <a:latin typeface="Instrument Sans Medium" pitchFamily="34" charset="0"/>
                <a:ea typeface="Instrument Sans Medium" pitchFamily="34" charset="-122"/>
                <a:cs typeface="Instrument Sans Medium" pitchFamily="34" charset="-120"/>
              </a:rPr>
              <a:t>CONCLUSIÓN Y PRÓXIMOS PASOS</a:t>
            </a:r>
            <a:endParaRPr lang="en-US" sz="800" dirty="0"/>
          </a:p>
        </p:txBody>
      </p:sp>
      <p:sp>
        <p:nvSpPr>
          <p:cNvPr id="5" name="Text 2"/>
          <p:cNvSpPr/>
          <p:nvPr/>
        </p:nvSpPr>
        <p:spPr>
          <a:xfrm>
            <a:off x="2296716" y="593169"/>
            <a:ext cx="4356973" cy="397788"/>
          </a:xfrm>
          <a:prstGeom prst="rect">
            <a:avLst/>
          </a:prstGeom>
          <a:noFill/>
          <a:ln/>
        </p:spPr>
        <p:txBody>
          <a:bodyPr wrap="none" lIns="0" tIns="0" rIns="0" bIns="0" rtlCol="0" anchor="t"/>
          <a:lstStyle/>
          <a:p>
            <a:pPr algn="l" indent="0" marL="0">
              <a:lnSpc>
                <a:spcPts val="3100"/>
              </a:lnSpc>
              <a:buNone/>
            </a:pPr>
            <a:r>
              <a:rPr lang="en-US" sz="2500" dirty="0">
                <a:solidFill>
                  <a:srgbClr val="091C53"/>
                </a:solidFill>
                <a:latin typeface="Instrument Sans Semi Bold" pitchFamily="34" charset="0"/>
                <a:ea typeface="Instrument Sans Semi Bold" pitchFamily="34" charset="-122"/>
                <a:cs typeface="Instrument Sans Semi Bold" pitchFamily="34" charset="-120"/>
              </a:rPr>
              <a:t>Del Conocimiento a la Acción</a:t>
            </a:r>
            <a:endParaRPr lang="en-US" sz="2500" dirty="0"/>
          </a:p>
        </p:txBody>
      </p:sp>
      <p:sp>
        <p:nvSpPr>
          <p:cNvPr id="6" name="Text 3"/>
          <p:cNvSpPr/>
          <p:nvPr/>
        </p:nvSpPr>
        <p:spPr>
          <a:xfrm>
            <a:off x="2296716" y="1113353"/>
            <a:ext cx="10036850" cy="417671"/>
          </a:xfrm>
          <a:prstGeom prst="rect">
            <a:avLst/>
          </a:prstGeom>
          <a:noFill/>
          <a:ln/>
        </p:spPr>
        <p:txBody>
          <a:bodyPr wrap="square" lIns="0" tIns="0" rIns="0" bIns="0" rtlCol="0" anchor="t"/>
          <a:lstStyle/>
          <a:p>
            <a:pPr algn="l" indent="0" marL="0">
              <a:lnSpc>
                <a:spcPts val="1600"/>
              </a:lnSpc>
              <a:buNone/>
            </a:pPr>
            <a:r>
              <a:rPr lang="en-US" sz="1250" dirty="0">
                <a:solidFill>
                  <a:srgbClr val="1E3063"/>
                </a:solidFill>
                <a:latin typeface="Instrument Sans Medium" pitchFamily="34" charset="0"/>
                <a:ea typeface="Instrument Sans Medium" pitchFamily="34" charset="-122"/>
                <a:cs typeface="Instrument Sans Medium" pitchFamily="34" charset="-120"/>
              </a:rPr>
              <a:t>Al completar el Módulo 1, el alumnado habrá construido una base integral para abordar la IA en el entorno empresarial con criterio, realismo y visión estratégica.</a:t>
            </a:r>
            <a:endParaRPr lang="en-US" sz="1250" dirty="0"/>
          </a:p>
        </p:txBody>
      </p:sp>
      <p:pic>
        <p:nvPicPr>
          <p:cNvPr id="7" name="Image 1" descr="preencoded.png">    </p:cNvPr>
          <p:cNvPicPr>
            <a:picLocks noChangeAspect="1"/>
          </p:cNvPicPr>
          <p:nvPr/>
        </p:nvPicPr>
        <p:blipFill>
          <a:blip r:embed="rId3"/>
          <a:stretch>
            <a:fillRect/>
          </a:stretch>
        </p:blipFill>
        <p:spPr>
          <a:xfrm>
            <a:off x="2471738" y="1622822"/>
            <a:ext cx="9686687" cy="4734878"/>
          </a:xfrm>
          <a:prstGeom prst="rect">
            <a:avLst/>
          </a:prstGeom>
        </p:spPr>
      </p:pic>
      <p:pic>
        <p:nvPicPr>
          <p:cNvPr id="8"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92827" y="2735672"/>
            <a:ext cx="351284" cy="351284"/>
          </a:xfrm>
          <a:prstGeom prst="rect">
            <a:avLst/>
          </a:prstGeom>
        </p:spPr>
      </p:pic>
      <p:sp>
        <p:nvSpPr>
          <p:cNvPr id="9" name="Text 4"/>
          <p:cNvSpPr/>
          <p:nvPr/>
        </p:nvSpPr>
        <p:spPr>
          <a:xfrm>
            <a:off x="3205079" y="3251934"/>
            <a:ext cx="2258254" cy="282282"/>
          </a:xfrm>
          <a:prstGeom prst="rect">
            <a:avLst/>
          </a:prstGeom>
          <a:noFill/>
          <a:ln/>
        </p:spPr>
        <p:txBody>
          <a:bodyPr wrap="none" lIns="0" tIns="0" rIns="0" bIns="0" rtlCol="0" anchor="t"/>
          <a:lstStyle/>
          <a:p>
            <a:pPr algn="ctr" indent="0" marL="0">
              <a:lnSpc>
                <a:spcPts val="2200"/>
              </a:lnSpc>
              <a:buNone/>
            </a:pPr>
            <a:r>
              <a:rPr lang="en-US" sz="1750" dirty="0">
                <a:solidFill>
                  <a:srgbClr val="1E3063"/>
                </a:solidFill>
                <a:latin typeface="Instrument Sans Semi Bold" pitchFamily="34" charset="0"/>
                <a:ea typeface="Instrument Sans Semi Bold" pitchFamily="34" charset="-122"/>
                <a:cs typeface="Instrument Sans Semi Bold" pitchFamily="34" charset="-120"/>
              </a:rPr>
              <a:t>Fundamentos</a:t>
            </a:r>
            <a:endParaRPr lang="en-US" sz="1750" dirty="0"/>
          </a:p>
        </p:txBody>
      </p:sp>
      <p:pic>
        <p:nvPicPr>
          <p:cNvPr id="10"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238476" y="3438240"/>
            <a:ext cx="351284" cy="351284"/>
          </a:xfrm>
          <a:prstGeom prst="rect">
            <a:avLst/>
          </a:prstGeom>
        </p:spPr>
      </p:pic>
      <p:sp>
        <p:nvSpPr>
          <p:cNvPr id="11" name="Text 5"/>
          <p:cNvSpPr/>
          <p:nvPr/>
        </p:nvSpPr>
        <p:spPr>
          <a:xfrm>
            <a:off x="8052798" y="2167973"/>
            <a:ext cx="2258253" cy="282282"/>
          </a:xfrm>
          <a:prstGeom prst="rect">
            <a:avLst/>
          </a:prstGeom>
          <a:noFill/>
          <a:ln/>
        </p:spPr>
        <p:txBody>
          <a:bodyPr wrap="none" lIns="0" tIns="0" rIns="0" bIns="0" rtlCol="0" anchor="t"/>
          <a:lstStyle/>
          <a:p>
            <a:pPr algn="ctr" indent="0" marL="0">
              <a:lnSpc>
                <a:spcPts val="2200"/>
              </a:lnSpc>
              <a:buNone/>
            </a:pPr>
            <a:r>
              <a:rPr lang="en-US" sz="1750" dirty="0">
                <a:solidFill>
                  <a:srgbClr val="1E3063"/>
                </a:solidFill>
                <a:latin typeface="Instrument Sans Semi Bold" pitchFamily="34" charset="0"/>
                <a:ea typeface="Instrument Sans Semi Bold" pitchFamily="34" charset="-122"/>
                <a:cs typeface="Instrument Sans Semi Bold" pitchFamily="34" charset="-120"/>
              </a:rPr>
              <a:t>Tecnologías</a:t>
            </a:r>
            <a:endParaRPr lang="en-US" sz="1750" dirty="0"/>
          </a:p>
        </p:txBody>
      </p:sp>
      <p:pic>
        <p:nvPicPr>
          <p:cNvPr id="12"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575898" y="4913632"/>
            <a:ext cx="351283" cy="351284"/>
          </a:xfrm>
          <a:prstGeom prst="rect">
            <a:avLst/>
          </a:prstGeom>
        </p:spPr>
      </p:pic>
      <p:sp>
        <p:nvSpPr>
          <p:cNvPr id="13" name="Text 6"/>
          <p:cNvSpPr/>
          <p:nvPr/>
        </p:nvSpPr>
        <p:spPr>
          <a:xfrm>
            <a:off x="9166712" y="4396116"/>
            <a:ext cx="2258254" cy="282282"/>
          </a:xfrm>
          <a:prstGeom prst="rect">
            <a:avLst/>
          </a:prstGeom>
          <a:noFill/>
          <a:ln/>
        </p:spPr>
        <p:txBody>
          <a:bodyPr wrap="none" lIns="0" tIns="0" rIns="0" bIns="0" rtlCol="0" anchor="t"/>
          <a:lstStyle/>
          <a:p>
            <a:pPr algn="ctr" indent="0" marL="0">
              <a:lnSpc>
                <a:spcPts val="2200"/>
              </a:lnSpc>
              <a:buNone/>
            </a:pPr>
            <a:r>
              <a:rPr lang="en-US" sz="1750" dirty="0">
                <a:solidFill>
                  <a:srgbClr val="1E3063"/>
                </a:solidFill>
                <a:latin typeface="Instrument Sans Semi Bold" pitchFamily="34" charset="0"/>
                <a:ea typeface="Instrument Sans Semi Bold" pitchFamily="34" charset="-122"/>
                <a:cs typeface="Instrument Sans Semi Bold" pitchFamily="34" charset="-120"/>
              </a:rPr>
              <a:t>Estrategia</a:t>
            </a:r>
            <a:endParaRPr lang="en-US" sz="1750" dirty="0"/>
          </a:p>
        </p:txBody>
      </p:sp>
      <p:pic>
        <p:nvPicPr>
          <p:cNvPr id="14" name="Image 5"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030406" y="4251211"/>
            <a:ext cx="351284" cy="351284"/>
          </a:xfrm>
          <a:prstGeom prst="rect">
            <a:avLst/>
          </a:prstGeom>
        </p:spPr>
      </p:pic>
      <p:sp>
        <p:nvSpPr>
          <p:cNvPr id="15" name="Text 7"/>
          <p:cNvSpPr/>
          <p:nvPr/>
        </p:nvSpPr>
        <p:spPr>
          <a:xfrm>
            <a:off x="4309115" y="5500151"/>
            <a:ext cx="2258253" cy="282282"/>
          </a:xfrm>
          <a:prstGeom prst="rect">
            <a:avLst/>
          </a:prstGeom>
          <a:noFill/>
          <a:ln/>
        </p:spPr>
        <p:txBody>
          <a:bodyPr wrap="none" lIns="0" tIns="0" rIns="0" bIns="0" rtlCol="0" anchor="t"/>
          <a:lstStyle/>
          <a:p>
            <a:pPr algn="ctr" indent="0" marL="0">
              <a:lnSpc>
                <a:spcPts val="2200"/>
              </a:lnSpc>
              <a:buNone/>
            </a:pPr>
            <a:r>
              <a:rPr lang="en-US" sz="1750" dirty="0">
                <a:solidFill>
                  <a:srgbClr val="1E3063"/>
                </a:solidFill>
                <a:latin typeface="Instrument Sans Semi Bold" pitchFamily="34" charset="0"/>
                <a:ea typeface="Instrument Sans Semi Bold" pitchFamily="34" charset="-122"/>
                <a:cs typeface="Instrument Sans Semi Bold" pitchFamily="34" charset="-120"/>
              </a:rPr>
              <a:t>Acción</a:t>
            </a:r>
            <a:endParaRPr lang="en-US" sz="1750" dirty="0"/>
          </a:p>
        </p:txBody>
      </p:sp>
      <p:sp>
        <p:nvSpPr>
          <p:cNvPr id="16" name="Text 8"/>
          <p:cNvSpPr/>
          <p:nvPr/>
        </p:nvSpPr>
        <p:spPr>
          <a:xfrm>
            <a:off x="2296716" y="6449497"/>
            <a:ext cx="10036850" cy="167045"/>
          </a:xfrm>
          <a:prstGeom prst="rect">
            <a:avLst/>
          </a:prstGeom>
          <a:noFill/>
          <a:ln/>
        </p:spPr>
        <p:txBody>
          <a:bodyPr wrap="none" lIns="0" tIns="0" rIns="0" bIns="0" rtlCol="0" anchor="t"/>
          <a:lstStyle/>
          <a:p>
            <a:pPr algn="l" indent="0" marL="0">
              <a:lnSpc>
                <a:spcPts val="1300"/>
              </a:lnSpc>
              <a:buNone/>
            </a:pPr>
            <a:r>
              <a:rPr lang="en-US" sz="1000" dirty="0">
                <a:solidFill>
                  <a:srgbClr val="1E3063"/>
                </a:solidFill>
                <a:latin typeface="Instrument Sans Medium" pitchFamily="34" charset="0"/>
                <a:ea typeface="Instrument Sans Medium" pitchFamily="34" charset="-122"/>
                <a:cs typeface="Instrument Sans Medium" pitchFamily="34" charset="-120"/>
              </a:rPr>
              <a:t>Esta progresión garantiza que cada alumno pase de comprender la IA a saber aplicarla con criterio en su entorno profesional.</a:t>
            </a:r>
            <a:endParaRPr lang="en-US" sz="1000" dirty="0"/>
          </a:p>
        </p:txBody>
      </p:sp>
      <p:sp>
        <p:nvSpPr>
          <p:cNvPr id="17" name="Shape 9"/>
          <p:cNvSpPr/>
          <p:nvPr/>
        </p:nvSpPr>
        <p:spPr>
          <a:xfrm>
            <a:off x="2296716" y="6708338"/>
            <a:ext cx="3291245" cy="1170503"/>
          </a:xfrm>
          <a:prstGeom prst="roundRect">
            <a:avLst>
              <a:gd name="adj" fmla="val 26097"/>
            </a:avLst>
          </a:prstGeom>
          <a:solidFill>
            <a:srgbClr val="CEE6FD"/>
          </a:solidFill>
          <a:ln/>
        </p:spPr>
      </p:sp>
      <p:sp>
        <p:nvSpPr>
          <p:cNvPr id="18" name="Text 10"/>
          <p:cNvSpPr/>
          <p:nvPr/>
        </p:nvSpPr>
        <p:spPr>
          <a:xfrm>
            <a:off x="2423993" y="6835616"/>
            <a:ext cx="1697593" cy="198834"/>
          </a:xfrm>
          <a:prstGeom prst="rect">
            <a:avLst/>
          </a:prstGeom>
          <a:noFill/>
          <a:ln/>
        </p:spPr>
        <p:txBody>
          <a:bodyPr wrap="none" lIns="0" tIns="0" rIns="0" bIns="0" rtlCol="0" anchor="t"/>
          <a:lstStyle/>
          <a:p>
            <a:pPr algn="l" indent="0" marL="0">
              <a:lnSpc>
                <a:spcPts val="1550"/>
              </a:lnSpc>
              <a:buNone/>
            </a:pPr>
            <a:r>
              <a:rPr lang="en-US" sz="1250" dirty="0">
                <a:solidFill>
                  <a:srgbClr val="1E3063"/>
                </a:solidFill>
                <a:latin typeface="Instrument Sans Semi Bold" pitchFamily="34" charset="0"/>
                <a:ea typeface="Instrument Sans Semi Bold" pitchFamily="34" charset="-122"/>
                <a:cs typeface="Instrument Sans Semi Bold" pitchFamily="34" charset="-120"/>
              </a:rPr>
              <a:t>Entregable del módulo</a:t>
            </a:r>
            <a:endParaRPr lang="en-US" sz="1250" dirty="0"/>
          </a:p>
        </p:txBody>
      </p:sp>
      <p:sp>
        <p:nvSpPr>
          <p:cNvPr id="19" name="Text 11"/>
          <p:cNvSpPr/>
          <p:nvPr/>
        </p:nvSpPr>
        <p:spPr>
          <a:xfrm>
            <a:off x="2423993" y="7083385"/>
            <a:ext cx="3036689" cy="501134"/>
          </a:xfrm>
          <a:prstGeom prst="rect">
            <a:avLst/>
          </a:prstGeom>
          <a:noFill/>
          <a:ln/>
        </p:spPr>
        <p:txBody>
          <a:bodyPr wrap="square" lIns="0" tIns="0" rIns="0" bIns="0" rtlCol="0" anchor="t"/>
          <a:lstStyle/>
          <a:p>
            <a:pPr algn="l" indent="0" marL="0">
              <a:lnSpc>
                <a:spcPts val="1300"/>
              </a:lnSpc>
              <a:buNone/>
            </a:pPr>
            <a:r>
              <a:rPr lang="en-US" sz="1000" dirty="0">
                <a:solidFill>
                  <a:srgbClr val="1E3063"/>
                </a:solidFill>
                <a:latin typeface="Instrument Sans Medium" pitchFamily="34" charset="0"/>
                <a:ea typeface="Instrument Sans Medium" pitchFamily="34" charset="-122"/>
                <a:cs typeface="Instrument Sans Medium" pitchFamily="34" charset="-120"/>
              </a:rPr>
              <a:t>Documento individual de 1 página: "Cómo empezaría con IA en mi entorno", con 3 oportunidades, 3 riesgos y 3 controles concretos.</a:t>
            </a:r>
            <a:endParaRPr lang="en-US" sz="1000" dirty="0"/>
          </a:p>
        </p:txBody>
      </p:sp>
      <p:sp>
        <p:nvSpPr>
          <p:cNvPr id="20" name="Shape 12"/>
          <p:cNvSpPr/>
          <p:nvPr/>
        </p:nvSpPr>
        <p:spPr>
          <a:xfrm>
            <a:off x="5669518" y="6708338"/>
            <a:ext cx="3291245" cy="1170503"/>
          </a:xfrm>
          <a:prstGeom prst="roundRect">
            <a:avLst>
              <a:gd name="adj" fmla="val 26097"/>
            </a:avLst>
          </a:prstGeom>
          <a:solidFill>
            <a:srgbClr val="CEE6FD"/>
          </a:solidFill>
          <a:ln/>
        </p:spPr>
      </p:sp>
      <p:sp>
        <p:nvSpPr>
          <p:cNvPr id="21" name="Text 13"/>
          <p:cNvSpPr/>
          <p:nvPr/>
        </p:nvSpPr>
        <p:spPr>
          <a:xfrm>
            <a:off x="5796796" y="6835616"/>
            <a:ext cx="1747599" cy="198834"/>
          </a:xfrm>
          <a:prstGeom prst="rect">
            <a:avLst/>
          </a:prstGeom>
          <a:noFill/>
          <a:ln/>
        </p:spPr>
        <p:txBody>
          <a:bodyPr wrap="none" lIns="0" tIns="0" rIns="0" bIns="0" rtlCol="0" anchor="t"/>
          <a:lstStyle/>
          <a:p>
            <a:pPr algn="l" indent="0" marL="0">
              <a:lnSpc>
                <a:spcPts val="1550"/>
              </a:lnSpc>
              <a:buNone/>
            </a:pPr>
            <a:r>
              <a:rPr lang="en-US" sz="1250" dirty="0">
                <a:solidFill>
                  <a:srgbClr val="1E3063"/>
                </a:solidFill>
                <a:latin typeface="Instrument Sans Semi Bold" pitchFamily="34" charset="0"/>
                <a:ea typeface="Instrument Sans Semi Bold" pitchFamily="34" charset="-122"/>
                <a:cs typeface="Instrument Sans Semi Bold" pitchFamily="34" charset="-120"/>
              </a:rPr>
              <a:t>Conexión con Módulo 2</a:t>
            </a:r>
            <a:endParaRPr lang="en-US" sz="1250" dirty="0"/>
          </a:p>
        </p:txBody>
      </p:sp>
      <p:sp>
        <p:nvSpPr>
          <p:cNvPr id="22" name="Text 14"/>
          <p:cNvSpPr/>
          <p:nvPr/>
        </p:nvSpPr>
        <p:spPr>
          <a:xfrm>
            <a:off x="5796796" y="7083385"/>
            <a:ext cx="3036689" cy="668179"/>
          </a:xfrm>
          <a:prstGeom prst="rect">
            <a:avLst/>
          </a:prstGeom>
          <a:noFill/>
          <a:ln/>
        </p:spPr>
        <p:txBody>
          <a:bodyPr wrap="square" lIns="0" tIns="0" rIns="0" bIns="0" rtlCol="0" anchor="t"/>
          <a:lstStyle/>
          <a:p>
            <a:pPr algn="l" indent="0" marL="0">
              <a:lnSpc>
                <a:spcPts val="1300"/>
              </a:lnSpc>
              <a:buNone/>
            </a:pPr>
            <a:r>
              <a:rPr lang="en-US" sz="1000" dirty="0">
                <a:solidFill>
                  <a:srgbClr val="1E3063"/>
                </a:solidFill>
                <a:latin typeface="Instrument Sans Medium" pitchFamily="34" charset="0"/>
                <a:ea typeface="Instrument Sans Medium" pitchFamily="34" charset="-122"/>
                <a:cs typeface="Instrument Sans Medium" pitchFamily="34" charset="-120"/>
              </a:rPr>
              <a:t>Los aprendizajes y el entregable final sirven como punto de partida para el siguiente módulo del programa, donde se profundizará en la implementación práctica.</a:t>
            </a:r>
            <a:endParaRPr lang="en-US" sz="1000" dirty="0"/>
          </a:p>
        </p:txBody>
      </p:sp>
      <p:sp>
        <p:nvSpPr>
          <p:cNvPr id="23" name="Shape 15"/>
          <p:cNvSpPr/>
          <p:nvPr/>
        </p:nvSpPr>
        <p:spPr>
          <a:xfrm>
            <a:off x="9042321" y="6708338"/>
            <a:ext cx="3291245" cy="1170503"/>
          </a:xfrm>
          <a:prstGeom prst="roundRect">
            <a:avLst>
              <a:gd name="adj" fmla="val 26097"/>
            </a:avLst>
          </a:prstGeom>
          <a:solidFill>
            <a:srgbClr val="CEE6FD"/>
          </a:solidFill>
          <a:ln/>
        </p:spPr>
      </p:sp>
      <p:sp>
        <p:nvSpPr>
          <p:cNvPr id="24" name="Text 16"/>
          <p:cNvSpPr/>
          <p:nvPr/>
        </p:nvSpPr>
        <p:spPr>
          <a:xfrm>
            <a:off x="9169598" y="6835616"/>
            <a:ext cx="1682234" cy="198834"/>
          </a:xfrm>
          <a:prstGeom prst="rect">
            <a:avLst/>
          </a:prstGeom>
          <a:noFill/>
          <a:ln/>
        </p:spPr>
        <p:txBody>
          <a:bodyPr wrap="none" lIns="0" tIns="0" rIns="0" bIns="0" rtlCol="0" anchor="t"/>
          <a:lstStyle/>
          <a:p>
            <a:pPr algn="l" indent="0" marL="0">
              <a:lnSpc>
                <a:spcPts val="1550"/>
              </a:lnSpc>
              <a:buNone/>
            </a:pPr>
            <a:r>
              <a:rPr lang="en-US" sz="1250" dirty="0">
                <a:solidFill>
                  <a:srgbClr val="1E3063"/>
                </a:solidFill>
                <a:latin typeface="Instrument Sans Semi Bold" pitchFamily="34" charset="0"/>
                <a:ea typeface="Instrument Sans Semi Bold" pitchFamily="34" charset="-122"/>
                <a:cs typeface="Instrument Sans Semi Bold" pitchFamily="34" charset="-120"/>
              </a:rPr>
              <a:t>Compromiso continuo</a:t>
            </a:r>
            <a:endParaRPr lang="en-US" sz="1250" dirty="0"/>
          </a:p>
        </p:txBody>
      </p:sp>
      <p:sp>
        <p:nvSpPr>
          <p:cNvPr id="25" name="Text 17"/>
          <p:cNvSpPr/>
          <p:nvPr/>
        </p:nvSpPr>
        <p:spPr>
          <a:xfrm>
            <a:off x="9169598" y="7083385"/>
            <a:ext cx="3036689" cy="501134"/>
          </a:xfrm>
          <a:prstGeom prst="rect">
            <a:avLst/>
          </a:prstGeom>
          <a:noFill/>
          <a:ln/>
        </p:spPr>
        <p:txBody>
          <a:bodyPr wrap="square" lIns="0" tIns="0" rIns="0" bIns="0" rtlCol="0" anchor="t"/>
          <a:lstStyle/>
          <a:p>
            <a:pPr algn="l" indent="0" marL="0">
              <a:lnSpc>
                <a:spcPts val="1300"/>
              </a:lnSpc>
              <a:buNone/>
            </a:pPr>
            <a:r>
              <a:rPr lang="en-US" sz="1000" dirty="0">
                <a:solidFill>
                  <a:srgbClr val="1E3063"/>
                </a:solidFill>
                <a:latin typeface="Instrument Sans Medium" pitchFamily="34" charset="0"/>
                <a:ea typeface="Instrument Sans Medium" pitchFamily="34" charset="-122"/>
                <a:cs typeface="Instrument Sans Medium" pitchFamily="34" charset="-120"/>
              </a:rPr>
              <a:t>Formación, comunicación, políticas de uso y gestión del cambio como pilares de una adopción sostenible de la IA en la empresa.</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2026-02-24T19:41:34Z</dcterms:created>
  <dcterms:modified xsi:type="dcterms:W3CDTF">2026-02-24T19:41:34Z</dcterms:modified>
</cp:coreProperties>
</file>